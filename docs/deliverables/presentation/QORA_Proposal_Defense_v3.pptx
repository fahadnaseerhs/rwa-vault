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notesMasterIdLst>
    <p:notesMasterId r:id="rId6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cfb9eb8-b033-ad8e-114c-76c28eda4b02}">
          <p14:sldIdLst>
            <p14:sldId id="256"/>
          </p14:sldIdLst>
        </p14:section>
        <p14:section name="Introduction" id="{6a298d8c-43c0-aeba-ae80-6e446e8a3a4c}">
          <p14:sldIdLst>
            <p14:sldId id="257"/>
          </p14:sldIdLst>
        </p14:section>
        <p14:section name="Market Landscape &amp; Opportunity" id="{3f7b8ed6-3d36-7171-7d71-ae69e3f36269}">
          <p14:sldIdLst>
            <p14:sldId id="258"/>
            <p14:sldId id="259"/>
            <p14:sldId id="260"/>
          </p14:sldIdLst>
        </p14:section>
        <p14:section name="Literature Review" id="{b8929d1d-18c2-225a-0845-7af558643ff5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Problem Statement" id="{3949f32a-388c-6ccd-e205-a3ca4e84b387}">
          <p14:sldIdLst>
            <p14:sldId id="270"/>
            <p14:sldId id="271"/>
            <p14:sldId id="272"/>
          </p14:sldIdLst>
        </p14:section>
        <p14:section name="Methodology" id="{8e22e1fd-4fa2-2563-07b4-ae5c2d6e51ff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  <p14:section name="Tools and Technology" id="{d34b618e-9388-de5d-ee03-7f6412818fa3}">
          <p14:sldIdLst>
            <p14:sldId id="312"/>
          </p14:sldIdLst>
        </p14:section>
        <p14:section name="Sustainable Development Goals" id="{9ce49c99-3a73-733d-6ff1-02e44f141be8}">
          <p14:sldIdLst>
            <p14:sldId id="313"/>
            <p14:sldId id="314"/>
            <p14:sldId id="315"/>
            <p14:sldId id="316"/>
            <p14:sldId id="317"/>
            <p14:sldId id="318"/>
          </p14:sldIdLst>
        </p14:section>
        <p14:section name="Expected Outcomes" id="{84e37115-55e8-0c65-bbc5-54e5ae15608e}">
          <p14:sldIdLst>
            <p14:sldId id="319"/>
          </p14:sldIdLst>
        </p14:section>
        <p14:section name="Way Forward" id="{60146571-528f-3967-8700-ae77f980772b}">
          <p14:sldIdLst>
            <p14:sldId id="320"/>
          </p14:sldIdLst>
        </p14:section>
        <p14:section name="Close" id="{52f82a11-1346-f26a-97ea-54ff422187c9}">
          <p14:sldIdLst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QORA: Post-Quantum Secured Programmable Wealth Platform for Tokenized Real-World Assets. Next click: the bar is tokenized into gold, treasury bills, Sukuk and property shares.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QORA is a post-quantum secured platform that lets everyday users invest in real-world assets, such as gold, treasury bills, Sukuk and property shares, starting from as little as PKR 1,000. Each asset is held by a verified custodian and represented on the blockchain as small digital units. Users can borrow against their holdings without selling them, while other users lend into the platform's pool and earn a return. Users deposit in PKR, converted into USDC, and converted back to PKR when they withdraw; the platform is designed to integrate with card payment networks such as Mastercard. Every transaction is signed with post-quantum cryptography and permanently recorded on the blockchain.
Bridge: We've seen what QORA does. Now the question is whether the market is ready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about 18 months the market went from roughly $10B to $39B, nearly 4x. Growth is speeding up: 30% in a single quarter. The 5.19 million wallets show this isn't only institutions.
Connector: 5 million people worldwide already hold tokenized assets. Where is the next wave of users? One of the strongest answers is Pakistan.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#2 in retail-size transactions means Pakistani users trade in small amounts, matching QORA's PKR 1,000 minimum. The $2B MoU covers treasury bills, bonds and commodities, the same asset classes QORA tokenizes. $41.6B in remittances a year is a huge, steady PKR to USD flow; QORA's PKR to USDC to PKR rail is built for exactly this kind of conversion.
Connector: People want in, the government is moving, and money is flowing. The other half of what QORA offers is lending.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Aave, the lending model QORA's design follows, has processed $1 trillion in loans. More than 80% of on-chain finance activity is lending. $1B+ of real-world assets are already used as collateral, so lending against RWAs is proven to work.
Connector: The market opportunity is clear. How have existing platforms, standards and research tried to build this, and what have they missed?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story starts with the most basic question: how do you turn ownership of a real asset into a digital record that is also legal?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3.1. Click: the table closes and the token moves to the next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2024, ownership had become digital, compliant and trusted by institutions like BlackRock. But a record that just sits in a wallet doesn't help an ordinary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3.2. Click: the table closes and the token moves to the next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Lending against assets now works at a trillion-dollar scale. A real asset's record has to stay valid for 30 years or more. Mosca: X = how long data must stay secure, Y = time needed to migrate, Z = time until quantum computers arrive.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3.3. Click: the table closes and the token moves to the next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signature protecting every tokenized asset has an expiry date, and that date keeps moving closer. The obvious solution is to put these quantum-safe signatures directly on the blockchain.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3.4. Click: the table closes and the token moves to the next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direct path is either incompatible (a new chain) or ~500x too expensive, and Ethereum's own fix is years away. The anchoring path is cheap and proven, but so far only for audit logs. Does any system bring them together?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to reveal the next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to reveal the next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is the core problem, the quantum-security side. P2 and P3 are the financial-inclusion side. P1 affects every user's ownership record. P2 decides who can become an owner at all. P3 decides whether owners can safely use what they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never leaves the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check fails with its own named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chain enforces its own invariants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Keccak-256 works like a CRC: a fixed 32-byte fingerprint where changing one bit changes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Merkle tree is a hierarchical checksum: hash pairs, then hash the results, until one root remains.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Proving one action among n needs only log2(n) hashes: 12 hashes for 4,096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dispute path is error detection on demand. The expensive check runs only when a fault is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verify off-chain, where it is cheap, and the chain only stores tamper-proof evidence, like logging the checksum of a whole data block instead of re-checking every packet at the receiver.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leaf is a phase, and each module is one block. Click: Leaf 1 opens.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Falcon is signed only on user devices, because its floating-point maths is a side-channel risk on shared servers.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Replay protection is built into the format rather than left to careful coding in each handler.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Invariant: tokens issued ≤ physical reserve, checked on every mint and every new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virtual offset makes the vault behave as if it is already seeded, so a donation cannot round a small deposit down to 0 shares.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Leaf 1 complete. Click: Leaf 2 opens.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Poll 5 independent sources in parallel, with a 3-second timeout.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dead or stale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 a quorum of at least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the median, which rejects outliers like a median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Reject the price if it is more than 10% away from the 30-minute time-weighted average, which rejects spikes like a low-pass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 the round ID and timestamp to increase.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 with ML-DSA-44 and commit on-chain. On failure the oracle refuses rather than guesses; repay and withdraw stay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Deposit: PKR → ledger credit → test-net USDC → the signed deposit envelope mints vault shares. Withdraw: shares redeemed → USDC → ledger debit → PKR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Deposit: PKR → ledger credit → test-net USDC → the signed deposit envelope mints vault shares. Withdraw: shares redeemed → USDC → ledger debit → PKR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Deposit: PKR → ledger credit → test-net USDC → the signed deposit envelope mints vault shares. Withdraw: shares redeemed → USDC → ledger debit → PKR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Deposit: PKR → ledger credit → test-net USDC → the signed deposit envelope mints vault shares. Withdraw: shares redeemed → USDC → ledger debit → PKR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Deposit: PKR → ledger credit → test-net USDC → the signed deposit envelope mints vault shares. Withdraw: shares redeemed → USDC → ledger debit → PKR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Deposit: PKR → ledger credit → test-net USDC → the signed deposit envelope mints vault shares. Withdraw: shares redeemed → USDC → ledger debit → PKR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Deposit: PKR → ledger credit → test-net USDC → the signed deposit envelope mints vault shares. Withdraw: shares redeemed → USDC → ledger debit → PKR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Deposit: PKR → ledger credit → test-net USDC → the signed deposit envelope mints vault shares. Withdraw: shares redeemed → USDC → ledger debit → PKR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sandbox has deterministic delays and injectable failures, so we can test a payment failing halfway.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serves each user's inclusion proof and hosts the Falcon dispute verifier. The 60-second epoch matches gold's price heartbeat.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Leaf 2 complete. Click: Leaf 3 opens.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classifies each position like a comparator with trip levels. The 40% cushion is about ten times gold's worst single-day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decaying bonus means the borrower pays for the cheapest liquidation someone is willing to do, not the most expensive one bots race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Signing happens in the browser using M1's WebAssembly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Leaf 3 complete. Click: Leaf 4 opens.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PQ overhead turns out negligible, or the buffer prevents nothing, that is reported as a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modules, four leaves, one system, and every number is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two-week sprints. The first and most critical block, the PQ Core, is already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Sustainable Development Goals. Click through each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system: register a gold lot, invest PKR 5,000, receive vault shares, borrow, survive a price drop, withdraw.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short, QORA is a single platform where users can invest, borrow, lend and transact on tokenized real-world assets, all secured by quantum-safe cryptography.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3.png"/><Relationship Id="rId5" Type="http://schemas.openxmlformats.org/officeDocument/2006/relationships/image" Target="../media/image-2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2.png"/><Relationship Id="rId4" Type="http://schemas.openxmlformats.org/officeDocument/2006/relationships/image" Target="../media/image-27-2.png"/><Relationship Id="rId5" Type="http://schemas.openxmlformats.org/officeDocument/2006/relationships/image" Target="../media/image-27-5.png"/><Relationship Id="rId6" Type="http://schemas.openxmlformats.org/officeDocument/2006/relationships/image" Target="../media/image-27-2.png"/><Relationship Id="rId7" Type="http://schemas.openxmlformats.org/officeDocument/2006/relationships/image" Target="../media/image-27-2.png"/><Relationship Id="rId8" Type="http://schemas.openxmlformats.org/officeDocument/2006/relationships/image" Target="../media/image-27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2.png"/><Relationship Id="rId4" Type="http://schemas.openxmlformats.org/officeDocument/2006/relationships/image" Target="../media/image-28-2.png"/><Relationship Id="rId5" Type="http://schemas.openxmlformats.org/officeDocument/2006/relationships/image" Target="../media/image-28-1.png"/><Relationship Id="rId6" Type="http://schemas.openxmlformats.org/officeDocument/2006/relationships/image" Target="../media/image-28-6.png"/><Relationship Id="rId7" Type="http://schemas.openxmlformats.org/officeDocument/2006/relationships/image" Target="../media/image-28-2.png"/><Relationship Id="rId8" Type="http://schemas.openxmlformats.org/officeDocument/2006/relationships/image" Target="../media/image-28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2.png"/><Relationship Id="rId4" Type="http://schemas.openxmlformats.org/officeDocument/2006/relationships/image" Target="../media/image-29-2.png"/><Relationship Id="rId5" Type="http://schemas.openxmlformats.org/officeDocument/2006/relationships/image" Target="../media/image-29-1.png"/><Relationship Id="rId6" Type="http://schemas.openxmlformats.org/officeDocument/2006/relationships/image" Target="../media/image-29-1.png"/><Relationship Id="rId7" Type="http://schemas.openxmlformats.org/officeDocument/2006/relationships/image" Target="../media/image-29-7.png"/><Relationship Id="rId8" Type="http://schemas.openxmlformats.org/officeDocument/2006/relationships/image" Target="../media/image-29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2.png"/><Relationship Id="rId4" Type="http://schemas.openxmlformats.org/officeDocument/2006/relationships/image" Target="../media/image-30-2.png"/><Relationship Id="rId5" Type="http://schemas.openxmlformats.org/officeDocument/2006/relationships/image" Target="../media/image-30-1.png"/><Relationship Id="rId6" Type="http://schemas.openxmlformats.org/officeDocument/2006/relationships/image" Target="../media/image-30-1.png"/><Relationship Id="rId7" Type="http://schemas.openxmlformats.org/officeDocument/2006/relationships/image" Target="../media/image-30-1.png"/><Relationship Id="rId8" Type="http://schemas.openxmlformats.org/officeDocument/2006/relationships/image" Target="../media/image-3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3.png"/><Relationship Id="rId5" Type="http://schemas.openxmlformats.org/officeDocument/2006/relationships/image" Target="../media/image-32-2.png"/><Relationship Id="rId6" Type="http://schemas.openxmlformats.org/officeDocument/2006/relationships/image" Target="../media/image-32-3.png"/><Relationship Id="rId7" Type="http://schemas.openxmlformats.org/officeDocument/2006/relationships/image" Target="../media/image-32-3.png"/><Relationship Id="rId8" Type="http://schemas.openxmlformats.org/officeDocument/2006/relationships/image" Target="../media/image-32-1.png"/><Relationship Id="rId9" Type="http://schemas.openxmlformats.org/officeDocument/2006/relationships/image" Target="../media/image-32-1.png"/><Relationship Id="rId10" Type="http://schemas.openxmlformats.org/officeDocument/2006/relationships/image" Target="../media/image-32-1.png"/><Relationship Id="rId11" Type="http://schemas.openxmlformats.org/officeDocument/2006/relationships/image" Target="../media/image-32-1.png"/><Relationship Id="rId12" Type="http://schemas.openxmlformats.org/officeDocument/2006/relationships/image" Target="../media/image-32-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3.png"/><Relationship Id="rId5" Type="http://schemas.openxmlformats.org/officeDocument/2006/relationships/image" Target="../media/image-33-2.png"/><Relationship Id="rId6" Type="http://schemas.openxmlformats.org/officeDocument/2006/relationships/image" Target="../media/image-33-3.png"/><Relationship Id="rId7" Type="http://schemas.openxmlformats.org/officeDocument/2006/relationships/image" Target="../media/image-33-3.png"/><Relationship Id="rId8" Type="http://schemas.openxmlformats.org/officeDocument/2006/relationships/image" Target="../media/image-33-1.png"/><Relationship Id="rId9" Type="http://schemas.openxmlformats.org/officeDocument/2006/relationships/image" Target="../media/image-33-1.png"/><Relationship Id="rId10" Type="http://schemas.openxmlformats.org/officeDocument/2006/relationships/image" Target="../media/image-33-1.png"/><Relationship Id="rId11" Type="http://schemas.openxmlformats.org/officeDocument/2006/relationships/image" Target="../media/image-33-1.png"/><Relationship Id="rId12" Type="http://schemas.openxmlformats.org/officeDocument/2006/relationships/image" Target="../media/image-33-3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3.png"/><Relationship Id="rId5" Type="http://schemas.openxmlformats.org/officeDocument/2006/relationships/image" Target="../media/image-34-2.png"/><Relationship Id="rId6" Type="http://schemas.openxmlformats.org/officeDocument/2006/relationships/image" Target="../media/image-34-3.png"/><Relationship Id="rId7" Type="http://schemas.openxmlformats.org/officeDocument/2006/relationships/image" Target="../media/image-34-3.png"/><Relationship Id="rId8" Type="http://schemas.openxmlformats.org/officeDocument/2006/relationships/image" Target="../media/image-34-1.png"/><Relationship Id="rId9" Type="http://schemas.openxmlformats.org/officeDocument/2006/relationships/image" Target="../media/image-34-1.png"/><Relationship Id="rId10" Type="http://schemas.openxmlformats.org/officeDocument/2006/relationships/image" Target="../media/image-34-1.png"/><Relationship Id="rId11" Type="http://schemas.openxmlformats.org/officeDocument/2006/relationships/image" Target="../media/image-34-1.png"/><Relationship Id="rId12" Type="http://schemas.openxmlformats.org/officeDocument/2006/relationships/image" Target="../media/image-34-3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3.png"/><Relationship Id="rId5" Type="http://schemas.openxmlformats.org/officeDocument/2006/relationships/image" Target="../media/image-35-2.png"/><Relationship Id="rId6" Type="http://schemas.openxmlformats.org/officeDocument/2006/relationships/image" Target="../media/image-35-3.png"/><Relationship Id="rId7" Type="http://schemas.openxmlformats.org/officeDocument/2006/relationships/image" Target="../media/image-35-3.png"/><Relationship Id="rId8" Type="http://schemas.openxmlformats.org/officeDocument/2006/relationships/image" Target="../media/image-35-1.png"/><Relationship Id="rId9" Type="http://schemas.openxmlformats.org/officeDocument/2006/relationships/image" Target="../media/image-35-9.png"/><Relationship Id="rId10" Type="http://schemas.openxmlformats.org/officeDocument/2006/relationships/image" Target="../media/image-35-9.png"/><Relationship Id="rId11" Type="http://schemas.openxmlformats.org/officeDocument/2006/relationships/image" Target="../media/image-35-1.png"/><Relationship Id="rId12" Type="http://schemas.openxmlformats.org/officeDocument/2006/relationships/image" Target="../media/image-35-3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3.png"/><Relationship Id="rId5" Type="http://schemas.openxmlformats.org/officeDocument/2006/relationships/image" Target="../media/image-36-2.png"/><Relationship Id="rId6" Type="http://schemas.openxmlformats.org/officeDocument/2006/relationships/image" Target="../media/image-36-3.png"/><Relationship Id="rId7" Type="http://schemas.openxmlformats.org/officeDocument/2006/relationships/image" Target="../media/image-36-3.png"/><Relationship Id="rId8" Type="http://schemas.openxmlformats.org/officeDocument/2006/relationships/image" Target="../media/image-36-8.png"/><Relationship Id="rId9" Type="http://schemas.openxmlformats.org/officeDocument/2006/relationships/image" Target="../media/image-36-8.png"/><Relationship Id="rId10" Type="http://schemas.openxmlformats.org/officeDocument/2006/relationships/image" Target="../media/image-36-8.png"/><Relationship Id="rId11" Type="http://schemas.openxmlformats.org/officeDocument/2006/relationships/image" Target="../media/image-36-8.png"/><Relationship Id="rId12" Type="http://schemas.openxmlformats.org/officeDocument/2006/relationships/image" Target="../media/image-36-3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3.png"/><Relationship Id="rId5" Type="http://schemas.openxmlformats.org/officeDocument/2006/relationships/image" Target="../media/image-37-2.png"/><Relationship Id="rId6" Type="http://schemas.openxmlformats.org/officeDocument/2006/relationships/image" Target="../media/image-37-3.png"/><Relationship Id="rId7" Type="http://schemas.openxmlformats.org/officeDocument/2006/relationships/image" Target="../media/image-37-3.png"/><Relationship Id="rId8" Type="http://schemas.openxmlformats.org/officeDocument/2006/relationships/image" Target="../media/image-37-3.png"/><Relationship Id="rId9" Type="http://schemas.openxmlformats.org/officeDocument/2006/relationships/image" Target="../media/image-37-3.png"/><Relationship Id="rId10" Type="http://schemas.openxmlformats.org/officeDocument/2006/relationships/image" Target="../media/image-37-3.png"/><Relationship Id="rId11" Type="http://schemas.openxmlformats.org/officeDocument/2006/relationships/image" Target="../media/image-37-11.png"/><Relationship Id="rId12" Type="http://schemas.openxmlformats.org/officeDocument/2006/relationships/image" Target="../media/image-37-11.png"/><Relationship Id="rId13" Type="http://schemas.openxmlformats.org/officeDocument/2006/relationships/image" Target="../media/image-37-11.png"/><Relationship Id="rId14" Type="http://schemas.openxmlformats.org/officeDocument/2006/relationships/image" Target="../media/image-37-11.png"/><Relationship Id="rId15" Type="http://schemas.openxmlformats.org/officeDocument/2006/relationships/image" Target="../media/image-37-3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3.png"/><Relationship Id="rId5" Type="http://schemas.openxmlformats.org/officeDocument/2006/relationships/image" Target="../media/image-38-2.png"/><Relationship Id="rId6" Type="http://schemas.openxmlformats.org/officeDocument/2006/relationships/image" Target="../media/image-38-3.png"/><Relationship Id="rId7" Type="http://schemas.openxmlformats.org/officeDocument/2006/relationships/image" Target="../media/image-38-3.png"/><Relationship Id="rId8" Type="http://schemas.openxmlformats.org/officeDocument/2006/relationships/image" Target="../media/image-38-3.png"/><Relationship Id="rId9" Type="http://schemas.openxmlformats.org/officeDocument/2006/relationships/image" Target="../media/image-38-3.png"/><Relationship Id="rId10" Type="http://schemas.openxmlformats.org/officeDocument/2006/relationships/image" Target="../media/image-38-3.png"/><Relationship Id="rId11" Type="http://schemas.openxmlformats.org/officeDocument/2006/relationships/image" Target="../media/image-38-11.png"/><Relationship Id="rId12" Type="http://schemas.openxmlformats.org/officeDocument/2006/relationships/image" Target="../media/image-38-12.png"/><Relationship Id="rId13" Type="http://schemas.openxmlformats.org/officeDocument/2006/relationships/image" Target="../media/image-38-11.png"/><Relationship Id="rId14" Type="http://schemas.openxmlformats.org/officeDocument/2006/relationships/image" Target="../media/image-38-11.png"/><Relationship Id="rId15" Type="http://schemas.openxmlformats.org/officeDocument/2006/relationships/image" Target="../media/image-38-3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3.png"/><Relationship Id="rId5" Type="http://schemas.openxmlformats.org/officeDocument/2006/relationships/image" Target="../media/image-39-1.png"/><Relationship Id="rId6" Type="http://schemas.openxmlformats.org/officeDocument/2006/relationships/image" Target="../media/image-39-2.png"/><Relationship Id="rId7" Type="http://schemas.openxmlformats.org/officeDocument/2006/relationships/image" Target="../media/image-39-3.png"/><Relationship Id="rId8" Type="http://schemas.openxmlformats.org/officeDocument/2006/relationships/image" Target="../media/image-3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3.png"/><Relationship Id="rId5" Type="http://schemas.openxmlformats.org/officeDocument/2006/relationships/image" Target="../media/image-40-1.png"/><Relationship Id="rId6" Type="http://schemas.openxmlformats.org/officeDocument/2006/relationships/image" Target="../media/image-40-2.png"/><Relationship Id="rId7" Type="http://schemas.openxmlformats.org/officeDocument/2006/relationships/image" Target="../media/image-40-3.png"/><Relationship Id="rId8" Type="http://schemas.openxmlformats.org/officeDocument/2006/relationships/image" Target="../media/image-4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3.png"/><Relationship Id="rId5" Type="http://schemas.openxmlformats.org/officeDocument/2006/relationships/image" Target="../media/image-41-1.png"/><Relationship Id="rId6" Type="http://schemas.openxmlformats.org/officeDocument/2006/relationships/image" Target="../media/image-41-2.png"/><Relationship Id="rId7" Type="http://schemas.openxmlformats.org/officeDocument/2006/relationships/image" Target="../media/image-41-3.png"/><Relationship Id="rId8" Type="http://schemas.openxmlformats.org/officeDocument/2006/relationships/image" Target="../media/image-4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3.png"/><Relationship Id="rId5" Type="http://schemas.openxmlformats.org/officeDocument/2006/relationships/image" Target="../media/image-42-1.png"/><Relationship Id="rId6" Type="http://schemas.openxmlformats.org/officeDocument/2006/relationships/image" Target="../media/image-42-2.png"/><Relationship Id="rId7" Type="http://schemas.openxmlformats.org/officeDocument/2006/relationships/image" Target="../media/image-42-3.png"/><Relationship Id="rId8" Type="http://schemas.openxmlformats.org/officeDocument/2006/relationships/image" Target="../media/image-4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3.png"/><Relationship Id="rId5" Type="http://schemas.openxmlformats.org/officeDocument/2006/relationships/image" Target="../media/image-43-1.png"/><Relationship Id="rId6" Type="http://schemas.openxmlformats.org/officeDocument/2006/relationships/image" Target="../media/image-43-2.png"/><Relationship Id="rId7" Type="http://schemas.openxmlformats.org/officeDocument/2006/relationships/image" Target="../media/image-43-3.png"/><Relationship Id="rId8" Type="http://schemas.openxmlformats.org/officeDocument/2006/relationships/image" Target="../media/image-4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3.png"/><Relationship Id="rId5" Type="http://schemas.openxmlformats.org/officeDocument/2006/relationships/image" Target="../media/image-44-1.png"/><Relationship Id="rId6" Type="http://schemas.openxmlformats.org/officeDocument/2006/relationships/image" Target="../media/image-44-2.png"/><Relationship Id="rId7" Type="http://schemas.openxmlformats.org/officeDocument/2006/relationships/image" Target="../media/image-44-3.png"/><Relationship Id="rId8" Type="http://schemas.openxmlformats.org/officeDocument/2006/relationships/image" Target="../media/image-4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3.png"/><Relationship Id="rId5" Type="http://schemas.openxmlformats.org/officeDocument/2006/relationships/image" Target="../media/image-45-1.png"/><Relationship Id="rId6" Type="http://schemas.openxmlformats.org/officeDocument/2006/relationships/image" Target="../media/image-45-2.png"/><Relationship Id="rId7" Type="http://schemas.openxmlformats.org/officeDocument/2006/relationships/image" Target="../media/image-45-3.png"/><Relationship Id="rId8" Type="http://schemas.openxmlformats.org/officeDocument/2006/relationships/image" Target="../media/image-4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3.png"/><Relationship Id="rId5" Type="http://schemas.openxmlformats.org/officeDocument/2006/relationships/image" Target="../media/image-46-1.png"/><Relationship Id="rId6" Type="http://schemas.openxmlformats.org/officeDocument/2006/relationships/image" Target="../media/image-46-2.png"/><Relationship Id="rId7" Type="http://schemas.openxmlformats.org/officeDocument/2006/relationships/image" Target="../media/image-46-3.png"/><Relationship Id="rId8" Type="http://schemas.openxmlformats.org/officeDocument/2006/relationships/image" Target="../media/image-4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3.png"/><Relationship Id="rId5" Type="http://schemas.openxmlformats.org/officeDocument/2006/relationships/image" Target="../media/image-47-1.png"/><Relationship Id="rId6" Type="http://schemas.openxmlformats.org/officeDocument/2006/relationships/image" Target="../media/image-47-2.png"/><Relationship Id="rId7" Type="http://schemas.openxmlformats.org/officeDocument/2006/relationships/image" Target="../media/image-47-3.png"/><Relationship Id="rId8" Type="http://schemas.openxmlformats.org/officeDocument/2006/relationships/image" Target="../media/image-4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3.png"/><Relationship Id="rId5" Type="http://schemas.openxmlformats.org/officeDocument/2006/relationships/image" Target="../media/image-48-1.png"/><Relationship Id="rId6" Type="http://schemas.openxmlformats.org/officeDocument/2006/relationships/image" Target="../media/image-48-1.png"/><Relationship Id="rId7" Type="http://schemas.openxmlformats.org/officeDocument/2006/relationships/image" Target="../media/image-48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2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2.png"/><Relationship Id="rId4" Type="http://schemas.openxmlformats.org/officeDocument/2006/relationships/image" Target="../media/image-50-4.png"/><Relationship Id="rId5" Type="http://schemas.openxmlformats.org/officeDocument/2006/relationships/image" Target="../media/image-50-2.png"/><Relationship Id="rId6" Type="http://schemas.openxmlformats.org/officeDocument/2006/relationships/image" Target="../media/image-50-4.png"/><Relationship Id="rId7" Type="http://schemas.openxmlformats.org/officeDocument/2006/relationships/image" Target="../media/image-50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2.png"/><Relationship Id="rId4" Type="http://schemas.openxmlformats.org/officeDocument/2006/relationships/image" Target="../media/image-51-4.png"/><Relationship Id="rId5" Type="http://schemas.openxmlformats.org/officeDocument/2006/relationships/image" Target="../media/image-51-1.png"/><Relationship Id="rId6" Type="http://schemas.openxmlformats.org/officeDocument/2006/relationships/image" Target="../media/image-51-2.png"/><Relationship Id="rId7" Type="http://schemas.openxmlformats.org/officeDocument/2006/relationships/image" Target="../media/image-51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2.png"/><Relationship Id="rId4" Type="http://schemas.openxmlformats.org/officeDocument/2006/relationships/image" Target="../media/image-52-4.png"/><Relationship Id="rId5" Type="http://schemas.openxmlformats.org/officeDocument/2006/relationships/image" Target="../media/image-52-1.png"/><Relationship Id="rId6" Type="http://schemas.openxmlformats.org/officeDocument/2006/relationships/image" Target="../media/image-52-1.png"/><Relationship Id="rId7" Type="http://schemas.openxmlformats.org/officeDocument/2006/relationships/image" Target="../media/image-52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2.png"/><Relationship Id="rId4" Type="http://schemas.openxmlformats.org/officeDocument/2006/relationships/image" Target="../media/image-53-2.png"/><Relationship Id="rId5" Type="http://schemas.openxmlformats.org/officeDocument/2006/relationships/image" Target="../media/image-5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2.png"/><Relationship Id="rId4" Type="http://schemas.openxmlformats.org/officeDocument/2006/relationships/image" Target="../media/image-54-2.png"/><Relationship Id="rId5" Type="http://schemas.openxmlformats.org/officeDocument/2006/relationships/image" Target="../media/image-5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2.png"/><Relationship Id="rId4" Type="http://schemas.openxmlformats.org/officeDocument/2006/relationships/image" Target="../media/image-55-2.png"/><Relationship Id="rId5" Type="http://schemas.openxmlformats.org/officeDocument/2006/relationships/image" Target="../media/image-5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1.png"/><Relationship Id="rId3" Type="http://schemas.openxmlformats.org/officeDocument/2006/relationships/image" Target="../media/image-56-1.png"/><Relationship Id="rId4" Type="http://schemas.openxmlformats.org/officeDocument/2006/relationships/image" Target="../media/image-5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image" Target="../media/image-64-5.png"/><Relationship Id="rId6" Type="http://schemas.openxmlformats.org/officeDocument/2006/relationships/image" Target="../media/image-6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2.png"/><Relationship Id="rId4" Type="http://schemas.openxmlformats.org/officeDocument/2006/relationships/image" Target="../media/image-65-2.png"/><Relationship Id="rId5" Type="http://schemas.openxmlformats.org/officeDocument/2006/relationships/image" Target="../media/image-6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image" Target="../media/image-6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old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34440"/>
            <a:ext cx="1143000" cy="1143000"/>
          </a:xfrm>
          <a:prstGeom prst="rect">
            <a:avLst/>
          </a:prstGeom>
        </p:spPr>
      </p:pic>
      <p:pic>
        <p:nvPicPr>
          <p:cNvPr id="3" name="!!bond" descr="C:\Users\USER\AppData\Local\Temp\claude\C--Users-USER-OneDrive-Desktop-RWA-vault\22c0d93f-95db-488a-9ad8-cfe9b0a46593\scratchpad\deck\art5\bond_sil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234440"/>
            <a:ext cx="1143000" cy="1143000"/>
          </a:xfrm>
          <a:prstGeom prst="rect">
            <a:avLst/>
          </a:prstGeom>
        </p:spPr>
      </p:pic>
      <p:pic>
        <p:nvPicPr>
          <p:cNvPr id="4" name="!!sukuk" descr="C:\Users\USER\AppData\Local\Temp\claude\C--Users-USER-OneDrive-Desktop-RWA-vault\22c0d93f-95db-488a-9ad8-cfe9b0a46593\scratchpad\deck\art5\sukuk_sil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84" y="1234440"/>
            <a:ext cx="1143000" cy="1143000"/>
          </a:xfrm>
          <a:prstGeom prst="rect">
            <a:avLst/>
          </a:prstGeom>
        </p:spPr>
      </p:pic>
      <p:pic>
        <p:nvPicPr>
          <p:cNvPr id="5" name="!!estate" descr="C:\Users\USER\AppData\Local\Temp\claude\C--Users-USER-OneDrive-Desktop-RWA-vault\22c0d93f-95db-488a-9ad8-cfe9b0a46593\scratchpad\deck\art5\estate_sil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416" y="1234440"/>
            <a:ext cx="1143000" cy="1143000"/>
          </a:xfrm>
          <a:prstGeom prst="rect">
            <a:avLst/>
          </a:prstGeom>
        </p:spPr>
      </p:pic>
      <p:pic>
        <p:nvPicPr>
          <p:cNvPr id="6" name="!!ingot" descr="C:\Users\USER\AppData\Local\Temp\claude\C--Users-USER-OneDrive-Desktop-RWA-vault\22c0d93f-95db-488a-9ad8-cfe9b0a46593\scratchpad\deck\art5\ingot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868680"/>
            <a:ext cx="3200400" cy="1849831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1371600" y="2880360"/>
            <a:ext cx="9445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0" spc="2600" kern="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QORA</a:t>
            </a:r>
            <a:endParaRPr lang="en-US" sz="8800" dirty="0"/>
          </a:p>
        </p:txBody>
      </p:sp>
      <p:sp>
        <p:nvSpPr>
          <p:cNvPr id="8" name="Text 1"/>
          <p:cNvSpPr txBox="1"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Post-Quantum Secured Programmable Wealth Platform for Tokenized Real-World Assets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000" dirty="0"/>
          </a:p>
        </p:txBody>
      </p:sp>
      <p:pic>
        <p:nvPicPr>
          <p:cNvPr id="3" name="!!ingot" descr="C:\Users\USER\AppData\Local\Temp\claude\C--Users-USER-OneDrive-Desktop-RWA-vault\22c0d93f-95db-488a-9ad8-cfe9b0a46593\scratchpad\deck\art5\ingot_gold.png">    </p:cNvPr>
          <p:cNvPicPr>
            <a:picLocks noChangeAspect="1"/>
          </p:cNvPicPr>
          <p:nvPr/>
        </p:nvPicPr>
        <p:blipFill>
          <a:blip r:embed="rId1">
            <a:alphaModFix amt="0"/>
          </a:blip>
          <a:stretch>
            <a:fillRect/>
          </a:stretch>
        </p:blipFill>
        <p:spPr>
          <a:xfrm>
            <a:off x="9052560" y="1463040"/>
            <a:ext cx="18288" cy="9144"/>
          </a:xfrm>
          <a:prstGeom prst="rect">
            <a:avLst/>
          </a:prstGeom>
        </p:spPr>
      </p:pic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Introduction</a:t>
            </a:r>
            <a:endParaRPr lang="en-US" sz="3400" dirty="0"/>
          </a:p>
        </p:txBody>
      </p:sp>
      <p:pic>
        <p:nvPicPr>
          <p:cNvPr id="5" name="!!gold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685800"/>
            <a:ext cx="960120" cy="9601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63640" y="1691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gold</a:t>
            </a:r>
            <a:endParaRPr lang="en-US" sz="1300" dirty="0"/>
          </a:p>
        </p:txBody>
      </p:sp>
      <p:pic>
        <p:nvPicPr>
          <p:cNvPr id="7" name="!!bond" descr="C:\Users\USER\AppData\Local\Temp\claude\C--Users-USER-OneDrive-Desktop-RWA-vault\22c0d93f-95db-488a-9ad8-cfe9b0a46593\scratchpad\deck\art5\bond_sil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685800"/>
            <a:ext cx="960120" cy="9601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589520" y="1691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treasury bills</a:t>
            </a:r>
            <a:endParaRPr lang="en-US" sz="1300" dirty="0"/>
          </a:p>
        </p:txBody>
      </p:sp>
      <p:pic>
        <p:nvPicPr>
          <p:cNvPr id="9" name="!!sukuk" descr="C:\Users\USER\AppData\Local\Temp\claude\C--Users-USER-OneDrive-Desktop-RWA-vault\22c0d93f-95db-488a-9ad8-cfe9b0a46593\scratchpad\deck\art5\sukuk_sil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685800"/>
            <a:ext cx="960120" cy="9601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915400" y="1691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Sukuk</a:t>
            </a:r>
            <a:endParaRPr lang="en-US" sz="1300" dirty="0"/>
          </a:p>
        </p:txBody>
      </p:sp>
      <p:pic>
        <p:nvPicPr>
          <p:cNvPr id="11" name="!!estate" descr="C:\Users\USER\AppData\Local\Temp\claude\C--Users-USER-OneDrive-Desktop-RWA-vault\22c0d93f-95db-488a-9ad8-cfe9b0a46593\scratchpad\deck\art5\estate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685800"/>
            <a:ext cx="960120" cy="9601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0241280" y="1691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property shares</a:t>
            </a:r>
            <a:endParaRPr lang="en-US" sz="1300" dirty="0"/>
          </a:p>
        </p:txBody>
      </p:sp>
      <p:sp>
        <p:nvSpPr>
          <p:cNvPr id="13" name="Text 6"/>
          <p:cNvSpPr txBox="1"/>
          <p:nvPr/>
        </p:nvSpPr>
        <p:spPr>
          <a:xfrm>
            <a:off x="54864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Invest</a:t>
            </a:r>
            <a:endParaRPr lang="en-US" sz="2600" dirty="0"/>
          </a:p>
        </p:txBody>
      </p:sp>
      <p:sp>
        <p:nvSpPr>
          <p:cNvPr id="14" name="Text 7"/>
          <p:cNvSpPr txBox="1"/>
          <p:nvPr/>
        </p:nvSpPr>
        <p:spPr>
          <a:xfrm>
            <a:off x="2651760" y="23317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real-world assets, starting from as little as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 1,000</a:t>
            </a:r>
            <a:endParaRPr lang="en-US" sz="1800" dirty="0"/>
          </a:p>
        </p:txBody>
      </p:sp>
      <p:sp>
        <p:nvSpPr>
          <p:cNvPr id="15" name="Text 8"/>
          <p:cNvSpPr txBox="1"/>
          <p:nvPr/>
        </p:nvSpPr>
        <p:spPr>
          <a:xfrm>
            <a:off x="548640" y="3108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Borrow</a:t>
            </a:r>
            <a:endParaRPr lang="en-US" sz="2600" dirty="0"/>
          </a:p>
        </p:txBody>
      </p:sp>
      <p:sp>
        <p:nvSpPr>
          <p:cNvPr id="16" name="Text 9"/>
          <p:cNvSpPr txBox="1"/>
          <p:nvPr/>
        </p:nvSpPr>
        <p:spPr>
          <a:xfrm>
            <a:off x="2651760" y="31089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against their holdings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selling them</a:t>
            </a:r>
            <a:endParaRPr lang="en-US" sz="1800" dirty="0"/>
          </a:p>
        </p:txBody>
      </p:sp>
      <p:sp>
        <p:nvSpPr>
          <p:cNvPr id="17" name="Text 10"/>
          <p:cNvSpPr txBox="1"/>
          <p:nvPr/>
        </p:nvSpPr>
        <p:spPr>
          <a:xfrm>
            <a:off x="54864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Lend</a:t>
            </a:r>
            <a:endParaRPr lang="en-US" sz="2600" dirty="0"/>
          </a:p>
        </p:txBody>
      </p:sp>
      <p:sp>
        <p:nvSpPr>
          <p:cNvPr id="18" name="Text 11"/>
          <p:cNvSpPr txBox="1"/>
          <p:nvPr/>
        </p:nvSpPr>
        <p:spPr>
          <a:xfrm>
            <a:off x="2651760" y="38862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into the platform’s pool and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earn a return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4663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Transact</a:t>
            </a:r>
            <a:endParaRPr lang="en-US" sz="2600" dirty="0"/>
          </a:p>
        </p:txBody>
      </p:sp>
      <p:sp>
        <p:nvSpPr>
          <p:cNvPr id="20" name="Text 13"/>
          <p:cNvSpPr txBox="1"/>
          <p:nvPr/>
        </p:nvSpPr>
        <p:spPr>
          <a:xfrm>
            <a:off x="2651760" y="46634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deposit in PKR,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USDC for investing and lending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converted back to PKR when they withdraw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transaction </a:t>
            </a:r>
            <a:pPr indent="0" marL="0">
              <a:buNone/>
            </a:pPr>
            <a:r>
              <a:rPr lang="en-US" sz="18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signed with post-quantum cryptography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permanently recorded on the blockchain.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 LANDSCAPE &amp; OPPORTUNITY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Global Shift: Real Assets Are Moving On-Chain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$39.02B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157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Tokenized RWAs on public blockchains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Oct 2026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5.19M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7157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Wallets holding tokenized assets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~266%</a:t>
            </a:r>
            <a:endParaRPr lang="en-US" sz="5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445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 growth in 2025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3611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+30%</a:t>
            </a:r>
            <a:endParaRPr lang="en-US" sz="50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45445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Growth in Q1 2026 alone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$21B → $27.5B</a:t>
            </a:r>
            <a:endParaRPr lang="en-US" sz="1600" dirty="0"/>
          </a:p>
        </p:txBody>
      </p:sp>
      <p:pic>
        <p:nvPicPr>
          <p:cNvPr id="13" name="!!gold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4343400"/>
            <a:ext cx="914400" cy="914400"/>
          </a:xfrm>
          <a:prstGeom prst="rect">
            <a:avLst/>
          </a:prstGeom>
        </p:spPr>
      </p:pic>
      <p:pic>
        <p:nvPicPr>
          <p:cNvPr id="14" name="!!bond" descr="C:\Users\USER\AppData\Local\Temp\claude\C--Users-USER-OneDrive-Desktop-RWA-vault\22c0d93f-95db-488a-9ad8-cfe9b0a46593\scratchpad\deck\art5\bond_sil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3593592"/>
            <a:ext cx="914400" cy="914400"/>
          </a:xfrm>
          <a:prstGeom prst="rect">
            <a:avLst/>
          </a:prstGeom>
        </p:spPr>
      </p:pic>
      <p:pic>
        <p:nvPicPr>
          <p:cNvPr id="15" name="!!sukuk" descr="C:\Users\USER\AppData\Local\Temp\claude\C--Users-USER-OneDrive-Desktop-RWA-vault\22c0d93f-95db-488a-9ad8-cfe9b0a46593\scratchpad\deck\art5\sukuk_sil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843784"/>
            <a:ext cx="914400" cy="914400"/>
          </a:xfrm>
          <a:prstGeom prst="rect">
            <a:avLst/>
          </a:prstGeom>
        </p:spPr>
      </p:pic>
      <p:pic>
        <p:nvPicPr>
          <p:cNvPr id="16" name="!!estate" descr="C:\Users\USER\AppData\Local\Temp\claude\C--Users-USER-OneDrive-Desktop-RWA-vault\22c0d93f-95db-488a-9ad8-cfe9b0a46593\scratchpad\deck\art5\estate_sil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2093976"/>
            <a:ext cx="914400" cy="914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Tokenization is no longer an experiment.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Sources: RWA.xyz via KuCoin · InvestaX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 LANDSCAPE &amp; OPPORTUNITY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Pakistan: A Crypto-Ready Nation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#3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157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crypto adoption rank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behind only India and the US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#2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7157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Retail-size crypto transactions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$2B</a:t>
            </a:r>
            <a:endParaRPr lang="en-US" sz="5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445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Govt–Binance tokenization MoU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T-bills, bonds, commodities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3611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$41.6B</a:t>
            </a:r>
            <a:endParaRPr lang="en-US" sz="50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45445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Workers’ remittances, FY26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record, +8.6%</a:t>
            </a:r>
            <a:endParaRPr lang="en-US" sz="1600" dirty="0"/>
          </a:p>
        </p:txBody>
      </p:sp>
      <p:pic>
        <p:nvPicPr>
          <p:cNvPr id="13" name="!!gold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0" y="914400"/>
            <a:ext cx="914400" cy="914400"/>
          </a:xfrm>
          <a:prstGeom prst="rect">
            <a:avLst/>
          </a:prstGeom>
        </p:spPr>
      </p:pic>
      <p:pic>
        <p:nvPicPr>
          <p:cNvPr id="14" name="!!bond" descr="C:\Users\USER\AppData\Local\Temp\claude\C--Users-USER-OneDrive-Desktop-RWA-vault\22c0d93f-95db-488a-9ad8-cfe9b0a46593\scratchpad\deck\art5\bond_sil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0" y="2011680"/>
            <a:ext cx="914400" cy="914400"/>
          </a:xfrm>
          <a:prstGeom prst="rect">
            <a:avLst/>
          </a:prstGeom>
        </p:spPr>
      </p:pic>
      <p:pic>
        <p:nvPicPr>
          <p:cNvPr id="15" name="!!sukuk" descr="C:\Users\USER\AppData\Local\Temp\claude\C--Users-USER-OneDrive-Desktop-RWA-vault\22c0d93f-95db-488a-9ad8-cfe9b0a46593\scratchpad\deck\art5\sukuk_sil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0" y="3108960"/>
            <a:ext cx="914400" cy="914400"/>
          </a:xfrm>
          <a:prstGeom prst="rect">
            <a:avLst/>
          </a:prstGeom>
        </p:spPr>
      </p:pic>
      <p:pic>
        <p:nvPicPr>
          <p:cNvPr id="16" name="!!estate" descr="C:\Users\USER\AppData\Local\Temp\claude\C--Users-USER-OneDrive-Desktop-RWA-vault\22c0d93f-95db-488a-9ad8-cfe9b0a46593\scratchpad\deck\art5\estate_sil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0" y="4206240"/>
            <a:ext cx="914400" cy="914400"/>
          </a:xfrm>
          <a:prstGeom prst="rect">
            <a:avLst/>
          </a:prstGeom>
        </p:spPr>
      </p:pic>
      <p:pic>
        <p:nvPicPr>
          <p:cNvPr id="17" name="!!pkr" descr="C:\Users\USER\AppData\Local\Temp\claude\C--Users-USER-OneDrive-Desktop-RWA-vault\22c0d93f-95db-488a-9ad8-cfe9b0a46593\scratchpad\deck\art5\pkr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926080"/>
            <a:ext cx="1234440" cy="1234440"/>
          </a:xfrm>
          <a:prstGeom prst="rect">
            <a:avLst/>
          </a:prstGeom>
        </p:spPr>
      </p:pic>
      <p:pic>
        <p:nvPicPr>
          <p:cNvPr id="18" name="!!usdc" descr="C:\Users\USER\AppData\Local\Temp\claude\C--Users-USER-OneDrive-Desktop-RWA-vault\22c0d93f-95db-488a-9ad8-cfe9b0a46593\scratchpad\deck\art5\usdc_sil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2926080"/>
            <a:ext cx="1234440" cy="123444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464040" y="30632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⇄</a:t>
            </a:r>
            <a:endParaRPr lang="en-US" sz="4000" dirty="0"/>
          </a:p>
        </p:txBody>
      </p:sp>
      <p:sp>
        <p:nvSpPr>
          <p:cNvPr id="20" name="Text 12"/>
          <p:cNvSpPr txBox="1"/>
          <p:nvPr/>
        </p:nvSpPr>
        <p:spPr>
          <a:xfrm>
            <a:off x="8229600" y="4343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 ↔ USD flow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Users are already on-chain; they just lack access to 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real, asset-backed investments</a:t>
            </a:r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.</a:t>
            </a:r>
            <a:endParaRPr lang="en-US" sz="2200" dirty="0"/>
          </a:p>
        </p:txBody>
      </p:sp>
      <p:sp>
        <p:nvSpPr>
          <p:cNvPr id="22" name="Text 14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Sources: Chainalysis 2025 via The Standard · Arab News · The News · SBP via The News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 LANDSCAPE &amp; OPPORTUNITY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Lending: The Engine of On-Chain Finance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8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$1T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157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Aave cumulative lending volume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 in DeFi history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8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$1B+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7157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RWAs deposited as collateral on Aave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8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80%+</a:t>
            </a:r>
            <a:endParaRPr lang="en-US" sz="58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27157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Lending’s share of on-chain DeFi activity</a:t>
            </a:r>
            <a:endParaRPr lang="en-US" sz="1600" dirty="0"/>
          </a:p>
        </p:txBody>
      </p:sp>
      <p:pic>
        <p:nvPicPr>
          <p:cNvPr id="11" name="!!gold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77640"/>
            <a:ext cx="1097280" cy="10972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5120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collateral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148840" y="4526280"/>
            <a:ext cx="1371600" cy="0"/>
          </a:xfrm>
          <a:prstGeom prst="line">
            <a:avLst/>
          </a:prstGeom>
          <a:noFill/>
          <a:ln w="25400">
            <a:solidFill>
              <a:srgbClr val="E2B544"/>
            </a:solidFill>
            <a:prstDash val="solid"/>
            <a:tailEnd type="triangle"/>
          </a:ln>
        </p:spPr>
      </p:sp>
      <p:pic>
        <p:nvPicPr>
          <p:cNvPr id="14" name="!!usdc" descr="C:\Users\USER\AppData\Local\Temp\claude\C--Users-USER-OneDrive-Desktop-RWA-vault\22c0d93f-95db-488a-9ad8-cfe9b0a46593\scratchpad\deck\art5\usdc_sil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977640"/>
            <a:ext cx="1097280" cy="10972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29000" y="5120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0" y="40690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QORA brings this model down to </a:t>
            </a:r>
            <a:pPr indent="0" marL="0">
              <a:buNone/>
            </a:pPr>
            <a:r>
              <a:rPr lang="en-US" sz="20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micro-scale (PKR 1,000)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pairs it with tokenized gold, T-bills and Sukuk.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Sources: The Block via TradingView · BlockEden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Making Ownership Digital, Legal and Accessible</a:t>
            </a:r>
            <a:endParaRPr lang="en-US" sz="3400" dirty="0"/>
          </a:p>
        </p:txBody>
      </p:sp>
      <p:sp>
        <p:nvSpPr>
          <p:cNvPr id="5" name="!!railbase"/>
          <p:cNvSpPr/>
          <p:nvPr/>
        </p:nvSpPr>
        <p:spPr>
          <a:xfrm>
            <a:off x="1737360" y="2011680"/>
            <a:ext cx="8778240" cy="0"/>
          </a:xfrm>
          <a:prstGeom prst="line">
            <a:avLst/>
          </a:prstGeom>
          <a:noFill/>
          <a:ln w="25400">
            <a:solidFill>
              <a:srgbClr val="2C2C2C"/>
            </a:solidFill>
            <a:prstDash val="solid"/>
          </a:ln>
        </p:spPr>
      </p:sp>
      <p:sp>
        <p:nvSpPr>
          <p:cNvPr id="6" name="!!railnode0"/>
          <p:cNvSpPr/>
          <p:nvPr/>
        </p:nvSpPr>
        <p:spPr>
          <a:xfrm>
            <a:off x="163677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7" name="!!raillab0"/>
          <p:cNvSpPr txBox="1"/>
          <p:nvPr/>
        </p:nvSpPr>
        <p:spPr>
          <a:xfrm>
            <a:off x="27432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3.1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Digital, Legal, Accessible</a:t>
            </a:r>
            <a:endParaRPr lang="en-US" sz="1300" dirty="0"/>
          </a:p>
        </p:txBody>
      </p:sp>
      <p:sp>
        <p:nvSpPr>
          <p:cNvPr id="8" name="!!railnode1"/>
          <p:cNvSpPr/>
          <p:nvPr/>
        </p:nvSpPr>
        <p:spPr>
          <a:xfrm>
            <a:off x="4562856" y="1911096"/>
            <a:ext cx="201168" cy="201168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9" name="!!raillab1"/>
          <p:cNvSpPr txBox="1"/>
          <p:nvPr/>
        </p:nvSpPr>
        <p:spPr>
          <a:xfrm>
            <a:off x="320040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3.2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Useful</a:t>
            </a:r>
            <a:endParaRPr lang="en-US" sz="1300" dirty="0"/>
          </a:p>
        </p:txBody>
      </p:sp>
      <p:sp>
        <p:nvSpPr>
          <p:cNvPr id="10" name="!!railnode2"/>
          <p:cNvSpPr/>
          <p:nvPr/>
        </p:nvSpPr>
        <p:spPr>
          <a:xfrm>
            <a:off x="7488936" y="1911096"/>
            <a:ext cx="201168" cy="201168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1" name="!!raillab2"/>
          <p:cNvSpPr txBox="1"/>
          <p:nvPr/>
        </p:nvSpPr>
        <p:spPr>
          <a:xfrm>
            <a:off x="612648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3.3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Last</a:t>
            </a:r>
            <a:endParaRPr lang="en-US" sz="1300" dirty="0"/>
          </a:p>
        </p:txBody>
      </p:sp>
      <p:sp>
        <p:nvSpPr>
          <p:cNvPr id="12" name="!!railnode3"/>
          <p:cNvSpPr/>
          <p:nvPr/>
        </p:nvSpPr>
        <p:spPr>
          <a:xfrm>
            <a:off x="10415016" y="1911096"/>
            <a:ext cx="201168" cy="201168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3" name="!!raillab3"/>
          <p:cNvSpPr txBox="1"/>
          <p:nvPr/>
        </p:nvSpPr>
        <p:spPr>
          <a:xfrm>
            <a:off x="905256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3.4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Affordable</a:t>
            </a:r>
            <a:endParaRPr lang="en-US" sz="1300" dirty="0"/>
          </a:p>
        </p:txBody>
      </p:sp>
      <p:pic>
        <p:nvPicPr>
          <p:cNvPr id="14" name="!!traveller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719072"/>
            <a:ext cx="585216" cy="585216"/>
          </a:xfrm>
          <a:prstGeom prst="rect">
            <a:avLst/>
          </a:prstGeom>
        </p:spPr>
      </p:pic>
      <p:sp>
        <p:nvSpPr>
          <p:cNvPr id="15" name="!!litq"/>
          <p:cNvSpPr txBox="1"/>
          <p:nvPr/>
        </p:nvSpPr>
        <p:spPr>
          <a:xfrm>
            <a:off x="1280160" y="310896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How do you turn ownership of a real asset into a digital record that is also </a:t>
            </a:r>
            <a:pPr algn="ctr" indent="0" marL="0">
              <a:buNone/>
            </a:pPr>
            <a:r>
              <a:rPr lang="en-US" sz="3000" b="1" i="1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legal</a:t>
            </a:r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?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Making Ownership Digital, Legal and Accessible</a:t>
            </a:r>
            <a:endParaRPr lang="en-US" sz="3400" dirty="0"/>
          </a:p>
        </p:txBody>
      </p:sp>
      <p:sp>
        <p:nvSpPr>
          <p:cNvPr id="5" name="!!railbase"/>
          <p:cNvSpPr/>
          <p:nvPr/>
        </p:nvSpPr>
        <p:spPr>
          <a:xfrm>
            <a:off x="1737360" y="2011680"/>
            <a:ext cx="8778240" cy="0"/>
          </a:xfrm>
          <a:prstGeom prst="line">
            <a:avLst/>
          </a:prstGeom>
          <a:noFill/>
          <a:ln w="25400">
            <a:solidFill>
              <a:srgbClr val="2C2C2C"/>
            </a:solidFill>
            <a:prstDash val="solid"/>
          </a:ln>
        </p:spPr>
      </p:sp>
      <p:sp>
        <p:nvSpPr>
          <p:cNvPr id="6" name="!!railnode0"/>
          <p:cNvSpPr/>
          <p:nvPr/>
        </p:nvSpPr>
        <p:spPr>
          <a:xfrm>
            <a:off x="163677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7" name="!!raillab0"/>
          <p:cNvSpPr txBox="1"/>
          <p:nvPr/>
        </p:nvSpPr>
        <p:spPr>
          <a:xfrm>
            <a:off x="27432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3.1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Digital, Legal, Accessible</a:t>
            </a:r>
            <a:endParaRPr lang="en-US" sz="1300" dirty="0"/>
          </a:p>
        </p:txBody>
      </p:sp>
      <p:sp>
        <p:nvSpPr>
          <p:cNvPr id="8" name="!!railnode1"/>
          <p:cNvSpPr/>
          <p:nvPr/>
        </p:nvSpPr>
        <p:spPr>
          <a:xfrm>
            <a:off x="4562856" y="1911096"/>
            <a:ext cx="201168" cy="201168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9" name="!!raillab1"/>
          <p:cNvSpPr txBox="1"/>
          <p:nvPr/>
        </p:nvSpPr>
        <p:spPr>
          <a:xfrm>
            <a:off x="320040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3.2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Useful</a:t>
            </a:r>
            <a:endParaRPr lang="en-US" sz="1300" dirty="0"/>
          </a:p>
        </p:txBody>
      </p:sp>
      <p:sp>
        <p:nvSpPr>
          <p:cNvPr id="10" name="!!railnode2"/>
          <p:cNvSpPr/>
          <p:nvPr/>
        </p:nvSpPr>
        <p:spPr>
          <a:xfrm>
            <a:off x="7488936" y="1911096"/>
            <a:ext cx="201168" cy="201168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1" name="!!raillab2"/>
          <p:cNvSpPr txBox="1"/>
          <p:nvPr/>
        </p:nvSpPr>
        <p:spPr>
          <a:xfrm>
            <a:off x="612648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3.3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Last</a:t>
            </a:r>
            <a:endParaRPr lang="en-US" sz="1300" dirty="0"/>
          </a:p>
        </p:txBody>
      </p:sp>
      <p:sp>
        <p:nvSpPr>
          <p:cNvPr id="12" name="!!railnode3"/>
          <p:cNvSpPr/>
          <p:nvPr/>
        </p:nvSpPr>
        <p:spPr>
          <a:xfrm>
            <a:off x="10415016" y="1911096"/>
            <a:ext cx="201168" cy="201168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3" name="!!raillab3"/>
          <p:cNvSpPr txBox="1"/>
          <p:nvPr/>
        </p:nvSpPr>
        <p:spPr>
          <a:xfrm>
            <a:off x="905256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3.4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Affordable</a:t>
            </a:r>
            <a:endParaRPr lang="en-US" sz="1300" dirty="0"/>
          </a:p>
        </p:txBody>
      </p:sp>
      <p:pic>
        <p:nvPicPr>
          <p:cNvPr id="14" name="!!traveller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719072"/>
            <a:ext cx="585216" cy="585216"/>
          </a:xfrm>
          <a:prstGeom prst="rect">
            <a:avLst/>
          </a:prstGeom>
        </p:spPr>
      </p:pic>
      <p:graphicFrame>
        <p:nvGraphicFramePr>
          <p:cNvPr id="8" name="li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108960"/>
                <a:gridCol w="681228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Year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Work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Idea / Contribution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2018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T-REX by Tokeny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The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first token designed for regulated securities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. Links every holder to a verified digital identity.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OECD, The Tokenisation of Assets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Could improve liquidity, settlement speed and access, but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still depends on a trusted custodian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 and a digital form of cash.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2021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ERC-3643 standard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Identity registry and compliance rules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inside the token itself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. Receiver hasn’t passed KYC: automatically rejected.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2022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ERC-4626 + OpenZeppelin virtual offset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Investors deposit an asset and receive proportional shares.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Virtual shares and assets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: the attack becomes unprofitable.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2023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BIS, Unified Ledger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Tokenized money and tokenized assets live together, so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payment and asset delivery settle in one step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.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2024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BlackRock BUIDL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Tokenized US Treasury fund,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~$2.8B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. Full institutional adoption.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Making Ownership Useful: Lending Against Assets</a:t>
            </a:r>
            <a:endParaRPr lang="en-US" sz="3400" dirty="0"/>
          </a:p>
        </p:txBody>
      </p:sp>
      <p:sp>
        <p:nvSpPr>
          <p:cNvPr id="5" name="!!railbase"/>
          <p:cNvSpPr/>
          <p:nvPr/>
        </p:nvSpPr>
        <p:spPr>
          <a:xfrm>
            <a:off x="1737360" y="2011680"/>
            <a:ext cx="8778240" cy="0"/>
          </a:xfrm>
          <a:prstGeom prst="line">
            <a:avLst/>
          </a:prstGeom>
          <a:noFill/>
          <a:ln w="25400">
            <a:solidFill>
              <a:srgbClr val="2C2C2C"/>
            </a:solidFill>
            <a:prstDash val="solid"/>
          </a:ln>
        </p:spPr>
      </p:sp>
      <p:sp>
        <p:nvSpPr>
          <p:cNvPr id="6" name="!!railgold"/>
          <p:cNvSpPr/>
          <p:nvPr/>
        </p:nvSpPr>
        <p:spPr>
          <a:xfrm>
            <a:off x="1737360" y="2011680"/>
            <a:ext cx="2926080" cy="0"/>
          </a:xfrm>
          <a:prstGeom prst="line">
            <a:avLst/>
          </a:prstGeom>
          <a:noFill/>
          <a:ln w="25400">
            <a:solidFill>
              <a:srgbClr val="E2B544"/>
            </a:solidFill>
            <a:prstDash val="solid"/>
          </a:ln>
        </p:spPr>
      </p:sp>
      <p:sp>
        <p:nvSpPr>
          <p:cNvPr id="7" name="!!railnode0"/>
          <p:cNvSpPr/>
          <p:nvPr/>
        </p:nvSpPr>
        <p:spPr>
          <a:xfrm>
            <a:off x="163677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8" name="!!raillab0"/>
          <p:cNvSpPr txBox="1"/>
          <p:nvPr/>
        </p:nvSpPr>
        <p:spPr>
          <a:xfrm>
            <a:off x="27432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3.1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Digital, Legal, Accessible</a:t>
            </a:r>
            <a:endParaRPr lang="en-US" sz="1300" dirty="0"/>
          </a:p>
        </p:txBody>
      </p:sp>
      <p:sp>
        <p:nvSpPr>
          <p:cNvPr id="9" name="!!railnode1"/>
          <p:cNvSpPr/>
          <p:nvPr/>
        </p:nvSpPr>
        <p:spPr>
          <a:xfrm>
            <a:off x="456285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0" name="!!raillab1"/>
          <p:cNvSpPr txBox="1"/>
          <p:nvPr/>
        </p:nvSpPr>
        <p:spPr>
          <a:xfrm>
            <a:off x="320040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3.2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Useful</a:t>
            </a:r>
            <a:endParaRPr lang="en-US" sz="1300" dirty="0"/>
          </a:p>
        </p:txBody>
      </p:sp>
      <p:sp>
        <p:nvSpPr>
          <p:cNvPr id="11" name="!!railnode2"/>
          <p:cNvSpPr/>
          <p:nvPr/>
        </p:nvSpPr>
        <p:spPr>
          <a:xfrm>
            <a:off x="7488936" y="1911096"/>
            <a:ext cx="201168" cy="201168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2" name="!!raillab2"/>
          <p:cNvSpPr txBox="1"/>
          <p:nvPr/>
        </p:nvSpPr>
        <p:spPr>
          <a:xfrm>
            <a:off x="612648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3.3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Last</a:t>
            </a:r>
            <a:endParaRPr lang="en-US" sz="1300" dirty="0"/>
          </a:p>
        </p:txBody>
      </p:sp>
      <p:sp>
        <p:nvSpPr>
          <p:cNvPr id="13" name="!!railnode3"/>
          <p:cNvSpPr/>
          <p:nvPr/>
        </p:nvSpPr>
        <p:spPr>
          <a:xfrm>
            <a:off x="10415016" y="1911096"/>
            <a:ext cx="201168" cy="201168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4" name="!!raillab3"/>
          <p:cNvSpPr txBox="1"/>
          <p:nvPr/>
        </p:nvSpPr>
        <p:spPr>
          <a:xfrm>
            <a:off x="905256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3.4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Affordable</a:t>
            </a:r>
            <a:endParaRPr lang="en-US" sz="1300" dirty="0"/>
          </a:p>
        </p:txBody>
      </p:sp>
      <p:pic>
        <p:nvPicPr>
          <p:cNvPr id="15" name="!!traveller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1719072"/>
            <a:ext cx="585216" cy="585216"/>
          </a:xfrm>
          <a:prstGeom prst="rect">
            <a:avLst/>
          </a:prstGeom>
        </p:spPr>
      </p:pic>
      <p:sp>
        <p:nvSpPr>
          <p:cNvPr id="16" name="!!litq"/>
          <p:cNvSpPr txBox="1"/>
          <p:nvPr/>
        </p:nvSpPr>
        <p:spPr>
          <a:xfrm>
            <a:off x="1280160" y="310896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Owning an asset is only half its value. The other half is being able to </a:t>
            </a:r>
            <a:pPr algn="ctr" indent="0" marL="0">
              <a:buNone/>
            </a:pPr>
            <a:r>
              <a:rPr lang="en-US" sz="3000" b="1" i="1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use it without selling it</a:t>
            </a:r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.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Making Ownership Useful: Lending Against Assets</a:t>
            </a:r>
            <a:endParaRPr lang="en-US" sz="3400" dirty="0"/>
          </a:p>
        </p:txBody>
      </p:sp>
      <p:sp>
        <p:nvSpPr>
          <p:cNvPr id="5" name="!!railbase"/>
          <p:cNvSpPr/>
          <p:nvPr/>
        </p:nvSpPr>
        <p:spPr>
          <a:xfrm>
            <a:off x="1737360" y="2011680"/>
            <a:ext cx="8778240" cy="0"/>
          </a:xfrm>
          <a:prstGeom prst="line">
            <a:avLst/>
          </a:prstGeom>
          <a:noFill/>
          <a:ln w="25400">
            <a:solidFill>
              <a:srgbClr val="2C2C2C"/>
            </a:solidFill>
            <a:prstDash val="solid"/>
          </a:ln>
        </p:spPr>
      </p:sp>
      <p:sp>
        <p:nvSpPr>
          <p:cNvPr id="6" name="!!railgold"/>
          <p:cNvSpPr/>
          <p:nvPr/>
        </p:nvSpPr>
        <p:spPr>
          <a:xfrm>
            <a:off x="1737360" y="2011680"/>
            <a:ext cx="2926080" cy="0"/>
          </a:xfrm>
          <a:prstGeom prst="line">
            <a:avLst/>
          </a:prstGeom>
          <a:noFill/>
          <a:ln w="25400">
            <a:solidFill>
              <a:srgbClr val="E2B544"/>
            </a:solidFill>
            <a:prstDash val="solid"/>
          </a:ln>
        </p:spPr>
      </p:sp>
      <p:sp>
        <p:nvSpPr>
          <p:cNvPr id="7" name="!!railnode0"/>
          <p:cNvSpPr/>
          <p:nvPr/>
        </p:nvSpPr>
        <p:spPr>
          <a:xfrm>
            <a:off x="163677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8" name="!!raillab0"/>
          <p:cNvSpPr txBox="1"/>
          <p:nvPr/>
        </p:nvSpPr>
        <p:spPr>
          <a:xfrm>
            <a:off x="27432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3.1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Digital, Legal, Accessible</a:t>
            </a:r>
            <a:endParaRPr lang="en-US" sz="1300" dirty="0"/>
          </a:p>
        </p:txBody>
      </p:sp>
      <p:sp>
        <p:nvSpPr>
          <p:cNvPr id="9" name="!!railnode1"/>
          <p:cNvSpPr/>
          <p:nvPr/>
        </p:nvSpPr>
        <p:spPr>
          <a:xfrm>
            <a:off x="456285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0" name="!!raillab1"/>
          <p:cNvSpPr txBox="1"/>
          <p:nvPr/>
        </p:nvSpPr>
        <p:spPr>
          <a:xfrm>
            <a:off x="320040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3.2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Useful</a:t>
            </a:r>
            <a:endParaRPr lang="en-US" sz="1300" dirty="0"/>
          </a:p>
        </p:txBody>
      </p:sp>
      <p:sp>
        <p:nvSpPr>
          <p:cNvPr id="11" name="!!railnode2"/>
          <p:cNvSpPr/>
          <p:nvPr/>
        </p:nvSpPr>
        <p:spPr>
          <a:xfrm>
            <a:off x="7488936" y="1911096"/>
            <a:ext cx="201168" cy="201168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2" name="!!raillab2"/>
          <p:cNvSpPr txBox="1"/>
          <p:nvPr/>
        </p:nvSpPr>
        <p:spPr>
          <a:xfrm>
            <a:off x="612648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3.3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Last</a:t>
            </a:r>
            <a:endParaRPr lang="en-US" sz="1300" dirty="0"/>
          </a:p>
        </p:txBody>
      </p:sp>
      <p:sp>
        <p:nvSpPr>
          <p:cNvPr id="13" name="!!railnode3"/>
          <p:cNvSpPr/>
          <p:nvPr/>
        </p:nvSpPr>
        <p:spPr>
          <a:xfrm>
            <a:off x="10415016" y="1911096"/>
            <a:ext cx="201168" cy="201168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4" name="!!raillab3"/>
          <p:cNvSpPr txBox="1"/>
          <p:nvPr/>
        </p:nvSpPr>
        <p:spPr>
          <a:xfrm>
            <a:off x="905256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3.4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Affordable</a:t>
            </a:r>
            <a:endParaRPr lang="en-US" sz="1300" dirty="0"/>
          </a:p>
        </p:txBody>
      </p:sp>
      <p:pic>
        <p:nvPicPr>
          <p:cNvPr id="15" name="!!traveller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1719072"/>
            <a:ext cx="585216" cy="585216"/>
          </a:xfrm>
          <a:prstGeom prst="rect">
            <a:avLst/>
          </a:prstGeom>
        </p:spPr>
      </p:pic>
      <p:graphicFrame>
        <p:nvGraphicFramePr>
          <p:cNvPr id="10" name="li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108960"/>
                <a:gridCol w="681228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Year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Work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Idea / Contribution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2017–2020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MakerDAO, Compound, Aave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Over-collateralized on-chain lending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. A user locks an asset worth more than the loan and borrows against it, with no bank.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2021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Perez, Werner, Xu &amp; Livshits, FC 2021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 price change of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only 3%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 can make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over $10M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 of loans eligible for liquidation.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2021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Qin et al., ACM IMC 2021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Liquidators sell more discounted collateral than necessary,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at the borrowers’ expense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.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2022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Mango Markets exploit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Price pumped 5–10× in minutes;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~$114M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 borrowed and drained. Oracles are a critical attack surface.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2026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Aave at scale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$1 trillion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 in cumulative loans and over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$1B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 of tokenized real-world assets as collateral.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Making Ownership Last: The Quantum Threat</a:t>
            </a:r>
            <a:endParaRPr lang="en-US" sz="3400" dirty="0"/>
          </a:p>
        </p:txBody>
      </p:sp>
      <p:sp>
        <p:nvSpPr>
          <p:cNvPr id="5" name="!!railbase"/>
          <p:cNvSpPr/>
          <p:nvPr/>
        </p:nvSpPr>
        <p:spPr>
          <a:xfrm>
            <a:off x="1737360" y="2011680"/>
            <a:ext cx="8778240" cy="0"/>
          </a:xfrm>
          <a:prstGeom prst="line">
            <a:avLst/>
          </a:prstGeom>
          <a:noFill/>
          <a:ln w="25400">
            <a:solidFill>
              <a:srgbClr val="2C2C2C"/>
            </a:solidFill>
            <a:prstDash val="solid"/>
          </a:ln>
        </p:spPr>
      </p:sp>
      <p:sp>
        <p:nvSpPr>
          <p:cNvPr id="6" name="!!railgold"/>
          <p:cNvSpPr/>
          <p:nvPr/>
        </p:nvSpPr>
        <p:spPr>
          <a:xfrm>
            <a:off x="1737360" y="2011680"/>
            <a:ext cx="5852160" cy="0"/>
          </a:xfrm>
          <a:prstGeom prst="line">
            <a:avLst/>
          </a:prstGeom>
          <a:noFill/>
          <a:ln w="25400">
            <a:solidFill>
              <a:srgbClr val="E2B544"/>
            </a:solidFill>
            <a:prstDash val="solid"/>
          </a:ln>
        </p:spPr>
      </p:sp>
      <p:sp>
        <p:nvSpPr>
          <p:cNvPr id="7" name="!!railnode0"/>
          <p:cNvSpPr/>
          <p:nvPr/>
        </p:nvSpPr>
        <p:spPr>
          <a:xfrm>
            <a:off x="163677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8" name="!!raillab0"/>
          <p:cNvSpPr txBox="1"/>
          <p:nvPr/>
        </p:nvSpPr>
        <p:spPr>
          <a:xfrm>
            <a:off x="27432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3.1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Digital, Legal, Accessible</a:t>
            </a:r>
            <a:endParaRPr lang="en-US" sz="1300" dirty="0"/>
          </a:p>
        </p:txBody>
      </p:sp>
      <p:sp>
        <p:nvSpPr>
          <p:cNvPr id="9" name="!!railnode1"/>
          <p:cNvSpPr/>
          <p:nvPr/>
        </p:nvSpPr>
        <p:spPr>
          <a:xfrm>
            <a:off x="456285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0" name="!!raillab1"/>
          <p:cNvSpPr txBox="1"/>
          <p:nvPr/>
        </p:nvSpPr>
        <p:spPr>
          <a:xfrm>
            <a:off x="320040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3.2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Useful</a:t>
            </a:r>
            <a:endParaRPr lang="en-US" sz="1300" dirty="0"/>
          </a:p>
        </p:txBody>
      </p:sp>
      <p:sp>
        <p:nvSpPr>
          <p:cNvPr id="11" name="!!railnode2"/>
          <p:cNvSpPr/>
          <p:nvPr/>
        </p:nvSpPr>
        <p:spPr>
          <a:xfrm>
            <a:off x="748893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2" name="!!raillab2"/>
          <p:cNvSpPr txBox="1"/>
          <p:nvPr/>
        </p:nvSpPr>
        <p:spPr>
          <a:xfrm>
            <a:off x="612648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3.3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Last</a:t>
            </a:r>
            <a:endParaRPr lang="en-US" sz="1300" dirty="0"/>
          </a:p>
        </p:txBody>
      </p:sp>
      <p:sp>
        <p:nvSpPr>
          <p:cNvPr id="13" name="!!railnode3"/>
          <p:cNvSpPr/>
          <p:nvPr/>
        </p:nvSpPr>
        <p:spPr>
          <a:xfrm>
            <a:off x="10415016" y="1911096"/>
            <a:ext cx="201168" cy="201168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4" name="!!raillab3"/>
          <p:cNvSpPr txBox="1"/>
          <p:nvPr/>
        </p:nvSpPr>
        <p:spPr>
          <a:xfrm>
            <a:off x="905256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3.4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Affordable</a:t>
            </a:r>
            <a:endParaRPr lang="en-US" sz="1300" dirty="0"/>
          </a:p>
        </p:txBody>
      </p:sp>
      <p:pic>
        <p:nvPicPr>
          <p:cNvPr id="15" name="!!traveller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1719072"/>
            <a:ext cx="585216" cy="585216"/>
          </a:xfrm>
          <a:prstGeom prst="rect">
            <a:avLst/>
          </a:prstGeom>
        </p:spPr>
      </p:pic>
      <p:sp>
        <p:nvSpPr>
          <p:cNvPr id="16" name="!!litq"/>
          <p:cNvSpPr txBox="1"/>
          <p:nvPr/>
        </p:nvSpPr>
        <p:spPr>
          <a:xfrm>
            <a:off x="1280160" y="310896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Every ownership record, every transfer and every loan is authorized by one signature scheme: </a:t>
            </a:r>
            <a:pPr algn="ctr" indent="0" marL="0">
              <a:buNone/>
            </a:pPr>
            <a:r>
              <a:rPr lang="en-US" sz="3000" b="1" i="1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ECDSA</a:t>
            </a:r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. Will ECDSA last that long?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Making Ownership Last: The Quantum Threat</a:t>
            </a:r>
            <a:endParaRPr lang="en-US" sz="3400" dirty="0"/>
          </a:p>
        </p:txBody>
      </p:sp>
      <p:sp>
        <p:nvSpPr>
          <p:cNvPr id="5" name="!!railbase"/>
          <p:cNvSpPr/>
          <p:nvPr/>
        </p:nvSpPr>
        <p:spPr>
          <a:xfrm>
            <a:off x="1737360" y="2011680"/>
            <a:ext cx="8778240" cy="0"/>
          </a:xfrm>
          <a:prstGeom prst="line">
            <a:avLst/>
          </a:prstGeom>
          <a:noFill/>
          <a:ln w="25400">
            <a:solidFill>
              <a:srgbClr val="2C2C2C"/>
            </a:solidFill>
            <a:prstDash val="solid"/>
          </a:ln>
        </p:spPr>
      </p:sp>
      <p:sp>
        <p:nvSpPr>
          <p:cNvPr id="6" name="!!railgold"/>
          <p:cNvSpPr/>
          <p:nvPr/>
        </p:nvSpPr>
        <p:spPr>
          <a:xfrm>
            <a:off x="1737360" y="2011680"/>
            <a:ext cx="5852160" cy="0"/>
          </a:xfrm>
          <a:prstGeom prst="line">
            <a:avLst/>
          </a:prstGeom>
          <a:noFill/>
          <a:ln w="25400">
            <a:solidFill>
              <a:srgbClr val="E2B544"/>
            </a:solidFill>
            <a:prstDash val="solid"/>
          </a:ln>
        </p:spPr>
      </p:sp>
      <p:sp>
        <p:nvSpPr>
          <p:cNvPr id="7" name="!!railnode0"/>
          <p:cNvSpPr/>
          <p:nvPr/>
        </p:nvSpPr>
        <p:spPr>
          <a:xfrm>
            <a:off x="163677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8" name="!!raillab0"/>
          <p:cNvSpPr txBox="1"/>
          <p:nvPr/>
        </p:nvSpPr>
        <p:spPr>
          <a:xfrm>
            <a:off x="27432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3.1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Digital, Legal, Accessible</a:t>
            </a:r>
            <a:endParaRPr lang="en-US" sz="1300" dirty="0"/>
          </a:p>
        </p:txBody>
      </p:sp>
      <p:sp>
        <p:nvSpPr>
          <p:cNvPr id="9" name="!!railnode1"/>
          <p:cNvSpPr/>
          <p:nvPr/>
        </p:nvSpPr>
        <p:spPr>
          <a:xfrm>
            <a:off x="456285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0" name="!!raillab1"/>
          <p:cNvSpPr txBox="1"/>
          <p:nvPr/>
        </p:nvSpPr>
        <p:spPr>
          <a:xfrm>
            <a:off x="320040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3.2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Useful</a:t>
            </a:r>
            <a:endParaRPr lang="en-US" sz="1300" dirty="0"/>
          </a:p>
        </p:txBody>
      </p:sp>
      <p:sp>
        <p:nvSpPr>
          <p:cNvPr id="11" name="!!railnode2"/>
          <p:cNvSpPr/>
          <p:nvPr/>
        </p:nvSpPr>
        <p:spPr>
          <a:xfrm>
            <a:off x="748893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2" name="!!raillab2"/>
          <p:cNvSpPr txBox="1"/>
          <p:nvPr/>
        </p:nvSpPr>
        <p:spPr>
          <a:xfrm>
            <a:off x="612648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3.3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Last</a:t>
            </a:r>
            <a:endParaRPr lang="en-US" sz="1300" dirty="0"/>
          </a:p>
        </p:txBody>
      </p:sp>
      <p:sp>
        <p:nvSpPr>
          <p:cNvPr id="13" name="!!railnode3"/>
          <p:cNvSpPr/>
          <p:nvPr/>
        </p:nvSpPr>
        <p:spPr>
          <a:xfrm>
            <a:off x="10415016" y="1911096"/>
            <a:ext cx="201168" cy="201168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4" name="!!raillab3"/>
          <p:cNvSpPr txBox="1"/>
          <p:nvPr/>
        </p:nvSpPr>
        <p:spPr>
          <a:xfrm>
            <a:off x="905256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3.4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Affordable</a:t>
            </a:r>
            <a:endParaRPr lang="en-US" sz="1300" dirty="0"/>
          </a:p>
        </p:txBody>
      </p:sp>
      <p:pic>
        <p:nvPicPr>
          <p:cNvPr id="15" name="!!traveller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1719072"/>
            <a:ext cx="585216" cy="585216"/>
          </a:xfrm>
          <a:prstGeom prst="rect">
            <a:avLst/>
          </a:prstGeom>
        </p:spPr>
      </p:pic>
      <p:graphicFrame>
        <p:nvGraphicFramePr>
          <p:cNvPr id="12" name="li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108960"/>
                <a:gridCol w="681228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Year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Work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Idea / Contribution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1994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Shor’s algorithm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Can efficiently solve the math problems behind RSA and ECDSA, and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forge signatures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2016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NIST PQC competition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Global, multi-year public competition to find algorithms that resist quantum attacks.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2018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Mosca’s theorem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If X + Y &gt; Z, the data is already at risk.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Long-lived records are in danger today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Aug 2024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NIST FIPS 203, 204, 205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ML-KEM, ML-DSA, SLH-DSA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: the first official post-quantum standards. Falcon (FIPS 206) in draft.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Nov 2024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NIST IR 8547 (draft)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ECDSA and RSA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deprecated after 2030, disallowed after 2035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May 2025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Gidney (Google)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RSA-2048 in under a week with fewer than 1 million noisy qubits: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about 20× fewer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Mar 2026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Google Quantum AI, Boneh, Drake et al.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256-bit elliptic curves: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fewer than 1,200 logical qubits, in minutes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. Migrate “without delay”.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GRI + DigiCert surveys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28–49%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 chance within 10 years. Only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7%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 have deployed quantum-safe cryptography at scale.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Making Protection Affordable</a:t>
            </a:r>
            <a:endParaRPr lang="en-US" sz="3400" dirty="0"/>
          </a:p>
        </p:txBody>
      </p:sp>
      <p:sp>
        <p:nvSpPr>
          <p:cNvPr id="5" name="!!railbase"/>
          <p:cNvSpPr/>
          <p:nvPr/>
        </p:nvSpPr>
        <p:spPr>
          <a:xfrm>
            <a:off x="1737360" y="2011680"/>
            <a:ext cx="8778240" cy="0"/>
          </a:xfrm>
          <a:prstGeom prst="line">
            <a:avLst/>
          </a:prstGeom>
          <a:noFill/>
          <a:ln w="25400">
            <a:solidFill>
              <a:srgbClr val="2C2C2C"/>
            </a:solidFill>
            <a:prstDash val="solid"/>
          </a:ln>
        </p:spPr>
      </p:sp>
      <p:sp>
        <p:nvSpPr>
          <p:cNvPr id="6" name="!!railgold"/>
          <p:cNvSpPr/>
          <p:nvPr/>
        </p:nvSpPr>
        <p:spPr>
          <a:xfrm>
            <a:off x="1737360" y="2011680"/>
            <a:ext cx="8778240" cy="0"/>
          </a:xfrm>
          <a:prstGeom prst="line">
            <a:avLst/>
          </a:prstGeom>
          <a:noFill/>
          <a:ln w="25400">
            <a:solidFill>
              <a:srgbClr val="E2B544"/>
            </a:solidFill>
            <a:prstDash val="solid"/>
          </a:ln>
        </p:spPr>
      </p:sp>
      <p:sp>
        <p:nvSpPr>
          <p:cNvPr id="7" name="!!railnode0"/>
          <p:cNvSpPr/>
          <p:nvPr/>
        </p:nvSpPr>
        <p:spPr>
          <a:xfrm>
            <a:off x="163677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8" name="!!raillab0"/>
          <p:cNvSpPr txBox="1"/>
          <p:nvPr/>
        </p:nvSpPr>
        <p:spPr>
          <a:xfrm>
            <a:off x="27432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3.1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Digital, Legal, Accessible</a:t>
            </a:r>
            <a:endParaRPr lang="en-US" sz="1300" dirty="0"/>
          </a:p>
        </p:txBody>
      </p:sp>
      <p:sp>
        <p:nvSpPr>
          <p:cNvPr id="9" name="!!railnode1"/>
          <p:cNvSpPr/>
          <p:nvPr/>
        </p:nvSpPr>
        <p:spPr>
          <a:xfrm>
            <a:off x="456285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0" name="!!raillab1"/>
          <p:cNvSpPr txBox="1"/>
          <p:nvPr/>
        </p:nvSpPr>
        <p:spPr>
          <a:xfrm>
            <a:off x="320040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3.2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Useful</a:t>
            </a:r>
            <a:endParaRPr lang="en-US" sz="1300" dirty="0"/>
          </a:p>
        </p:txBody>
      </p:sp>
      <p:sp>
        <p:nvSpPr>
          <p:cNvPr id="11" name="!!railnode2"/>
          <p:cNvSpPr/>
          <p:nvPr/>
        </p:nvSpPr>
        <p:spPr>
          <a:xfrm>
            <a:off x="748893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2" name="!!raillab2"/>
          <p:cNvSpPr txBox="1"/>
          <p:nvPr/>
        </p:nvSpPr>
        <p:spPr>
          <a:xfrm>
            <a:off x="612648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3.3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Last</a:t>
            </a:r>
            <a:endParaRPr lang="en-US" sz="1300" dirty="0"/>
          </a:p>
        </p:txBody>
      </p:sp>
      <p:sp>
        <p:nvSpPr>
          <p:cNvPr id="13" name="!!railnode3"/>
          <p:cNvSpPr/>
          <p:nvPr/>
        </p:nvSpPr>
        <p:spPr>
          <a:xfrm>
            <a:off x="1041501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4" name="!!raillab3"/>
          <p:cNvSpPr txBox="1"/>
          <p:nvPr/>
        </p:nvSpPr>
        <p:spPr>
          <a:xfrm>
            <a:off x="905256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3.4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Affordable</a:t>
            </a:r>
            <a:endParaRPr lang="en-US" sz="1300" dirty="0"/>
          </a:p>
        </p:txBody>
      </p:sp>
      <p:pic>
        <p:nvPicPr>
          <p:cNvPr id="15" name="!!traveller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1719072"/>
            <a:ext cx="585216" cy="585216"/>
          </a:xfrm>
          <a:prstGeom prst="rect">
            <a:avLst/>
          </a:prstGeom>
        </p:spPr>
      </p:pic>
      <p:sp>
        <p:nvSpPr>
          <p:cNvPr id="16" name="!!litq"/>
          <p:cNvSpPr txBox="1"/>
          <p:nvPr/>
        </p:nvSpPr>
        <p:spPr>
          <a:xfrm>
            <a:off x="1280160" y="310896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replacement already exists: </a:t>
            </a:r>
            <a:pPr algn="ctr" indent="0" marL="0">
              <a:buNone/>
            </a:pPr>
            <a:r>
              <a:rPr lang="en-US" sz="3000" b="1" i="1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NIST’s post-quantum standards</a:t>
            </a:r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. Why hasn’t anyone put them directly on the blockchain?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Making Protection Affordable</a:t>
            </a:r>
            <a:endParaRPr lang="en-US" sz="3400" dirty="0"/>
          </a:p>
        </p:txBody>
      </p:sp>
      <p:sp>
        <p:nvSpPr>
          <p:cNvPr id="5" name="!!railbase"/>
          <p:cNvSpPr/>
          <p:nvPr/>
        </p:nvSpPr>
        <p:spPr>
          <a:xfrm>
            <a:off x="1737360" y="2011680"/>
            <a:ext cx="8778240" cy="0"/>
          </a:xfrm>
          <a:prstGeom prst="line">
            <a:avLst/>
          </a:prstGeom>
          <a:noFill/>
          <a:ln w="25400">
            <a:solidFill>
              <a:srgbClr val="2C2C2C"/>
            </a:solidFill>
            <a:prstDash val="solid"/>
          </a:ln>
        </p:spPr>
      </p:sp>
      <p:sp>
        <p:nvSpPr>
          <p:cNvPr id="6" name="!!railgold"/>
          <p:cNvSpPr/>
          <p:nvPr/>
        </p:nvSpPr>
        <p:spPr>
          <a:xfrm>
            <a:off x="1737360" y="2011680"/>
            <a:ext cx="8778240" cy="0"/>
          </a:xfrm>
          <a:prstGeom prst="line">
            <a:avLst/>
          </a:prstGeom>
          <a:noFill/>
          <a:ln w="25400">
            <a:solidFill>
              <a:srgbClr val="E2B544"/>
            </a:solidFill>
            <a:prstDash val="solid"/>
          </a:ln>
        </p:spPr>
      </p:sp>
      <p:sp>
        <p:nvSpPr>
          <p:cNvPr id="7" name="!!railnode0"/>
          <p:cNvSpPr/>
          <p:nvPr/>
        </p:nvSpPr>
        <p:spPr>
          <a:xfrm>
            <a:off x="163677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8" name="!!raillab0"/>
          <p:cNvSpPr txBox="1"/>
          <p:nvPr/>
        </p:nvSpPr>
        <p:spPr>
          <a:xfrm>
            <a:off x="27432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3.1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Digital, Legal, Accessible</a:t>
            </a:r>
            <a:endParaRPr lang="en-US" sz="1300" dirty="0"/>
          </a:p>
        </p:txBody>
      </p:sp>
      <p:sp>
        <p:nvSpPr>
          <p:cNvPr id="9" name="!!railnode1"/>
          <p:cNvSpPr/>
          <p:nvPr/>
        </p:nvSpPr>
        <p:spPr>
          <a:xfrm>
            <a:off x="456285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0" name="!!raillab1"/>
          <p:cNvSpPr txBox="1"/>
          <p:nvPr/>
        </p:nvSpPr>
        <p:spPr>
          <a:xfrm>
            <a:off x="320040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3.2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Useful</a:t>
            </a:r>
            <a:endParaRPr lang="en-US" sz="1300" dirty="0"/>
          </a:p>
        </p:txBody>
      </p:sp>
      <p:sp>
        <p:nvSpPr>
          <p:cNvPr id="11" name="!!railnode2"/>
          <p:cNvSpPr/>
          <p:nvPr/>
        </p:nvSpPr>
        <p:spPr>
          <a:xfrm>
            <a:off x="748893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2" name="!!raillab2"/>
          <p:cNvSpPr txBox="1"/>
          <p:nvPr/>
        </p:nvSpPr>
        <p:spPr>
          <a:xfrm>
            <a:off x="612648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3.3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Last</a:t>
            </a:r>
            <a:endParaRPr lang="en-US" sz="1300" dirty="0"/>
          </a:p>
        </p:txBody>
      </p:sp>
      <p:sp>
        <p:nvSpPr>
          <p:cNvPr id="13" name="!!railnode3"/>
          <p:cNvSpPr/>
          <p:nvPr/>
        </p:nvSpPr>
        <p:spPr>
          <a:xfrm>
            <a:off x="1041501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4" name="!!raillab3"/>
          <p:cNvSpPr txBox="1"/>
          <p:nvPr/>
        </p:nvSpPr>
        <p:spPr>
          <a:xfrm>
            <a:off x="905256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3.4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Affordable</a:t>
            </a:r>
            <a:endParaRPr lang="en-US" sz="1300" dirty="0"/>
          </a:p>
        </p:txBody>
      </p:sp>
      <p:pic>
        <p:nvPicPr>
          <p:cNvPr id="15" name="!!traveller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1719072"/>
            <a:ext cx="585216" cy="585216"/>
          </a:xfrm>
          <a:prstGeom prst="rect">
            <a:avLst/>
          </a:prstGeom>
        </p:spPr>
      </p:pic>
      <p:graphicFrame>
        <p:nvGraphicFramePr>
          <p:cNvPr id="14" name="li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108960"/>
                <a:gridCol w="68122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Year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Work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Idea / Contribution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1979/1987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Merkle trees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Any number of records into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one 32-byte root hash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; about 14 hashes for 10,000 records.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1991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Haber &amp; Stornetta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Tamper-proof timestamping. The Bitcoin whitepaper cites this work.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2018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QRL: Quantum Resistant Ledger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New blockchain with XMSS hash-based signatures;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about 6 KB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 per transaction.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Fernández-Caramés &amp; Fraga-Lamas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Blockchains will need to be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redesigned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 around quantum-resistant cryptography.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Algorand State Proofs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Falcon signatures every 256 blocks; full quantum resilience targeted for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2027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2019–2024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Optimistic rollups &amp; BoLD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Post only a compact commitment on-chain; correct unless someone submits a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fraud proof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ZKNox ETHFALCON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Falcon verifier on Ethereum: ~24M gas to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~1.5M gas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 per signature.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Dec 2025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PQ-Resilient Audit Evidence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Sign only the Merkle root of a batch: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spreads the cost of PQC across many records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Ethereum Foundation PQ roadmap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Built-in PQ signature verification (precompiles), targeting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~2029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Each Piece Exists, in a Different Place</a:t>
            </a:r>
            <a:endParaRPr lang="en-US" sz="3400" dirty="0"/>
          </a:p>
        </p:txBody>
      </p:sp>
      <p:sp>
        <p:nvSpPr>
          <p:cNvPr id="5" name="!!railbase"/>
          <p:cNvSpPr/>
          <p:nvPr/>
        </p:nvSpPr>
        <p:spPr>
          <a:xfrm>
            <a:off x="1737360" y="2011680"/>
            <a:ext cx="8778240" cy="0"/>
          </a:xfrm>
          <a:prstGeom prst="line">
            <a:avLst/>
          </a:prstGeom>
          <a:noFill/>
          <a:ln w="25400">
            <a:solidFill>
              <a:srgbClr val="2C2C2C"/>
            </a:solidFill>
            <a:prstDash val="solid"/>
          </a:ln>
        </p:spPr>
      </p:sp>
      <p:sp>
        <p:nvSpPr>
          <p:cNvPr id="6" name="!!railgold"/>
          <p:cNvSpPr/>
          <p:nvPr/>
        </p:nvSpPr>
        <p:spPr>
          <a:xfrm>
            <a:off x="1737360" y="2011680"/>
            <a:ext cx="8778240" cy="0"/>
          </a:xfrm>
          <a:prstGeom prst="line">
            <a:avLst/>
          </a:prstGeom>
          <a:noFill/>
          <a:ln w="25400">
            <a:solidFill>
              <a:srgbClr val="E2B544"/>
            </a:solidFill>
            <a:prstDash val="solid"/>
          </a:ln>
        </p:spPr>
      </p:sp>
      <p:sp>
        <p:nvSpPr>
          <p:cNvPr id="7" name="!!railnode0"/>
          <p:cNvSpPr/>
          <p:nvPr/>
        </p:nvSpPr>
        <p:spPr>
          <a:xfrm>
            <a:off x="163677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8" name="!!raillab0"/>
          <p:cNvSpPr txBox="1"/>
          <p:nvPr/>
        </p:nvSpPr>
        <p:spPr>
          <a:xfrm>
            <a:off x="27432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3.1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Digital, Legal, Accessible</a:t>
            </a:r>
            <a:endParaRPr lang="en-US" sz="1300" dirty="0"/>
          </a:p>
        </p:txBody>
      </p:sp>
      <p:sp>
        <p:nvSpPr>
          <p:cNvPr id="9" name="!!railnode1"/>
          <p:cNvSpPr/>
          <p:nvPr/>
        </p:nvSpPr>
        <p:spPr>
          <a:xfrm>
            <a:off x="456285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0" name="!!raillab1"/>
          <p:cNvSpPr txBox="1"/>
          <p:nvPr/>
        </p:nvSpPr>
        <p:spPr>
          <a:xfrm>
            <a:off x="320040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3.2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Useful</a:t>
            </a:r>
            <a:endParaRPr lang="en-US" sz="1300" dirty="0"/>
          </a:p>
        </p:txBody>
      </p:sp>
      <p:sp>
        <p:nvSpPr>
          <p:cNvPr id="11" name="!!railnode2"/>
          <p:cNvSpPr/>
          <p:nvPr/>
        </p:nvSpPr>
        <p:spPr>
          <a:xfrm>
            <a:off x="748893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2" name="!!raillab2"/>
          <p:cNvSpPr txBox="1"/>
          <p:nvPr/>
        </p:nvSpPr>
        <p:spPr>
          <a:xfrm>
            <a:off x="612648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3.3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Last</a:t>
            </a:r>
            <a:endParaRPr lang="en-US" sz="1300" dirty="0"/>
          </a:p>
        </p:txBody>
      </p:sp>
      <p:sp>
        <p:nvSpPr>
          <p:cNvPr id="13" name="!!railnode3"/>
          <p:cNvSpPr/>
          <p:nvPr/>
        </p:nvSpPr>
        <p:spPr>
          <a:xfrm>
            <a:off x="10415016" y="1911096"/>
            <a:ext cx="201168" cy="201168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4" name="!!raillab3"/>
          <p:cNvSpPr txBox="1"/>
          <p:nvPr/>
        </p:nvSpPr>
        <p:spPr>
          <a:xfrm>
            <a:off x="9052560" y="2340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3.4  </a:t>
            </a:r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Affordable</a:t>
            </a:r>
            <a:endParaRPr lang="en-US" sz="1300" dirty="0"/>
          </a:p>
        </p:txBody>
      </p:sp>
      <p:pic>
        <p:nvPicPr>
          <p:cNvPr id="15" name="!!traveller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719072"/>
            <a:ext cx="585216" cy="585216"/>
          </a:xfrm>
          <a:prstGeom prst="rect">
            <a:avLst/>
          </a:prstGeom>
        </p:spPr>
      </p:pic>
      <p:sp>
        <p:nvSpPr>
          <p:cNvPr id="16" name="!!litq"/>
          <p:cNvSpPr txBox="1"/>
          <p:nvPr/>
        </p:nvSpPr>
        <p:spPr>
          <a:xfrm>
            <a:off x="1280160" y="310896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Compliant tokens, working lending, PQC standards and affordable anchoring: </a:t>
            </a:r>
            <a:pPr algn="ctr" indent="0" marL="0">
              <a:buNone/>
            </a:pPr>
            <a:r>
              <a:rPr lang="en-US" sz="3000" b="1" i="1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each in a different place</a:t>
            </a:r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.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Three Problems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a person with PKR 1,000 own a real asset, use it, and trust that ownership for decades? The literature answers no.</a:t>
            </a:r>
            <a:endParaRPr lang="en-US" sz="1600" dirty="0"/>
          </a:p>
        </p:txBody>
      </p:sp>
      <p:sp>
        <p:nvSpPr>
          <p:cNvPr id="6" name="!!pcard0"/>
          <p:cNvSpPr/>
          <p:nvPr/>
        </p:nvSpPr>
        <p:spPr>
          <a:xfrm>
            <a:off x="548640" y="201168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pic>
        <p:nvPicPr>
          <p:cNvPr id="7" name="!!traveller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194560"/>
            <a:ext cx="731520" cy="731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P1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Ownership records are quantum-vulnerable, and the fix is unaffordable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947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Signed with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ECDSA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which quantum computers will break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Records must stay valid for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30+ years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On-chain PQC: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~1.5M gas, about 500× ECDSA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Ethereum’s fix: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~2029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760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 1994 · Mosca 2018 · Google Quantum AI 2026 · NIST IR 8547 · ZKNox ETHFALCON · EF roadmap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Three Problems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a person with PKR 1,000 own a real asset, use it, and trust that ownership for decades? The literature answers no.</a:t>
            </a:r>
            <a:endParaRPr lang="en-US" sz="1600" dirty="0"/>
          </a:p>
        </p:txBody>
      </p:sp>
      <p:sp>
        <p:nvSpPr>
          <p:cNvPr id="6" name="!!pcard0"/>
          <p:cNvSpPr/>
          <p:nvPr/>
        </p:nvSpPr>
        <p:spPr>
          <a:xfrm>
            <a:off x="548640" y="201168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pic>
        <p:nvPicPr>
          <p:cNvPr id="7" name="!!traveller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194560"/>
            <a:ext cx="731520" cy="731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P1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Ownership records are quantum-vulnerable, and the fix is unaffordable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947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Signed with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ECDSA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which quantum computers will break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Records must stay valid for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30+ years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On-chain PQC: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~1.5M gas, about 500× ECDSA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Ethereum’s fix: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~2029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760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 1994 · Mosca 2018 · Google Quantum AI 2026 · NIST IR 8547 · ZKNox ETHFALCON · EF roadmap</a:t>
            </a:r>
            <a:endParaRPr lang="en-US" sz="1000" dirty="0"/>
          </a:p>
        </p:txBody>
      </p:sp>
      <p:sp>
        <p:nvSpPr>
          <p:cNvPr id="12" name="!!pcard1"/>
          <p:cNvSpPr/>
          <p:nvPr/>
        </p:nvSpPr>
        <p:spPr>
          <a:xfrm>
            <a:off x="4297680" y="201168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pic>
        <p:nvPicPr>
          <p:cNvPr id="13" name="!!ptok1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194560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P2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Tokenized real-world assets exclude small investors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37947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Minimums of up to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$5M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qualified purchasers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ERC-4626 is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exploitable at small deposit sizes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5760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BlackRock BUIDL ($5M min) · ERC-4626 inflation attack (OpenZeppelin)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Three Problems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a person with PKR 1,000 own a real asset, use it, and trust that ownership for decades? The literature answers no.</a:t>
            </a:r>
            <a:endParaRPr lang="en-US" sz="1600" dirty="0"/>
          </a:p>
        </p:txBody>
      </p:sp>
      <p:sp>
        <p:nvSpPr>
          <p:cNvPr id="6" name="!!pcard0"/>
          <p:cNvSpPr/>
          <p:nvPr/>
        </p:nvSpPr>
        <p:spPr>
          <a:xfrm>
            <a:off x="548640" y="201168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pic>
        <p:nvPicPr>
          <p:cNvPr id="7" name="!!traveller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194560"/>
            <a:ext cx="731520" cy="731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P1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Ownership records are quantum-vulnerable, and the fix is unaffordable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947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Signed with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ECDSA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which quantum computers will break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Records must stay valid for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30+ years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On-chain PQC: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~1.5M gas, about 500× ECDSA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Ethereum’s fix: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~2029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760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 1994 · Mosca 2018 · Google Quantum AI 2026 · NIST IR 8547 · ZKNox ETHFALCON · EF roadmap</a:t>
            </a:r>
            <a:endParaRPr lang="en-US" sz="1000" dirty="0"/>
          </a:p>
        </p:txBody>
      </p:sp>
      <p:sp>
        <p:nvSpPr>
          <p:cNvPr id="12" name="!!pcard1"/>
          <p:cNvSpPr/>
          <p:nvPr/>
        </p:nvSpPr>
        <p:spPr>
          <a:xfrm>
            <a:off x="4297680" y="201168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pic>
        <p:nvPicPr>
          <p:cNvPr id="13" name="!!ptok1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194560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P2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Tokenized real-world assets exclude small investors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37947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Minimums of up to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$5M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qualified purchasers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ERC-4626 is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exploitable at small deposit sizes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5760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BlackRock BUIDL ($5M min) · ERC-4626 inflation attack (OpenZeppelin)</a:t>
            </a:r>
            <a:endParaRPr lang="en-US" sz="1000" dirty="0"/>
          </a:p>
        </p:txBody>
      </p:sp>
      <p:sp>
        <p:nvSpPr>
          <p:cNvPr id="18" name="!!pcard2"/>
          <p:cNvSpPr/>
          <p:nvPr/>
        </p:nvSpPr>
        <p:spPr>
          <a:xfrm>
            <a:off x="8046720" y="201168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pic>
        <p:nvPicPr>
          <p:cNvPr id="19" name="!!ptok2" descr="C:\Users\USER\AppData\Local\Temp\claude\C--Users-USER-OneDrive-Desktop-RWA-vault\22c0d93f-95db-488a-9ad8-cfe9b0a46593\scratchpad\deck\art5\estate_sil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194560"/>
            <a:ext cx="731520" cy="7315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P3</a:t>
            </a:r>
            <a:endParaRPr lang="en-US" sz="40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Borrowing against assets is unsafe for micro-borrowers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37947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Liquidate on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small, brief price dips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Excess collateral to liquidators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the borrower’s expense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Manipulable price feeds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5760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Perez et al. 2021 · Qin et al. 2021 · Mango Markets 2022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Verification Cycle</a:t>
            </a:r>
            <a:endParaRPr lang="en-US" sz="3400" dirty="0"/>
          </a:p>
        </p:txBody>
      </p:sp>
      <p:sp>
        <p:nvSpPr>
          <p:cNvPr id="5" name="!!cring"/>
          <p:cNvSpPr/>
          <p:nvPr/>
        </p:nvSpPr>
        <p:spPr>
          <a:xfrm>
            <a:off x="1783080" y="2606040"/>
            <a:ext cx="3657600" cy="3200400"/>
          </a:xfrm>
          <a:prstGeom prst="ellipse">
            <a:avLst/>
          </a:prstGeom>
          <a:ln w="25400">
            <a:solidFill>
              <a:srgbClr val="2C2C2C"/>
            </a:solidFill>
            <a:prstDash val="solid"/>
          </a:ln>
        </p:spPr>
      </p:sp>
      <p:sp>
        <p:nvSpPr>
          <p:cNvPr id="6" name="!!cnode0"/>
          <p:cNvSpPr/>
          <p:nvPr/>
        </p:nvSpPr>
        <p:spPr>
          <a:xfrm>
            <a:off x="3493008" y="24871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7" name="!!clab0"/>
          <p:cNvSpPr txBox="1"/>
          <p:nvPr/>
        </p:nvSpPr>
        <p:spPr>
          <a:xfrm>
            <a:off x="278892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 SIGN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</a:t>
            </a:r>
            <a:endParaRPr lang="en-US" sz="1500" dirty="0"/>
          </a:p>
        </p:txBody>
      </p:sp>
      <p:sp>
        <p:nvSpPr>
          <p:cNvPr id="8" name="!!cnode1"/>
          <p:cNvSpPr/>
          <p:nvPr/>
        </p:nvSpPr>
        <p:spPr>
          <a:xfrm>
            <a:off x="5076795" y="3287268"/>
            <a:ext cx="237744" cy="237744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9" name="!!clab1"/>
          <p:cNvSpPr txBox="1"/>
          <p:nvPr/>
        </p:nvSpPr>
        <p:spPr>
          <a:xfrm>
            <a:off x="5652867" y="31318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 VERIFY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!!cnode2"/>
          <p:cNvSpPr/>
          <p:nvPr/>
        </p:nvSpPr>
        <p:spPr>
          <a:xfrm>
            <a:off x="5076795" y="4887468"/>
            <a:ext cx="237744" cy="237744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1" name="!!clab2"/>
          <p:cNvSpPr txBox="1"/>
          <p:nvPr/>
        </p:nvSpPr>
        <p:spPr>
          <a:xfrm>
            <a:off x="5652867" y="47320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 EXECUTE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contract</a:t>
            </a:r>
            <a:endParaRPr lang="en-US" sz="1500" dirty="0"/>
          </a:p>
        </p:txBody>
      </p:sp>
      <p:sp>
        <p:nvSpPr>
          <p:cNvPr id="12" name="!!cnode3"/>
          <p:cNvSpPr/>
          <p:nvPr/>
        </p:nvSpPr>
        <p:spPr>
          <a:xfrm>
            <a:off x="3493008" y="5687568"/>
            <a:ext cx="237744" cy="237744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3" name="!!clab3"/>
          <p:cNvSpPr txBox="1"/>
          <p:nvPr/>
        </p:nvSpPr>
        <p:spPr>
          <a:xfrm>
            <a:off x="2788920" y="6263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 LEAF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batch</a:t>
            </a:r>
            <a:endParaRPr lang="en-US" sz="1500" dirty="0"/>
          </a:p>
        </p:txBody>
      </p:sp>
      <p:sp>
        <p:nvSpPr>
          <p:cNvPr id="14" name="!!cnode4"/>
          <p:cNvSpPr/>
          <p:nvPr/>
        </p:nvSpPr>
        <p:spPr>
          <a:xfrm>
            <a:off x="1909221" y="4887468"/>
            <a:ext cx="237744" cy="237744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5" name="!!clab4"/>
          <p:cNvSpPr txBox="1"/>
          <p:nvPr/>
        </p:nvSpPr>
        <p:spPr>
          <a:xfrm>
            <a:off x="245013" y="47320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 ANCHOR</a:t>
            </a:r>
            <a:endParaRPr lang="en-US" sz="15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on-chain</a:t>
            </a:r>
            <a:endParaRPr lang="en-US" sz="1500" dirty="0"/>
          </a:p>
        </p:txBody>
      </p:sp>
      <p:sp>
        <p:nvSpPr>
          <p:cNvPr id="16" name="!!cnode5"/>
          <p:cNvSpPr/>
          <p:nvPr/>
        </p:nvSpPr>
        <p:spPr>
          <a:xfrm>
            <a:off x="1909221" y="3287268"/>
            <a:ext cx="237744" cy="237744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7" name="!!clab5"/>
          <p:cNvSpPr txBox="1"/>
          <p:nvPr/>
        </p:nvSpPr>
        <p:spPr>
          <a:xfrm>
            <a:off x="245013" y="31318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 PROVE</a:t>
            </a:r>
            <a:endParaRPr lang="en-US" sz="15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</a:t>
            </a:r>
            <a:endParaRPr lang="en-US" sz="1500" dirty="0"/>
          </a:p>
        </p:txBody>
      </p:sp>
      <p:pic>
        <p:nvPicPr>
          <p:cNvPr id="18" name="!!lock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7832" y="2221992"/>
            <a:ext cx="768096" cy="768096"/>
          </a:xfrm>
          <a:prstGeom prst="rect">
            <a:avLst/>
          </a:prstGeom>
        </p:spPr>
      </p:pic>
      <p:sp>
        <p:nvSpPr>
          <p:cNvPr id="19" name="!!cstep"/>
          <p:cNvSpPr txBox="1"/>
          <p:nvPr/>
        </p:nvSpPr>
        <p:spPr>
          <a:xfrm>
            <a:off x="740664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1 OF 6</a:t>
            </a:r>
            <a:endParaRPr lang="en-US" sz="1400" dirty="0"/>
          </a:p>
        </p:txBody>
      </p:sp>
      <p:sp>
        <p:nvSpPr>
          <p:cNvPr id="20" name="!!cname"/>
          <p:cNvSpPr txBox="1"/>
          <p:nvPr/>
        </p:nvSpPr>
        <p:spPr>
          <a:xfrm>
            <a:off x="7406640" y="2560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Sign</a:t>
            </a:r>
            <a:endParaRPr lang="en-US" sz="4000" dirty="0"/>
          </a:p>
        </p:txBody>
      </p:sp>
      <p:sp>
        <p:nvSpPr>
          <p:cNvPr id="21" name="!!cdesc"/>
          <p:cNvSpPr txBox="1"/>
          <p:nvPr/>
        </p:nvSpPr>
        <p:spPr>
          <a:xfrm>
            <a:off x="7406640" y="352044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app builds an envelope (action, contract, chain, signer, nonce, time window, payload hash) and signs it with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Falcon-512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the browser. The key is created and stored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the device only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Verification Cycle</a:t>
            </a:r>
            <a:endParaRPr lang="en-US" sz="3400" dirty="0"/>
          </a:p>
        </p:txBody>
      </p:sp>
      <p:sp>
        <p:nvSpPr>
          <p:cNvPr id="5" name="!!cring"/>
          <p:cNvSpPr/>
          <p:nvPr/>
        </p:nvSpPr>
        <p:spPr>
          <a:xfrm>
            <a:off x="1783080" y="2606040"/>
            <a:ext cx="3657600" cy="3200400"/>
          </a:xfrm>
          <a:prstGeom prst="ellipse">
            <a:avLst/>
          </a:prstGeom>
          <a:ln w="25400">
            <a:solidFill>
              <a:srgbClr val="2C2C2C"/>
            </a:solidFill>
            <a:prstDash val="solid"/>
          </a:ln>
        </p:spPr>
      </p:sp>
      <p:sp>
        <p:nvSpPr>
          <p:cNvPr id="6" name="!!cnode0"/>
          <p:cNvSpPr/>
          <p:nvPr/>
        </p:nvSpPr>
        <p:spPr>
          <a:xfrm>
            <a:off x="3493008" y="24871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7" name="!!clab0"/>
          <p:cNvSpPr txBox="1"/>
          <p:nvPr/>
        </p:nvSpPr>
        <p:spPr>
          <a:xfrm>
            <a:off x="278892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 SIGN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</a:t>
            </a:r>
            <a:endParaRPr lang="en-US" sz="1500" dirty="0"/>
          </a:p>
        </p:txBody>
      </p:sp>
      <p:sp>
        <p:nvSpPr>
          <p:cNvPr id="8" name="!!cnode1"/>
          <p:cNvSpPr/>
          <p:nvPr/>
        </p:nvSpPr>
        <p:spPr>
          <a:xfrm>
            <a:off x="5076795" y="32872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9" name="!!clab1"/>
          <p:cNvSpPr txBox="1"/>
          <p:nvPr/>
        </p:nvSpPr>
        <p:spPr>
          <a:xfrm>
            <a:off x="5652867" y="31318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 VERIFY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!!cnode2"/>
          <p:cNvSpPr/>
          <p:nvPr/>
        </p:nvSpPr>
        <p:spPr>
          <a:xfrm>
            <a:off x="5076795" y="4887468"/>
            <a:ext cx="237744" cy="237744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1" name="!!clab2"/>
          <p:cNvSpPr txBox="1"/>
          <p:nvPr/>
        </p:nvSpPr>
        <p:spPr>
          <a:xfrm>
            <a:off x="5652867" y="47320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 EXECUTE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contract</a:t>
            </a:r>
            <a:endParaRPr lang="en-US" sz="1500" dirty="0"/>
          </a:p>
        </p:txBody>
      </p:sp>
      <p:sp>
        <p:nvSpPr>
          <p:cNvPr id="12" name="!!cnode3"/>
          <p:cNvSpPr/>
          <p:nvPr/>
        </p:nvSpPr>
        <p:spPr>
          <a:xfrm>
            <a:off x="3493008" y="5687568"/>
            <a:ext cx="237744" cy="237744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3" name="!!clab3"/>
          <p:cNvSpPr txBox="1"/>
          <p:nvPr/>
        </p:nvSpPr>
        <p:spPr>
          <a:xfrm>
            <a:off x="2788920" y="6263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 LEAF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batch</a:t>
            </a:r>
            <a:endParaRPr lang="en-US" sz="1500" dirty="0"/>
          </a:p>
        </p:txBody>
      </p:sp>
      <p:sp>
        <p:nvSpPr>
          <p:cNvPr id="14" name="!!cnode4"/>
          <p:cNvSpPr/>
          <p:nvPr/>
        </p:nvSpPr>
        <p:spPr>
          <a:xfrm>
            <a:off x="1909221" y="4887468"/>
            <a:ext cx="237744" cy="237744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5" name="!!clab4"/>
          <p:cNvSpPr txBox="1"/>
          <p:nvPr/>
        </p:nvSpPr>
        <p:spPr>
          <a:xfrm>
            <a:off x="245013" y="47320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 ANCHOR</a:t>
            </a:r>
            <a:endParaRPr lang="en-US" sz="15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on-chain</a:t>
            </a:r>
            <a:endParaRPr lang="en-US" sz="1500" dirty="0"/>
          </a:p>
        </p:txBody>
      </p:sp>
      <p:sp>
        <p:nvSpPr>
          <p:cNvPr id="16" name="!!cnode5"/>
          <p:cNvSpPr/>
          <p:nvPr/>
        </p:nvSpPr>
        <p:spPr>
          <a:xfrm>
            <a:off x="1909221" y="3287268"/>
            <a:ext cx="237744" cy="237744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7" name="!!clab5"/>
          <p:cNvSpPr txBox="1"/>
          <p:nvPr/>
        </p:nvSpPr>
        <p:spPr>
          <a:xfrm>
            <a:off x="245013" y="31318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 PROVE</a:t>
            </a:r>
            <a:endParaRPr lang="en-US" sz="15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</a:t>
            </a:r>
            <a:endParaRPr lang="en-US" sz="1500" dirty="0"/>
          </a:p>
        </p:txBody>
      </p:sp>
      <p:pic>
        <p:nvPicPr>
          <p:cNvPr id="18" name="!!lock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1619" y="3022092"/>
            <a:ext cx="768096" cy="768096"/>
          </a:xfrm>
          <a:prstGeom prst="rect">
            <a:avLst/>
          </a:prstGeom>
        </p:spPr>
      </p:pic>
      <p:sp>
        <p:nvSpPr>
          <p:cNvPr id="19" name="!!cstep"/>
          <p:cNvSpPr txBox="1"/>
          <p:nvPr/>
        </p:nvSpPr>
        <p:spPr>
          <a:xfrm>
            <a:off x="740664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2 OF 6</a:t>
            </a:r>
            <a:endParaRPr lang="en-US" sz="1400" dirty="0"/>
          </a:p>
        </p:txBody>
      </p:sp>
      <p:sp>
        <p:nvSpPr>
          <p:cNvPr id="20" name="!!cname"/>
          <p:cNvSpPr txBox="1"/>
          <p:nvPr/>
        </p:nvSpPr>
        <p:spPr>
          <a:xfrm>
            <a:off x="7406640" y="2560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Verify</a:t>
            </a:r>
            <a:endParaRPr lang="en-US" sz="4000" dirty="0"/>
          </a:p>
        </p:txBody>
      </p:sp>
      <p:sp>
        <p:nvSpPr>
          <p:cNvPr id="21" name="!!cdesc"/>
          <p:cNvSpPr txBox="1"/>
          <p:nvPr/>
        </p:nvSpPr>
        <p:spPr>
          <a:xfrm>
            <a:off x="7406640" y="352044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backend runs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checks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algorithm allowed, key active and not revoked, correct chain and contract, inside the time window, nonce equals last + 1, signature valid, payload matches. Any failure is rejected with a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named reason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Verification Cycle</a:t>
            </a:r>
            <a:endParaRPr lang="en-US" sz="3400" dirty="0"/>
          </a:p>
        </p:txBody>
      </p:sp>
      <p:sp>
        <p:nvSpPr>
          <p:cNvPr id="5" name="!!cring"/>
          <p:cNvSpPr/>
          <p:nvPr/>
        </p:nvSpPr>
        <p:spPr>
          <a:xfrm>
            <a:off x="1783080" y="2606040"/>
            <a:ext cx="3657600" cy="3200400"/>
          </a:xfrm>
          <a:prstGeom prst="ellipse">
            <a:avLst/>
          </a:prstGeom>
          <a:ln w="25400">
            <a:solidFill>
              <a:srgbClr val="2C2C2C"/>
            </a:solidFill>
            <a:prstDash val="solid"/>
          </a:ln>
        </p:spPr>
      </p:sp>
      <p:sp>
        <p:nvSpPr>
          <p:cNvPr id="6" name="!!cnode0"/>
          <p:cNvSpPr/>
          <p:nvPr/>
        </p:nvSpPr>
        <p:spPr>
          <a:xfrm>
            <a:off x="3493008" y="24871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7" name="!!clab0"/>
          <p:cNvSpPr txBox="1"/>
          <p:nvPr/>
        </p:nvSpPr>
        <p:spPr>
          <a:xfrm>
            <a:off x="278892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 SIGN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</a:t>
            </a:r>
            <a:endParaRPr lang="en-US" sz="1500" dirty="0"/>
          </a:p>
        </p:txBody>
      </p:sp>
      <p:sp>
        <p:nvSpPr>
          <p:cNvPr id="8" name="!!cnode1"/>
          <p:cNvSpPr/>
          <p:nvPr/>
        </p:nvSpPr>
        <p:spPr>
          <a:xfrm>
            <a:off x="5076795" y="32872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9" name="!!clab1"/>
          <p:cNvSpPr txBox="1"/>
          <p:nvPr/>
        </p:nvSpPr>
        <p:spPr>
          <a:xfrm>
            <a:off x="5652867" y="31318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 VERIFY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!!cnode2"/>
          <p:cNvSpPr/>
          <p:nvPr/>
        </p:nvSpPr>
        <p:spPr>
          <a:xfrm>
            <a:off x="5076795" y="48874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1" name="!!clab2"/>
          <p:cNvSpPr txBox="1"/>
          <p:nvPr/>
        </p:nvSpPr>
        <p:spPr>
          <a:xfrm>
            <a:off x="5652867" y="47320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 EXECUTE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contract</a:t>
            </a:r>
            <a:endParaRPr lang="en-US" sz="1500" dirty="0"/>
          </a:p>
        </p:txBody>
      </p:sp>
      <p:sp>
        <p:nvSpPr>
          <p:cNvPr id="12" name="!!cnode3"/>
          <p:cNvSpPr/>
          <p:nvPr/>
        </p:nvSpPr>
        <p:spPr>
          <a:xfrm>
            <a:off x="3493008" y="5687568"/>
            <a:ext cx="237744" cy="237744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3" name="!!clab3"/>
          <p:cNvSpPr txBox="1"/>
          <p:nvPr/>
        </p:nvSpPr>
        <p:spPr>
          <a:xfrm>
            <a:off x="2788920" y="6263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 LEAF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batch</a:t>
            </a:r>
            <a:endParaRPr lang="en-US" sz="1500" dirty="0"/>
          </a:p>
        </p:txBody>
      </p:sp>
      <p:sp>
        <p:nvSpPr>
          <p:cNvPr id="14" name="!!cnode4"/>
          <p:cNvSpPr/>
          <p:nvPr/>
        </p:nvSpPr>
        <p:spPr>
          <a:xfrm>
            <a:off x="1909221" y="4887468"/>
            <a:ext cx="237744" cy="237744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5" name="!!clab4"/>
          <p:cNvSpPr txBox="1"/>
          <p:nvPr/>
        </p:nvSpPr>
        <p:spPr>
          <a:xfrm>
            <a:off x="245013" y="47320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 ANCHOR</a:t>
            </a:r>
            <a:endParaRPr lang="en-US" sz="15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on-chain</a:t>
            </a:r>
            <a:endParaRPr lang="en-US" sz="1500" dirty="0"/>
          </a:p>
        </p:txBody>
      </p:sp>
      <p:sp>
        <p:nvSpPr>
          <p:cNvPr id="16" name="!!cnode5"/>
          <p:cNvSpPr/>
          <p:nvPr/>
        </p:nvSpPr>
        <p:spPr>
          <a:xfrm>
            <a:off x="1909221" y="3287268"/>
            <a:ext cx="237744" cy="237744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7" name="!!clab5"/>
          <p:cNvSpPr txBox="1"/>
          <p:nvPr/>
        </p:nvSpPr>
        <p:spPr>
          <a:xfrm>
            <a:off x="245013" y="31318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 PROVE</a:t>
            </a:r>
            <a:endParaRPr lang="en-US" sz="15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</a:t>
            </a:r>
            <a:endParaRPr lang="en-US" sz="1500" dirty="0"/>
          </a:p>
        </p:txBody>
      </p:sp>
      <p:pic>
        <p:nvPicPr>
          <p:cNvPr id="18" name="!!lock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1619" y="4622292"/>
            <a:ext cx="768096" cy="768096"/>
          </a:xfrm>
          <a:prstGeom prst="rect">
            <a:avLst/>
          </a:prstGeom>
        </p:spPr>
      </p:pic>
      <p:sp>
        <p:nvSpPr>
          <p:cNvPr id="19" name="!!cstep"/>
          <p:cNvSpPr txBox="1"/>
          <p:nvPr/>
        </p:nvSpPr>
        <p:spPr>
          <a:xfrm>
            <a:off x="740664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3 OF 6</a:t>
            </a:r>
            <a:endParaRPr lang="en-US" sz="1400" dirty="0"/>
          </a:p>
        </p:txBody>
      </p:sp>
      <p:sp>
        <p:nvSpPr>
          <p:cNvPr id="20" name="!!cname"/>
          <p:cNvSpPr txBox="1"/>
          <p:nvPr/>
        </p:nvSpPr>
        <p:spPr>
          <a:xfrm>
            <a:off x="7406640" y="2560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Execute</a:t>
            </a:r>
            <a:endParaRPr lang="en-US" sz="4000" dirty="0"/>
          </a:p>
        </p:txBody>
      </p:sp>
      <p:sp>
        <p:nvSpPr>
          <p:cNvPr id="21" name="!!cdesc"/>
          <p:cNvSpPr txBox="1"/>
          <p:nvPr/>
        </p:nvSpPr>
        <p:spPr>
          <a:xfrm>
            <a:off x="7406640" y="352044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contract call is submitted, and the chain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re-checks its own rules independently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Verification Cycle</a:t>
            </a:r>
            <a:endParaRPr lang="en-US" sz="3400" dirty="0"/>
          </a:p>
        </p:txBody>
      </p:sp>
      <p:sp>
        <p:nvSpPr>
          <p:cNvPr id="5" name="!!cring"/>
          <p:cNvSpPr/>
          <p:nvPr/>
        </p:nvSpPr>
        <p:spPr>
          <a:xfrm>
            <a:off x="1783080" y="2606040"/>
            <a:ext cx="3657600" cy="3200400"/>
          </a:xfrm>
          <a:prstGeom prst="ellipse">
            <a:avLst/>
          </a:prstGeom>
          <a:ln w="25400">
            <a:solidFill>
              <a:srgbClr val="2C2C2C"/>
            </a:solidFill>
            <a:prstDash val="solid"/>
          </a:ln>
        </p:spPr>
      </p:sp>
      <p:sp>
        <p:nvSpPr>
          <p:cNvPr id="6" name="!!cnode0"/>
          <p:cNvSpPr/>
          <p:nvPr/>
        </p:nvSpPr>
        <p:spPr>
          <a:xfrm>
            <a:off x="3493008" y="24871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7" name="!!clab0"/>
          <p:cNvSpPr txBox="1"/>
          <p:nvPr/>
        </p:nvSpPr>
        <p:spPr>
          <a:xfrm>
            <a:off x="278892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 SIGN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</a:t>
            </a:r>
            <a:endParaRPr lang="en-US" sz="1500" dirty="0"/>
          </a:p>
        </p:txBody>
      </p:sp>
      <p:sp>
        <p:nvSpPr>
          <p:cNvPr id="8" name="!!cnode1"/>
          <p:cNvSpPr/>
          <p:nvPr/>
        </p:nvSpPr>
        <p:spPr>
          <a:xfrm>
            <a:off x="5076795" y="32872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9" name="!!clab1"/>
          <p:cNvSpPr txBox="1"/>
          <p:nvPr/>
        </p:nvSpPr>
        <p:spPr>
          <a:xfrm>
            <a:off x="5652867" y="31318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 VERIFY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!!cnode2"/>
          <p:cNvSpPr/>
          <p:nvPr/>
        </p:nvSpPr>
        <p:spPr>
          <a:xfrm>
            <a:off x="5076795" y="48874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1" name="!!clab2"/>
          <p:cNvSpPr txBox="1"/>
          <p:nvPr/>
        </p:nvSpPr>
        <p:spPr>
          <a:xfrm>
            <a:off x="5652867" y="47320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 EXECUTE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contract</a:t>
            </a:r>
            <a:endParaRPr lang="en-US" sz="1500" dirty="0"/>
          </a:p>
        </p:txBody>
      </p:sp>
      <p:sp>
        <p:nvSpPr>
          <p:cNvPr id="12" name="!!cnode3"/>
          <p:cNvSpPr/>
          <p:nvPr/>
        </p:nvSpPr>
        <p:spPr>
          <a:xfrm>
            <a:off x="3493008" y="56875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3" name="!!clab3"/>
          <p:cNvSpPr txBox="1"/>
          <p:nvPr/>
        </p:nvSpPr>
        <p:spPr>
          <a:xfrm>
            <a:off x="2788920" y="6263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 LEAF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batch</a:t>
            </a:r>
            <a:endParaRPr lang="en-US" sz="1500" dirty="0"/>
          </a:p>
        </p:txBody>
      </p:sp>
      <p:sp>
        <p:nvSpPr>
          <p:cNvPr id="14" name="!!cnode4"/>
          <p:cNvSpPr/>
          <p:nvPr/>
        </p:nvSpPr>
        <p:spPr>
          <a:xfrm>
            <a:off x="1909221" y="4887468"/>
            <a:ext cx="237744" cy="237744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5" name="!!clab4"/>
          <p:cNvSpPr txBox="1"/>
          <p:nvPr/>
        </p:nvSpPr>
        <p:spPr>
          <a:xfrm>
            <a:off x="245013" y="47320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 ANCHOR</a:t>
            </a:r>
            <a:endParaRPr lang="en-US" sz="15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on-chain</a:t>
            </a:r>
            <a:endParaRPr lang="en-US" sz="1500" dirty="0"/>
          </a:p>
        </p:txBody>
      </p:sp>
      <p:sp>
        <p:nvSpPr>
          <p:cNvPr id="16" name="!!cnode5"/>
          <p:cNvSpPr/>
          <p:nvPr/>
        </p:nvSpPr>
        <p:spPr>
          <a:xfrm>
            <a:off x="1909221" y="3287268"/>
            <a:ext cx="237744" cy="237744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7" name="!!clab5"/>
          <p:cNvSpPr txBox="1"/>
          <p:nvPr/>
        </p:nvSpPr>
        <p:spPr>
          <a:xfrm>
            <a:off x="245013" y="31318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 PROVE</a:t>
            </a:r>
            <a:endParaRPr lang="en-US" sz="15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</a:t>
            </a:r>
            <a:endParaRPr lang="en-US" sz="1500" dirty="0"/>
          </a:p>
        </p:txBody>
      </p:sp>
      <p:pic>
        <p:nvPicPr>
          <p:cNvPr id="18" name="!!lock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7832" y="5422392"/>
            <a:ext cx="768096" cy="768096"/>
          </a:xfrm>
          <a:prstGeom prst="rect">
            <a:avLst/>
          </a:prstGeom>
        </p:spPr>
      </p:pic>
      <p:sp>
        <p:nvSpPr>
          <p:cNvPr id="19" name="!!cstep"/>
          <p:cNvSpPr txBox="1"/>
          <p:nvPr/>
        </p:nvSpPr>
        <p:spPr>
          <a:xfrm>
            <a:off x="740664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4 OF 6</a:t>
            </a:r>
            <a:endParaRPr lang="en-US" sz="1400" dirty="0"/>
          </a:p>
        </p:txBody>
      </p:sp>
      <p:sp>
        <p:nvSpPr>
          <p:cNvPr id="20" name="!!cname"/>
          <p:cNvSpPr txBox="1"/>
          <p:nvPr/>
        </p:nvSpPr>
        <p:spPr>
          <a:xfrm>
            <a:off x="7406640" y="2560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</a:t>
            </a:r>
            <a:endParaRPr lang="en-US" sz="4000" dirty="0"/>
          </a:p>
        </p:txBody>
      </p:sp>
      <p:sp>
        <p:nvSpPr>
          <p:cNvPr id="21" name="!!cdesc"/>
          <p:cNvSpPr txBox="1"/>
          <p:nvPr/>
        </p:nvSpPr>
        <p:spPr>
          <a:xfrm>
            <a:off x="7406640" y="352044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envelope’s hash,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Keccak-256(envelope)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is added to the current 60-second batch.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Verification Cycle</a:t>
            </a:r>
            <a:endParaRPr lang="en-US" sz="3400" dirty="0"/>
          </a:p>
        </p:txBody>
      </p:sp>
      <p:sp>
        <p:nvSpPr>
          <p:cNvPr id="5" name="!!cring"/>
          <p:cNvSpPr/>
          <p:nvPr/>
        </p:nvSpPr>
        <p:spPr>
          <a:xfrm>
            <a:off x="1783080" y="2606040"/>
            <a:ext cx="3657600" cy="3200400"/>
          </a:xfrm>
          <a:prstGeom prst="ellipse">
            <a:avLst/>
          </a:prstGeom>
          <a:ln w="25400">
            <a:solidFill>
              <a:srgbClr val="2C2C2C"/>
            </a:solidFill>
            <a:prstDash val="solid"/>
          </a:ln>
        </p:spPr>
      </p:sp>
      <p:sp>
        <p:nvSpPr>
          <p:cNvPr id="6" name="!!cnode0"/>
          <p:cNvSpPr/>
          <p:nvPr/>
        </p:nvSpPr>
        <p:spPr>
          <a:xfrm>
            <a:off x="3493008" y="24871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7" name="!!clab0"/>
          <p:cNvSpPr txBox="1"/>
          <p:nvPr/>
        </p:nvSpPr>
        <p:spPr>
          <a:xfrm>
            <a:off x="278892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 SIGN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</a:t>
            </a:r>
            <a:endParaRPr lang="en-US" sz="1500" dirty="0"/>
          </a:p>
        </p:txBody>
      </p:sp>
      <p:sp>
        <p:nvSpPr>
          <p:cNvPr id="8" name="!!cnode1"/>
          <p:cNvSpPr/>
          <p:nvPr/>
        </p:nvSpPr>
        <p:spPr>
          <a:xfrm>
            <a:off x="5076795" y="32872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9" name="!!clab1"/>
          <p:cNvSpPr txBox="1"/>
          <p:nvPr/>
        </p:nvSpPr>
        <p:spPr>
          <a:xfrm>
            <a:off x="5652867" y="31318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 VERIFY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!!cnode2"/>
          <p:cNvSpPr/>
          <p:nvPr/>
        </p:nvSpPr>
        <p:spPr>
          <a:xfrm>
            <a:off x="5076795" y="48874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1" name="!!clab2"/>
          <p:cNvSpPr txBox="1"/>
          <p:nvPr/>
        </p:nvSpPr>
        <p:spPr>
          <a:xfrm>
            <a:off x="5652867" y="47320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 EXECUTE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contract</a:t>
            </a:r>
            <a:endParaRPr lang="en-US" sz="1500" dirty="0"/>
          </a:p>
        </p:txBody>
      </p:sp>
      <p:sp>
        <p:nvSpPr>
          <p:cNvPr id="12" name="!!cnode3"/>
          <p:cNvSpPr/>
          <p:nvPr/>
        </p:nvSpPr>
        <p:spPr>
          <a:xfrm>
            <a:off x="3493008" y="56875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3" name="!!clab3"/>
          <p:cNvSpPr txBox="1"/>
          <p:nvPr/>
        </p:nvSpPr>
        <p:spPr>
          <a:xfrm>
            <a:off x="2788920" y="6263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 LEAF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batch</a:t>
            </a:r>
            <a:endParaRPr lang="en-US" sz="1500" dirty="0"/>
          </a:p>
        </p:txBody>
      </p:sp>
      <p:sp>
        <p:nvSpPr>
          <p:cNvPr id="14" name="!!cnode4"/>
          <p:cNvSpPr/>
          <p:nvPr/>
        </p:nvSpPr>
        <p:spPr>
          <a:xfrm>
            <a:off x="1909221" y="48874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5" name="!!clab4"/>
          <p:cNvSpPr txBox="1"/>
          <p:nvPr/>
        </p:nvSpPr>
        <p:spPr>
          <a:xfrm>
            <a:off x="245013" y="47320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 ANCHOR</a:t>
            </a:r>
            <a:endParaRPr lang="en-US" sz="15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on-chain</a:t>
            </a:r>
            <a:endParaRPr lang="en-US" sz="1500" dirty="0"/>
          </a:p>
        </p:txBody>
      </p:sp>
      <p:sp>
        <p:nvSpPr>
          <p:cNvPr id="16" name="!!cnode5"/>
          <p:cNvSpPr/>
          <p:nvPr/>
        </p:nvSpPr>
        <p:spPr>
          <a:xfrm>
            <a:off x="1909221" y="3287268"/>
            <a:ext cx="237744" cy="237744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17" name="!!clab5"/>
          <p:cNvSpPr txBox="1"/>
          <p:nvPr/>
        </p:nvSpPr>
        <p:spPr>
          <a:xfrm>
            <a:off x="245013" y="31318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 PROVE</a:t>
            </a:r>
            <a:endParaRPr lang="en-US" sz="15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</a:t>
            </a:r>
            <a:endParaRPr lang="en-US" sz="1500" dirty="0"/>
          </a:p>
        </p:txBody>
      </p:sp>
      <p:pic>
        <p:nvPicPr>
          <p:cNvPr id="18" name="!!lock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045" y="4622292"/>
            <a:ext cx="768096" cy="768096"/>
          </a:xfrm>
          <a:prstGeom prst="rect">
            <a:avLst/>
          </a:prstGeom>
        </p:spPr>
      </p:pic>
      <p:sp>
        <p:nvSpPr>
          <p:cNvPr id="19" name="!!cstep"/>
          <p:cNvSpPr txBox="1"/>
          <p:nvPr/>
        </p:nvSpPr>
        <p:spPr>
          <a:xfrm>
            <a:off x="740664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5 OF 6</a:t>
            </a:r>
            <a:endParaRPr lang="en-US" sz="1400" dirty="0"/>
          </a:p>
        </p:txBody>
      </p:sp>
      <p:sp>
        <p:nvSpPr>
          <p:cNvPr id="20" name="!!cname"/>
          <p:cNvSpPr txBox="1"/>
          <p:nvPr/>
        </p:nvSpPr>
        <p:spPr>
          <a:xfrm>
            <a:off x="7406640" y="2560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Anchor</a:t>
            </a:r>
            <a:endParaRPr lang="en-US" sz="4000" dirty="0"/>
          </a:p>
        </p:txBody>
      </p:sp>
      <p:sp>
        <p:nvSpPr>
          <p:cNvPr id="21" name="!!cdesc"/>
          <p:cNvSpPr txBox="1"/>
          <p:nvPr/>
        </p:nvSpPr>
        <p:spPr>
          <a:xfrm>
            <a:off x="7406640" y="352044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60 seconds, all leaves are built into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Merkle tree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{root, count, epoch}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written on-chain.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Verification Cycle</a:t>
            </a:r>
            <a:endParaRPr lang="en-US" sz="3400" dirty="0"/>
          </a:p>
        </p:txBody>
      </p:sp>
      <p:sp>
        <p:nvSpPr>
          <p:cNvPr id="5" name="!!cring"/>
          <p:cNvSpPr/>
          <p:nvPr/>
        </p:nvSpPr>
        <p:spPr>
          <a:xfrm>
            <a:off x="1783080" y="2606040"/>
            <a:ext cx="3657600" cy="3200400"/>
          </a:xfrm>
          <a:prstGeom prst="ellipse">
            <a:avLst/>
          </a:prstGeom>
          <a:ln w="25400">
            <a:solidFill>
              <a:srgbClr val="2C2C2C"/>
            </a:solidFill>
            <a:prstDash val="solid"/>
          </a:ln>
        </p:spPr>
      </p:sp>
      <p:sp>
        <p:nvSpPr>
          <p:cNvPr id="6" name="!!cnode0"/>
          <p:cNvSpPr/>
          <p:nvPr/>
        </p:nvSpPr>
        <p:spPr>
          <a:xfrm>
            <a:off x="3493008" y="24871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7" name="!!clab0"/>
          <p:cNvSpPr txBox="1"/>
          <p:nvPr/>
        </p:nvSpPr>
        <p:spPr>
          <a:xfrm>
            <a:off x="278892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 SIGN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</a:t>
            </a:r>
            <a:endParaRPr lang="en-US" sz="1500" dirty="0"/>
          </a:p>
        </p:txBody>
      </p:sp>
      <p:sp>
        <p:nvSpPr>
          <p:cNvPr id="8" name="!!cnode1"/>
          <p:cNvSpPr/>
          <p:nvPr/>
        </p:nvSpPr>
        <p:spPr>
          <a:xfrm>
            <a:off x="5076795" y="32872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9" name="!!clab1"/>
          <p:cNvSpPr txBox="1"/>
          <p:nvPr/>
        </p:nvSpPr>
        <p:spPr>
          <a:xfrm>
            <a:off x="5652867" y="31318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 VERIFY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!!cnode2"/>
          <p:cNvSpPr/>
          <p:nvPr/>
        </p:nvSpPr>
        <p:spPr>
          <a:xfrm>
            <a:off x="5076795" y="48874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1" name="!!clab2"/>
          <p:cNvSpPr txBox="1"/>
          <p:nvPr/>
        </p:nvSpPr>
        <p:spPr>
          <a:xfrm>
            <a:off x="5652867" y="47320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 EXECUTE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contract</a:t>
            </a:r>
            <a:endParaRPr lang="en-US" sz="1500" dirty="0"/>
          </a:p>
        </p:txBody>
      </p:sp>
      <p:sp>
        <p:nvSpPr>
          <p:cNvPr id="12" name="!!cnode3"/>
          <p:cNvSpPr/>
          <p:nvPr/>
        </p:nvSpPr>
        <p:spPr>
          <a:xfrm>
            <a:off x="3493008" y="56875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3" name="!!clab3"/>
          <p:cNvSpPr txBox="1"/>
          <p:nvPr/>
        </p:nvSpPr>
        <p:spPr>
          <a:xfrm>
            <a:off x="2788920" y="6263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 LEAF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batch</a:t>
            </a:r>
            <a:endParaRPr lang="en-US" sz="1500" dirty="0"/>
          </a:p>
        </p:txBody>
      </p:sp>
      <p:sp>
        <p:nvSpPr>
          <p:cNvPr id="14" name="!!cnode4"/>
          <p:cNvSpPr/>
          <p:nvPr/>
        </p:nvSpPr>
        <p:spPr>
          <a:xfrm>
            <a:off x="1909221" y="48874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5" name="!!clab4"/>
          <p:cNvSpPr txBox="1"/>
          <p:nvPr/>
        </p:nvSpPr>
        <p:spPr>
          <a:xfrm>
            <a:off x="245013" y="47320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 ANCHOR</a:t>
            </a:r>
            <a:endParaRPr lang="en-US" sz="15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on-chain</a:t>
            </a:r>
            <a:endParaRPr lang="en-US" sz="1500" dirty="0"/>
          </a:p>
        </p:txBody>
      </p:sp>
      <p:sp>
        <p:nvSpPr>
          <p:cNvPr id="16" name="!!cnode5"/>
          <p:cNvSpPr/>
          <p:nvPr/>
        </p:nvSpPr>
        <p:spPr>
          <a:xfrm>
            <a:off x="1909221" y="32872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7" name="!!clab5"/>
          <p:cNvSpPr txBox="1"/>
          <p:nvPr/>
        </p:nvSpPr>
        <p:spPr>
          <a:xfrm>
            <a:off x="245013" y="31318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 PROVE</a:t>
            </a:r>
            <a:endParaRPr lang="en-US" sz="15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</a:t>
            </a:r>
            <a:endParaRPr lang="en-US" sz="1500" dirty="0"/>
          </a:p>
        </p:txBody>
      </p:sp>
      <p:pic>
        <p:nvPicPr>
          <p:cNvPr id="18" name="!!lock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045" y="3022092"/>
            <a:ext cx="768096" cy="768096"/>
          </a:xfrm>
          <a:prstGeom prst="rect">
            <a:avLst/>
          </a:prstGeom>
        </p:spPr>
      </p:pic>
      <p:sp>
        <p:nvSpPr>
          <p:cNvPr id="19" name="!!cstep"/>
          <p:cNvSpPr txBox="1"/>
          <p:nvPr/>
        </p:nvSpPr>
        <p:spPr>
          <a:xfrm>
            <a:off x="740664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6 OF 6</a:t>
            </a:r>
            <a:endParaRPr lang="en-US" sz="1400" dirty="0"/>
          </a:p>
        </p:txBody>
      </p:sp>
      <p:sp>
        <p:nvSpPr>
          <p:cNvPr id="20" name="!!cname"/>
          <p:cNvSpPr txBox="1"/>
          <p:nvPr/>
        </p:nvSpPr>
        <p:spPr>
          <a:xfrm>
            <a:off x="7406640" y="2560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Prove</a:t>
            </a:r>
            <a:endParaRPr lang="en-US" sz="4000" dirty="0"/>
          </a:p>
        </p:txBody>
      </p:sp>
      <p:sp>
        <p:nvSpPr>
          <p:cNvPr id="21" name="!!cdesc"/>
          <p:cNvSpPr txBox="1"/>
          <p:nvPr/>
        </p:nvSpPr>
        <p:spPr>
          <a:xfrm>
            <a:off x="7406640" y="352044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user downloads {leaf, sibling hashes, epoch} and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recomputes the root offline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If it matches, the action is permanently recorded.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Verification Cycle</a:t>
            </a:r>
            <a:endParaRPr lang="en-US" sz="3400" dirty="0"/>
          </a:p>
        </p:txBody>
      </p:sp>
      <p:sp>
        <p:nvSpPr>
          <p:cNvPr id="5" name="!!cring"/>
          <p:cNvSpPr/>
          <p:nvPr/>
        </p:nvSpPr>
        <p:spPr>
          <a:xfrm>
            <a:off x="1783080" y="2606040"/>
            <a:ext cx="3657600" cy="3200400"/>
          </a:xfrm>
          <a:prstGeom prst="ellipse">
            <a:avLst/>
          </a:prstGeom>
          <a:ln w="25400">
            <a:solidFill>
              <a:srgbClr val="2C2C2C"/>
            </a:solidFill>
            <a:prstDash val="solid"/>
          </a:ln>
        </p:spPr>
      </p:sp>
      <p:sp>
        <p:nvSpPr>
          <p:cNvPr id="6" name="!!cnode0"/>
          <p:cNvSpPr/>
          <p:nvPr/>
        </p:nvSpPr>
        <p:spPr>
          <a:xfrm>
            <a:off x="3493008" y="24871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7" name="!!clab0"/>
          <p:cNvSpPr txBox="1"/>
          <p:nvPr/>
        </p:nvSpPr>
        <p:spPr>
          <a:xfrm>
            <a:off x="278892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 SIGN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</a:t>
            </a:r>
            <a:endParaRPr lang="en-US" sz="1500" dirty="0"/>
          </a:p>
        </p:txBody>
      </p:sp>
      <p:sp>
        <p:nvSpPr>
          <p:cNvPr id="8" name="!!cnode1"/>
          <p:cNvSpPr/>
          <p:nvPr/>
        </p:nvSpPr>
        <p:spPr>
          <a:xfrm>
            <a:off x="5076795" y="32872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9" name="!!clab1"/>
          <p:cNvSpPr txBox="1"/>
          <p:nvPr/>
        </p:nvSpPr>
        <p:spPr>
          <a:xfrm>
            <a:off x="5652867" y="31318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 VERIFY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!!cnode2"/>
          <p:cNvSpPr/>
          <p:nvPr/>
        </p:nvSpPr>
        <p:spPr>
          <a:xfrm>
            <a:off x="5076795" y="48874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1" name="!!clab2"/>
          <p:cNvSpPr txBox="1"/>
          <p:nvPr/>
        </p:nvSpPr>
        <p:spPr>
          <a:xfrm>
            <a:off x="5652867" y="47320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 EXECUTE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contract</a:t>
            </a:r>
            <a:endParaRPr lang="en-US" sz="1500" dirty="0"/>
          </a:p>
        </p:txBody>
      </p:sp>
      <p:sp>
        <p:nvSpPr>
          <p:cNvPr id="12" name="!!cnode3"/>
          <p:cNvSpPr/>
          <p:nvPr/>
        </p:nvSpPr>
        <p:spPr>
          <a:xfrm>
            <a:off x="3493008" y="56875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3" name="!!clab3"/>
          <p:cNvSpPr txBox="1"/>
          <p:nvPr/>
        </p:nvSpPr>
        <p:spPr>
          <a:xfrm>
            <a:off x="2788920" y="6263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 LEAF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batch</a:t>
            </a:r>
            <a:endParaRPr lang="en-US" sz="1500" dirty="0"/>
          </a:p>
        </p:txBody>
      </p:sp>
      <p:sp>
        <p:nvSpPr>
          <p:cNvPr id="14" name="!!cnode4"/>
          <p:cNvSpPr/>
          <p:nvPr/>
        </p:nvSpPr>
        <p:spPr>
          <a:xfrm>
            <a:off x="1909221" y="48874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5" name="!!clab4"/>
          <p:cNvSpPr txBox="1"/>
          <p:nvPr/>
        </p:nvSpPr>
        <p:spPr>
          <a:xfrm>
            <a:off x="245013" y="47320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 ANCHOR</a:t>
            </a:r>
            <a:endParaRPr lang="en-US" sz="15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on-chain</a:t>
            </a:r>
            <a:endParaRPr lang="en-US" sz="1500" dirty="0"/>
          </a:p>
        </p:txBody>
      </p:sp>
      <p:sp>
        <p:nvSpPr>
          <p:cNvPr id="16" name="!!cnode5"/>
          <p:cNvSpPr/>
          <p:nvPr/>
        </p:nvSpPr>
        <p:spPr>
          <a:xfrm>
            <a:off x="1909221" y="3287268"/>
            <a:ext cx="237744" cy="237744"/>
          </a:xfrm>
          <a:prstGeom prst="ellipse">
            <a:avLst/>
          </a:prstGeom>
          <a:solidFill>
            <a:srgbClr val="E2B544"/>
          </a:solidFill>
          <a:ln/>
        </p:spPr>
      </p:sp>
      <p:sp>
        <p:nvSpPr>
          <p:cNvPr id="17" name="!!clab5"/>
          <p:cNvSpPr txBox="1"/>
          <p:nvPr/>
        </p:nvSpPr>
        <p:spPr>
          <a:xfrm>
            <a:off x="245013" y="31318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 PROVE</a:t>
            </a:r>
            <a:endParaRPr lang="en-US" sz="15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</a:t>
            </a:r>
            <a:endParaRPr lang="en-US" sz="1500" dirty="0"/>
          </a:p>
        </p:txBody>
      </p:sp>
      <p:pic>
        <p:nvPicPr>
          <p:cNvPr id="18" name="!!lock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3703320"/>
            <a:ext cx="1005840" cy="1005840"/>
          </a:xfrm>
          <a:prstGeom prst="rect">
            <a:avLst/>
          </a:prstGeom>
        </p:spPr>
      </p:pic>
      <p:sp>
        <p:nvSpPr>
          <p:cNvPr id="19" name="!!cstep"/>
          <p:cNvSpPr txBox="1"/>
          <p:nvPr/>
        </p:nvSpPr>
        <p:spPr>
          <a:xfrm>
            <a:off x="740664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DISPUTE</a:t>
            </a:r>
            <a:endParaRPr lang="en-US" sz="1400" dirty="0"/>
          </a:p>
        </p:txBody>
      </p:sp>
      <p:sp>
        <p:nvSpPr>
          <p:cNvPr id="20" name="!!cname"/>
          <p:cNvSpPr txBox="1"/>
          <p:nvPr/>
        </p:nvSpPr>
        <p:spPr>
          <a:xfrm>
            <a:off x="7406640" y="2560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only if challenged</a:t>
            </a:r>
            <a:endParaRPr lang="en-US" sz="3600" dirty="0"/>
          </a:p>
        </p:txBody>
      </p:sp>
      <p:sp>
        <p:nvSpPr>
          <p:cNvPr id="21" name="!!cdesc"/>
          <p:cNvSpPr txBox="1"/>
          <p:nvPr/>
        </p:nvSpPr>
        <p:spPr>
          <a:xfrm>
            <a:off x="7406640" y="352044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Anyone who suspects a false batch can challenge one envelope. The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Falcon verifier (~1.5M gas)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then runs on-chain for that single case,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paid by the challenger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How 43k Gas Is Possible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don’t verify signatures on-chain. </a:t>
            </a:r>
            <a:pPr indent="0" marL="0">
              <a:buNone/>
            </a:pPr>
            <a:r>
              <a:rPr lang="en-US" sz="17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store one 32-byte number per minute.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 PER BATCH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51206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Cost item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Gas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Base cost of any transaction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21,000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Writing the 32-byte root to new storage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~20,000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Batch count, epoch number and event log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remainder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Total per batch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≈ 43,000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709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for 1 action or 4,096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20574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GAS PER ACTION</a:t>
            </a:r>
            <a:endParaRPr lang="en-US" sz="11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Option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Gas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ECDSA today (ecrecover)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3,000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Falcon verified directly on-chain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~1,500,000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QORA at 15 actions per batch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≈ 2,870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QORA at 100 actions per batch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≈ 430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QORA at 4,096 actions per batch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≈ 10.5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30352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5376672"/>
            <a:ext cx="10607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Break-even  43,000 ÷ 3,000 ≈ 14.3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15 actions per minute onward, quantum-safe authentication costs less than ECDSA.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Four Leaves, One System</a:t>
            </a:r>
            <a:endParaRPr lang="en-US" sz="3400" dirty="0"/>
          </a:p>
        </p:txBody>
      </p:sp>
      <p:sp>
        <p:nvSpPr>
          <p:cNvPr id="5" name="!!hubring"/>
          <p:cNvSpPr/>
          <p:nvPr/>
        </p:nvSpPr>
        <p:spPr>
          <a:xfrm>
            <a:off x="2990088" y="2240280"/>
            <a:ext cx="6217920" cy="3383280"/>
          </a:xfrm>
          <a:prstGeom prst="ellipse">
            <a:avLst/>
          </a:prstGeom>
          <a:ln w="25400">
            <a:solidFill>
              <a:srgbClr val="2C2C2C"/>
            </a:solidFill>
            <a:prstDash val="solid"/>
          </a:ln>
        </p:spPr>
      </p:sp>
      <p:pic>
        <p:nvPicPr>
          <p:cNvPr id="6" name="!!ingot" descr="C:\Users\USER\AppData\Local\Temp\claude\C--Users-USER-OneDrive-Desktop-RWA-vault\22c0d93f-95db-488a-9ad8-cfe9b0a46593\scratchpad\deck\art5\ingo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3429000"/>
            <a:ext cx="1737360" cy="1004194"/>
          </a:xfrm>
          <a:prstGeom prst="rect">
            <a:avLst/>
          </a:prstGeom>
        </p:spPr>
      </p:pic>
      <p:pic>
        <p:nvPicPr>
          <p:cNvPr id="7" name="!!leaf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548" y="1668780"/>
            <a:ext cx="1143000" cy="1143000"/>
          </a:xfrm>
          <a:prstGeom prst="rect">
            <a:avLst/>
          </a:prstGeom>
        </p:spPr>
      </p:pic>
      <p:sp>
        <p:nvSpPr>
          <p:cNvPr id="8" name="!!leafnum0"/>
          <p:cNvSpPr txBox="1"/>
          <p:nvPr/>
        </p:nvSpPr>
        <p:spPr>
          <a:xfrm>
            <a:off x="5527548" y="16687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!!leaflab0"/>
          <p:cNvSpPr txBox="1"/>
          <p:nvPr/>
        </p:nvSpPr>
        <p:spPr>
          <a:xfrm>
            <a:off x="6830568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1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</a:t>
            </a:r>
            <a:endParaRPr lang="en-US" sz="1500" dirty="0"/>
          </a:p>
        </p:txBody>
      </p:sp>
      <p:pic>
        <p:nvPicPr>
          <p:cNvPr id="10" name="!!leaf1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08" y="3474720"/>
            <a:ext cx="914400" cy="914400"/>
          </a:xfrm>
          <a:prstGeom prst="rect">
            <a:avLst/>
          </a:prstGeom>
        </p:spPr>
      </p:pic>
      <p:sp>
        <p:nvSpPr>
          <p:cNvPr id="11" name="!!leafnum1"/>
          <p:cNvSpPr txBox="1"/>
          <p:nvPr/>
        </p:nvSpPr>
        <p:spPr>
          <a:xfrm>
            <a:off x="8750808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!!leaflab1"/>
          <p:cNvSpPr txBox="1"/>
          <p:nvPr/>
        </p:nvSpPr>
        <p:spPr>
          <a:xfrm>
            <a:off x="9939528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2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Investment Path</a:t>
            </a:r>
            <a:endParaRPr lang="en-US" sz="1500" dirty="0"/>
          </a:p>
        </p:txBody>
      </p:sp>
      <p:pic>
        <p:nvPicPr>
          <p:cNvPr id="13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14" name="!!leafnum2"/>
          <p:cNvSpPr txBox="1"/>
          <p:nvPr/>
        </p:nvSpPr>
        <p:spPr>
          <a:xfrm>
            <a:off x="5641848" y="5120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!!leaflab2"/>
          <p:cNvSpPr txBox="1"/>
          <p:nvPr/>
        </p:nvSpPr>
        <p:spPr>
          <a:xfrm>
            <a:off x="6830568" y="5257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3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Lending &amp; Risk</a:t>
            </a:r>
            <a:endParaRPr lang="en-US" sz="1500" dirty="0"/>
          </a:p>
        </p:txBody>
      </p:sp>
      <p:pic>
        <p:nvPicPr>
          <p:cNvPr id="16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888" y="3474720"/>
            <a:ext cx="914400" cy="914400"/>
          </a:xfrm>
          <a:prstGeom prst="rect">
            <a:avLst/>
          </a:prstGeom>
        </p:spPr>
      </p:pic>
      <p:sp>
        <p:nvSpPr>
          <p:cNvPr id="17" name="!!leafnum3"/>
          <p:cNvSpPr txBox="1"/>
          <p:nvPr/>
        </p:nvSpPr>
        <p:spPr>
          <a:xfrm>
            <a:off x="2532888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!!leaflab3"/>
          <p:cNvSpPr txBox="1"/>
          <p:nvPr/>
        </p:nvSpPr>
        <p:spPr>
          <a:xfrm>
            <a:off x="292608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4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Evaluation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</a:t>
            </a:r>
            <a:endParaRPr lang="en-US" sz="1000" dirty="0"/>
          </a:p>
        </p:txBody>
      </p:sp>
      <p:pic>
        <p:nvPicPr>
          <p:cNvPr id="3" name="!!leaf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0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1: Foundation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1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1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288036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0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0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M1 · PQ Core</a:t>
            </a:r>
            <a:endParaRPr lang="en-US" sz="1500" dirty="0"/>
          </a:p>
        </p:txBody>
      </p:sp>
      <p:pic>
        <p:nvPicPr>
          <p:cNvPr id="17" name="!!mod01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0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M2 · PQ-PKI &amp; Envelope</a:t>
            </a:r>
            <a:endParaRPr lang="en-US" sz="1500" dirty="0"/>
          </a:p>
        </p:txBody>
      </p:sp>
      <p:pic>
        <p:nvPicPr>
          <p:cNvPr id="19" name="!!mod0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0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M3 · Registry &amp; Compliance</a:t>
            </a:r>
            <a:endParaRPr lang="en-US" sz="1500" dirty="0"/>
          </a:p>
        </p:txBody>
      </p:sp>
      <p:pic>
        <p:nvPicPr>
          <p:cNvPr id="21" name="!!mod0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" y="4709160"/>
            <a:ext cx="548640" cy="548640"/>
          </a:xfrm>
          <a:prstGeom prst="rect">
            <a:avLst/>
          </a:prstGeom>
        </p:spPr>
      </p:pic>
      <p:sp>
        <p:nvSpPr>
          <p:cNvPr id="22" name="!!modlab03"/>
          <p:cNvSpPr txBox="1"/>
          <p:nvPr/>
        </p:nvSpPr>
        <p:spPr>
          <a:xfrm>
            <a:off x="1298448" y="4709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M4 · Vault Accounting</a:t>
            </a:r>
            <a:endParaRPr lang="en-US" sz="1500" dirty="0"/>
          </a:p>
        </p:txBody>
      </p:sp>
      <p:sp>
        <p:nvSpPr>
          <p:cNvPr id="23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4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cryptography engine every other module calls to sign, verify, encrypt and decrypt.</a:t>
            </a:r>
            <a:endParaRPr lang="en-US" sz="1700" dirty="0"/>
          </a:p>
        </p:txBody>
      </p:sp>
      <p:sp>
        <p:nvSpPr>
          <p:cNvPr id="25" name="Text 15"/>
          <p:cNvSpPr txBox="1"/>
          <p:nvPr/>
        </p:nvSpPr>
        <p:spPr>
          <a:xfrm>
            <a:off x="4480560" y="2606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PQClean (NIST reference C)</a:t>
            </a:r>
            <a:pPr indent="0" marL="0">
              <a:buNone/>
            </a:pPr>
            <a:r>
              <a:rPr lang="en-US" sz="150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→  Rust 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Node.js addon + WebAssembly</a:t>
            </a:r>
            <a:endParaRPr lang="en-US" sz="1500" dirty="0"/>
          </a:p>
        </p:txBody>
      </p:sp>
      <p:sp>
        <p:nvSpPr>
          <p:cNvPr id="26" name="Text 16"/>
          <p:cNvSpPr txBox="1"/>
          <p:nvPr/>
        </p:nvSpPr>
        <p:spPr>
          <a:xfrm>
            <a:off x="4480560" y="3154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ALGORITHM PER JOB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3474720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8463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Falcon-512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users · smallest PQ signature (~666 bytes)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ML-DSA-65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custodians and admins · integer-only, safe on servers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ML-DSA-44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price feeds · frequent and short-lived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SLH-DSA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offline root key · hash-based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ML-KEM-1024/768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encrypting documents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!!why"/>
          <p:cNvSpPr txBox="1"/>
          <p:nvPr/>
        </p:nvSpPr>
        <p:spPr>
          <a:xfrm>
            <a:off x="4480560" y="56509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holds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cryptography of our own · official NIST test vectors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</a:t>
            </a:r>
            <a:endParaRPr lang="en-US" sz="1000" dirty="0"/>
          </a:p>
        </p:txBody>
      </p:sp>
      <p:pic>
        <p:nvPicPr>
          <p:cNvPr id="3" name="!!leaf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0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1: Foundation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1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1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288036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0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0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M1 · PQ Core</a:t>
            </a:r>
            <a:endParaRPr lang="en-US" sz="1500" dirty="0"/>
          </a:p>
        </p:txBody>
      </p:sp>
      <p:pic>
        <p:nvPicPr>
          <p:cNvPr id="17" name="!!mod0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0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M2 · PQ-PKI &amp; Envelope</a:t>
            </a:r>
            <a:endParaRPr lang="en-US" sz="1500" dirty="0"/>
          </a:p>
        </p:txBody>
      </p:sp>
      <p:pic>
        <p:nvPicPr>
          <p:cNvPr id="19" name="!!mod0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0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M3 · Registry &amp; Compliance</a:t>
            </a:r>
            <a:endParaRPr lang="en-US" sz="1500" dirty="0"/>
          </a:p>
        </p:txBody>
      </p:sp>
      <p:pic>
        <p:nvPicPr>
          <p:cNvPr id="21" name="!!mod0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" y="4709160"/>
            <a:ext cx="548640" cy="548640"/>
          </a:xfrm>
          <a:prstGeom prst="rect">
            <a:avLst/>
          </a:prstGeom>
        </p:spPr>
      </p:pic>
      <p:sp>
        <p:nvSpPr>
          <p:cNvPr id="22" name="!!modlab03"/>
          <p:cNvSpPr txBox="1"/>
          <p:nvPr/>
        </p:nvSpPr>
        <p:spPr>
          <a:xfrm>
            <a:off x="1298448" y="4709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M4 · Vault Accounting</a:t>
            </a:r>
            <a:endParaRPr lang="en-US" sz="1500" dirty="0"/>
          </a:p>
        </p:txBody>
      </p:sp>
      <p:sp>
        <p:nvSpPr>
          <p:cNvPr id="23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4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key system plus the envelope that seals every action.</a:t>
            </a:r>
            <a:endParaRPr lang="en-US" sz="1700" dirty="0"/>
          </a:p>
        </p:txBody>
      </p:sp>
      <p:sp>
        <p:nvSpPr>
          <p:cNvPr id="25" name="Text 15"/>
          <p:cNvSpPr txBox="1"/>
          <p:nvPr/>
        </p:nvSpPr>
        <p:spPr>
          <a:xfrm>
            <a:off x="4480560" y="2606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THREE-TIER KEY HIERARCHY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2880360"/>
          <a:ext cx="6858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669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Tier 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SLH-DSA root · offline, air-gapped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Tier 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ML-DSA-65 service keys · rotated on a schedule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Tier 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Falcon device keys · one per user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16"/>
          <p:cNvSpPr txBox="1"/>
          <p:nvPr/>
        </p:nvSpPr>
        <p:spPr>
          <a:xfrm>
            <a:off x="4480560" y="3840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ENVELOPE FIELD BLOCKS ONE ATTACK</a:t>
            </a:r>
            <a:endParaRPr lang="en-US" sz="11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411480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75488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chainId · contract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cross-chain and cross-contract replay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signature reused for a different action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nonce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same request resent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validFrom / validTo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delayed execution (90 s users, 1 h attestations)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payloadHash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data swapped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!!why"/>
          <p:cNvSpPr txBox="1"/>
          <p:nvPr/>
        </p:nvSpPr>
        <p:spPr>
          <a:xfrm>
            <a:off x="4480560" y="56509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holds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Revocation never deletes a key: old signatures stay verifiable for 30 years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29</a:t>
            </a:r>
            <a:endParaRPr lang="en-US" sz="1000" dirty="0"/>
          </a:p>
        </p:txBody>
      </p:sp>
      <p:pic>
        <p:nvPicPr>
          <p:cNvPr id="3" name="!!leaf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0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1: Foundation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1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1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288036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0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0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M1 · PQ Core</a:t>
            </a:r>
            <a:endParaRPr lang="en-US" sz="1500" dirty="0"/>
          </a:p>
        </p:txBody>
      </p:sp>
      <p:pic>
        <p:nvPicPr>
          <p:cNvPr id="17" name="!!mod0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0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M2 · PQ-PKI &amp; Envelope</a:t>
            </a:r>
            <a:endParaRPr lang="en-US" sz="1500" dirty="0"/>
          </a:p>
        </p:txBody>
      </p:sp>
      <p:pic>
        <p:nvPicPr>
          <p:cNvPr id="19" name="!!mod02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0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M3 · Registry &amp; Compliance</a:t>
            </a:r>
            <a:endParaRPr lang="en-US" sz="1500" dirty="0"/>
          </a:p>
        </p:txBody>
      </p:sp>
      <p:pic>
        <p:nvPicPr>
          <p:cNvPr id="21" name="!!mod0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" y="4709160"/>
            <a:ext cx="548640" cy="548640"/>
          </a:xfrm>
          <a:prstGeom prst="rect">
            <a:avLst/>
          </a:prstGeom>
        </p:spPr>
      </p:pic>
      <p:sp>
        <p:nvSpPr>
          <p:cNvPr id="22" name="!!modlab03"/>
          <p:cNvSpPr txBox="1"/>
          <p:nvPr/>
        </p:nvSpPr>
        <p:spPr>
          <a:xfrm>
            <a:off x="1298448" y="4709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M4 · Vault Accounting</a:t>
            </a:r>
            <a:endParaRPr lang="en-US" sz="1500" dirty="0"/>
          </a:p>
        </p:txBody>
      </p:sp>
      <p:sp>
        <p:nvSpPr>
          <p:cNvPr id="23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4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Decides which assets can exist on-chain and who is allowed to own them.</a:t>
            </a:r>
            <a:endParaRPr lang="en-US" sz="1700" dirty="0"/>
          </a:p>
        </p:txBody>
      </p:sp>
      <p:sp>
        <p:nvSpPr>
          <p:cNvPr id="25" name="!!chipm30"/>
          <p:cNvSpPr/>
          <p:nvPr/>
        </p:nvSpPr>
        <p:spPr>
          <a:xfrm>
            <a:off x="4480560" y="2606040"/>
            <a:ext cx="1283818" cy="685800"/>
          </a:xfrm>
          <a:prstGeom prst="roundRect">
            <a:avLst>
              <a:gd name="adj" fmla="val 10667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6" name="!!chiptm30"/>
          <p:cNvSpPr txBox="1"/>
          <p:nvPr/>
        </p:nvSpPr>
        <p:spPr>
          <a:xfrm>
            <a:off x="4553712" y="2660904"/>
            <a:ext cx="113751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UNREGISTERED</a:t>
            </a:r>
            <a:endParaRPr lang="en-US" sz="1200" dirty="0"/>
          </a:p>
        </p:txBody>
      </p:sp>
      <p:sp>
        <p:nvSpPr>
          <p:cNvPr id="27" name="!!chipm31"/>
          <p:cNvSpPr/>
          <p:nvPr/>
        </p:nvSpPr>
        <p:spPr>
          <a:xfrm>
            <a:off x="5874106" y="2606040"/>
            <a:ext cx="1283818" cy="685800"/>
          </a:xfrm>
          <a:prstGeom prst="roundRect">
            <a:avLst>
              <a:gd name="adj" fmla="val 10667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8" name="!!chiptm31"/>
          <p:cNvSpPr txBox="1"/>
          <p:nvPr/>
        </p:nvSpPr>
        <p:spPr>
          <a:xfrm>
            <a:off x="5947258" y="2660904"/>
            <a:ext cx="113751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ATTESTATION RECEIVED</a:t>
            </a:r>
            <a:endParaRPr lang="en-US" sz="1200" dirty="0"/>
          </a:p>
        </p:txBody>
      </p:sp>
      <p:sp>
        <p:nvSpPr>
          <p:cNvPr id="29" name="!!chipm32"/>
          <p:cNvSpPr/>
          <p:nvPr/>
        </p:nvSpPr>
        <p:spPr>
          <a:xfrm>
            <a:off x="7267651" y="2606040"/>
            <a:ext cx="1283818" cy="685800"/>
          </a:xfrm>
          <a:prstGeom prst="roundRect">
            <a:avLst>
              <a:gd name="adj" fmla="val 10667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0" name="!!chiptm32"/>
          <p:cNvSpPr txBox="1"/>
          <p:nvPr/>
        </p:nvSpPr>
        <p:spPr>
          <a:xfrm>
            <a:off x="7340803" y="2660904"/>
            <a:ext cx="113751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checks</a:t>
            </a:r>
            <a:endParaRPr lang="en-US" sz="1200" dirty="0"/>
          </a:p>
        </p:txBody>
      </p:sp>
      <p:sp>
        <p:nvSpPr>
          <p:cNvPr id="31" name="!!chipm33"/>
          <p:cNvSpPr/>
          <p:nvPr/>
        </p:nvSpPr>
        <p:spPr>
          <a:xfrm>
            <a:off x="8661197" y="2606040"/>
            <a:ext cx="1283818" cy="685800"/>
          </a:xfrm>
          <a:prstGeom prst="roundRect">
            <a:avLst>
              <a:gd name="adj" fmla="val 10667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2" name="!!chiptm33"/>
          <p:cNvSpPr txBox="1"/>
          <p:nvPr/>
        </p:nvSpPr>
        <p:spPr>
          <a:xfrm>
            <a:off x="8734349" y="2660904"/>
            <a:ext cx="113751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</a:t>
            </a:r>
            <a:endParaRPr lang="en-US" sz="1200" dirty="0"/>
          </a:p>
        </p:txBody>
      </p:sp>
      <p:sp>
        <p:nvSpPr>
          <p:cNvPr id="33" name="!!chipm34"/>
          <p:cNvSpPr/>
          <p:nvPr/>
        </p:nvSpPr>
        <p:spPr>
          <a:xfrm>
            <a:off x="10054742" y="2606040"/>
            <a:ext cx="1283818" cy="685800"/>
          </a:xfrm>
          <a:prstGeom prst="roundRect">
            <a:avLst>
              <a:gd name="adj" fmla="val 10667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!!chiptm34"/>
          <p:cNvSpPr txBox="1"/>
          <p:nvPr/>
        </p:nvSpPr>
        <p:spPr>
          <a:xfrm>
            <a:off x="10127894" y="2660904"/>
            <a:ext cx="113751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FROZEN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4480560" y="34747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FOUR CHECKS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4480560" y="3776472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Custodian’s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ML-DSA-65 signature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valid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Sequence number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higher than the last 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Reserve ≥ tokens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be issued · price is fresh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ERC-3643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a non-KYC wallet is rejected · KYC documents encrypted with ML-KEM-1024</a:t>
            </a:r>
            <a:endParaRPr lang="en-US" sz="1400" dirty="0"/>
          </a:p>
        </p:txBody>
      </p:sp>
      <p:sp>
        <p:nvSpPr>
          <p:cNvPr id="37" name="!!why"/>
          <p:cNvSpPr txBox="1"/>
          <p:nvPr/>
        </p:nvSpPr>
        <p:spPr>
          <a:xfrm>
            <a:off x="4480560" y="56509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holds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a custodian lies, the asset is frozen; withdrawals stay open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</a:t>
            </a:r>
            <a:endParaRPr lang="en-US" sz="1000" dirty="0"/>
          </a:p>
        </p:txBody>
      </p:sp>
      <p:pic>
        <p:nvPicPr>
          <p:cNvPr id="3" name="!!leaf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0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1: Foundation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1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1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288036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0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0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M1 · PQ Core</a:t>
            </a:r>
            <a:endParaRPr lang="en-US" sz="1500" dirty="0"/>
          </a:p>
        </p:txBody>
      </p:sp>
      <p:pic>
        <p:nvPicPr>
          <p:cNvPr id="17" name="!!mod0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0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M2 · PQ-PKI &amp; Envelope</a:t>
            </a:r>
            <a:endParaRPr lang="en-US" sz="1500" dirty="0"/>
          </a:p>
        </p:txBody>
      </p:sp>
      <p:pic>
        <p:nvPicPr>
          <p:cNvPr id="19" name="!!mod02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0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M3 · Registry &amp; Compliance</a:t>
            </a:r>
            <a:endParaRPr lang="en-US" sz="1500" dirty="0"/>
          </a:p>
        </p:txBody>
      </p:sp>
      <p:pic>
        <p:nvPicPr>
          <p:cNvPr id="21" name="!!mod03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" y="4709160"/>
            <a:ext cx="548640" cy="548640"/>
          </a:xfrm>
          <a:prstGeom prst="rect">
            <a:avLst/>
          </a:prstGeom>
        </p:spPr>
      </p:pic>
      <p:sp>
        <p:nvSpPr>
          <p:cNvPr id="22" name="!!modlab03"/>
          <p:cNvSpPr txBox="1"/>
          <p:nvPr/>
        </p:nvSpPr>
        <p:spPr>
          <a:xfrm>
            <a:off x="1298448" y="4709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M4 · Vault Accounting</a:t>
            </a:r>
            <a:endParaRPr lang="en-US" sz="1500" dirty="0"/>
          </a:p>
        </p:txBody>
      </p:sp>
      <p:sp>
        <p:nvSpPr>
          <p:cNvPr id="23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4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ERC-4626 pool that turns asset tokens into small shares a user can buy from PKR 1,000.</a:t>
            </a:r>
            <a:endParaRPr lang="en-US" sz="1700" dirty="0"/>
          </a:p>
        </p:txBody>
      </p:sp>
      <p:sp>
        <p:nvSpPr>
          <p:cNvPr id="25" name="Shape 15"/>
          <p:cNvSpPr/>
          <p:nvPr/>
        </p:nvSpPr>
        <p:spPr>
          <a:xfrm>
            <a:off x="4480560" y="2606040"/>
            <a:ext cx="6858000" cy="594360"/>
          </a:xfrm>
          <a:prstGeom prst="roundRect">
            <a:avLst>
              <a:gd name="adj" fmla="val 12308"/>
            </a:avLst>
          </a:prstGeom>
          <a:solidFill>
            <a:srgbClr val="181818"/>
          </a:solidFill>
          <a:ln w="12700">
            <a:solidFill>
              <a:srgbClr val="E2B544"/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4480560" y="26060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shares = deposit × (total shares + 10⁶) ÷ (total assets + 1)</a:t>
            </a:r>
            <a:endParaRPr lang="en-US" sz="1700" dirty="0"/>
          </a:p>
        </p:txBody>
      </p:sp>
      <p:sp>
        <p:nvSpPr>
          <p:cNvPr id="27" name="Text 17"/>
          <p:cNvSpPr txBox="1"/>
          <p:nvPr/>
        </p:nvSpPr>
        <p:spPr>
          <a:xfrm>
            <a:off x="4480560" y="3337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Rounding always goes against the user making the operation and in favour of the pool.</a:t>
            </a:r>
            <a:endParaRPr lang="en-US" sz="1400" dirty="0"/>
          </a:p>
        </p:txBody>
      </p:sp>
      <p:sp>
        <p:nvSpPr>
          <p:cNvPr id="28" name="Text 18"/>
          <p:cNvSpPr txBox="1"/>
          <p:nvPr/>
        </p:nvSpPr>
        <p:spPr>
          <a:xfrm>
            <a:off x="4480560" y="3840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 OF STEALING A PKR 1,000 DEPOSIT</a:t>
            </a:r>
            <a:endParaRPr lang="en-US" sz="1100" dirty="0"/>
          </a:p>
        </p:txBody>
      </p:sp>
      <p:sp>
        <p:nvSpPr>
          <p:cNvPr id="29" name="Text 19"/>
          <p:cNvSpPr txBox="1"/>
          <p:nvPr/>
        </p:nvSpPr>
        <p:spPr>
          <a:xfrm>
            <a:off x="4480560" y="4114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≈ PKR 1,000</a:t>
            </a:r>
            <a:endParaRPr lang="en-US" sz="3400" dirty="0"/>
          </a:p>
        </p:txBody>
      </p:sp>
      <p:sp>
        <p:nvSpPr>
          <p:cNvPr id="30" name="Text 20"/>
          <p:cNvSpPr txBox="1"/>
          <p:nvPr/>
        </p:nvSpPr>
        <p:spPr>
          <a:xfrm>
            <a:off x="4480560" y="4754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the offset</a:t>
            </a:r>
            <a:endParaRPr lang="en-US" sz="1300" dirty="0"/>
          </a:p>
        </p:txBody>
      </p:sp>
      <p:sp>
        <p:nvSpPr>
          <p:cNvPr id="31" name="Text 21"/>
          <p:cNvSpPr txBox="1"/>
          <p:nvPr/>
        </p:nvSpPr>
        <p:spPr>
          <a:xfrm>
            <a:off x="7955280" y="4114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≈ PKR 1 billion</a:t>
            </a:r>
            <a:endParaRPr lang="en-US" sz="3400" dirty="0"/>
          </a:p>
        </p:txBody>
      </p:sp>
      <p:sp>
        <p:nvSpPr>
          <p:cNvPr id="32" name="Text 22"/>
          <p:cNvSpPr txBox="1"/>
          <p:nvPr/>
        </p:nvSpPr>
        <p:spPr>
          <a:xfrm>
            <a:off x="7955280" y="4754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the 10⁶ virtual offset</a:t>
            </a:r>
            <a:endParaRPr lang="en-US" sz="1300" dirty="0"/>
          </a:p>
        </p:txBody>
      </p:sp>
      <p:sp>
        <p:nvSpPr>
          <p:cNvPr id="33" name="!!why"/>
          <p:cNvSpPr txBox="1"/>
          <p:nvPr/>
        </p:nvSpPr>
        <p:spPr>
          <a:xfrm>
            <a:off x="4480560" y="56509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holds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Fuzz-tested over 10⁶ random sequences (Foundry) · proved by symbolic execution (Halmos)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Four Leaves, One System</a:t>
            </a:r>
            <a:endParaRPr lang="en-US" sz="3400" dirty="0"/>
          </a:p>
        </p:txBody>
      </p:sp>
      <p:sp>
        <p:nvSpPr>
          <p:cNvPr id="5" name="!!hubring"/>
          <p:cNvSpPr/>
          <p:nvPr/>
        </p:nvSpPr>
        <p:spPr>
          <a:xfrm>
            <a:off x="2990088" y="2240280"/>
            <a:ext cx="6217920" cy="3383280"/>
          </a:xfrm>
          <a:prstGeom prst="ellipse">
            <a:avLst/>
          </a:prstGeom>
          <a:ln w="25400">
            <a:solidFill>
              <a:srgbClr val="2C2C2C"/>
            </a:solidFill>
            <a:prstDash val="solid"/>
          </a:ln>
        </p:spPr>
      </p:sp>
      <p:pic>
        <p:nvPicPr>
          <p:cNvPr id="6" name="!!ingot" descr="C:\Users\USER\AppData\Local\Temp\claude\C--Users-USER-OneDrive-Desktop-RWA-vault\22c0d93f-95db-488a-9ad8-cfe9b0a46593\scratchpad\deck\art5\ingo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3429000"/>
            <a:ext cx="1737360" cy="1004194"/>
          </a:xfrm>
          <a:prstGeom prst="rect">
            <a:avLst/>
          </a:prstGeom>
        </p:spPr>
      </p:pic>
      <p:pic>
        <p:nvPicPr>
          <p:cNvPr id="7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783080"/>
            <a:ext cx="914400" cy="914400"/>
          </a:xfrm>
          <a:prstGeom prst="rect">
            <a:avLst/>
          </a:prstGeom>
        </p:spPr>
      </p:pic>
      <p:sp>
        <p:nvSpPr>
          <p:cNvPr id="8" name="!!leafnum0"/>
          <p:cNvSpPr txBox="1"/>
          <p:nvPr/>
        </p:nvSpPr>
        <p:spPr>
          <a:xfrm>
            <a:off x="5641848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!!leaflab0"/>
          <p:cNvSpPr txBox="1"/>
          <p:nvPr/>
        </p:nvSpPr>
        <p:spPr>
          <a:xfrm>
            <a:off x="6830568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1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</a:t>
            </a:r>
            <a:endParaRPr lang="en-US" sz="1500" dirty="0"/>
          </a:p>
        </p:txBody>
      </p:sp>
      <p:pic>
        <p:nvPicPr>
          <p:cNvPr id="10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3360420"/>
            <a:ext cx="1143000" cy="1143000"/>
          </a:xfrm>
          <a:prstGeom prst="rect">
            <a:avLst/>
          </a:prstGeom>
        </p:spPr>
      </p:pic>
      <p:sp>
        <p:nvSpPr>
          <p:cNvPr id="11" name="!!leafnum1"/>
          <p:cNvSpPr txBox="1"/>
          <p:nvPr/>
        </p:nvSpPr>
        <p:spPr>
          <a:xfrm>
            <a:off x="8636508" y="33604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3800" dirty="0"/>
          </a:p>
        </p:txBody>
      </p:sp>
      <p:sp>
        <p:nvSpPr>
          <p:cNvPr id="12" name="!!leaflab1"/>
          <p:cNvSpPr txBox="1"/>
          <p:nvPr/>
        </p:nvSpPr>
        <p:spPr>
          <a:xfrm>
            <a:off x="9939528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2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Investment Path</a:t>
            </a:r>
            <a:endParaRPr lang="en-US" sz="1500" dirty="0"/>
          </a:p>
        </p:txBody>
      </p:sp>
      <p:pic>
        <p:nvPicPr>
          <p:cNvPr id="13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14" name="!!leafnum2"/>
          <p:cNvSpPr txBox="1"/>
          <p:nvPr/>
        </p:nvSpPr>
        <p:spPr>
          <a:xfrm>
            <a:off x="5641848" y="5120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!!leaflab2"/>
          <p:cNvSpPr txBox="1"/>
          <p:nvPr/>
        </p:nvSpPr>
        <p:spPr>
          <a:xfrm>
            <a:off x="6830568" y="5257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3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Lending &amp; Risk</a:t>
            </a:r>
            <a:endParaRPr lang="en-US" sz="1500" dirty="0"/>
          </a:p>
        </p:txBody>
      </p:sp>
      <p:pic>
        <p:nvPicPr>
          <p:cNvPr id="16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888" y="3474720"/>
            <a:ext cx="914400" cy="914400"/>
          </a:xfrm>
          <a:prstGeom prst="rect">
            <a:avLst/>
          </a:prstGeom>
        </p:spPr>
      </p:pic>
      <p:sp>
        <p:nvSpPr>
          <p:cNvPr id="17" name="!!leafnum3"/>
          <p:cNvSpPr txBox="1"/>
          <p:nvPr/>
        </p:nvSpPr>
        <p:spPr>
          <a:xfrm>
            <a:off x="2532888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!!leaflab3"/>
          <p:cNvSpPr txBox="1"/>
          <p:nvPr/>
        </p:nvSpPr>
        <p:spPr>
          <a:xfrm>
            <a:off x="292608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4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Evaluation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32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price is a decision the protocol makes, not data it simply reads.</a:t>
            </a:r>
            <a:endParaRPr lang="en-US" sz="1700" dirty="0"/>
          </a:p>
        </p:txBody>
      </p:sp>
      <p:sp>
        <p:nvSpPr>
          <p:cNvPr id="23" name="!!chipoa0"/>
          <p:cNvSpPr/>
          <p:nvPr/>
        </p:nvSpPr>
        <p:spPr>
          <a:xfrm>
            <a:off x="4480560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2A2110"/>
          </a:solidFill>
          <a:ln w="19050">
            <a:solidFill>
              <a:srgbClr val="E2B544"/>
            </a:solidFill>
            <a:prstDash val="solid"/>
          </a:ln>
        </p:spPr>
      </p:sp>
      <p:sp>
        <p:nvSpPr>
          <p:cNvPr id="24" name="!!chiptoa0"/>
          <p:cNvSpPr txBox="1"/>
          <p:nvPr/>
        </p:nvSpPr>
        <p:spPr>
          <a:xfrm>
            <a:off x="4553712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sources, 3 s timeout</a:t>
            </a:r>
            <a:endParaRPr lang="en-US" sz="1100" dirty="0"/>
          </a:p>
        </p:txBody>
      </p:sp>
      <p:sp>
        <p:nvSpPr>
          <p:cNvPr id="25" name="!!chipoa1"/>
          <p:cNvSpPr/>
          <p:nvPr/>
        </p:nvSpPr>
        <p:spPr>
          <a:xfrm>
            <a:off x="6222492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6" name="!!chiptoa1"/>
          <p:cNvSpPr txBox="1"/>
          <p:nvPr/>
        </p:nvSpPr>
        <p:spPr>
          <a:xfrm>
            <a:off x="6295644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dead or stale</a:t>
            </a:r>
            <a:endParaRPr lang="en-US" sz="1100" dirty="0"/>
          </a:p>
        </p:txBody>
      </p:sp>
      <p:sp>
        <p:nvSpPr>
          <p:cNvPr id="27" name="!!chipoa2"/>
          <p:cNvSpPr/>
          <p:nvPr/>
        </p:nvSpPr>
        <p:spPr>
          <a:xfrm>
            <a:off x="7964424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8" name="!!chiptoa2"/>
          <p:cNvSpPr txBox="1"/>
          <p:nvPr/>
        </p:nvSpPr>
        <p:spPr>
          <a:xfrm>
            <a:off x="8037576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quorum ≥ 3</a:t>
            </a:r>
            <a:endParaRPr lang="en-US" sz="1100" dirty="0"/>
          </a:p>
        </p:txBody>
      </p:sp>
      <p:sp>
        <p:nvSpPr>
          <p:cNvPr id="29" name="!!chipoa3"/>
          <p:cNvSpPr/>
          <p:nvPr/>
        </p:nvSpPr>
        <p:spPr>
          <a:xfrm>
            <a:off x="9706356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0" name="!!chiptoa3"/>
          <p:cNvSpPr txBox="1"/>
          <p:nvPr/>
        </p:nvSpPr>
        <p:spPr>
          <a:xfrm>
            <a:off x="9779508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</a:t>
            </a:r>
            <a:endParaRPr lang="en-US" sz="1100" dirty="0"/>
          </a:p>
        </p:txBody>
      </p:sp>
      <p:sp>
        <p:nvSpPr>
          <p:cNvPr id="31" name="!!chipob0"/>
          <p:cNvSpPr/>
          <p:nvPr/>
        </p:nvSpPr>
        <p:spPr>
          <a:xfrm>
            <a:off x="4480560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2" name="!!chiptob0"/>
          <p:cNvSpPr txBox="1"/>
          <p:nvPr/>
        </p:nvSpPr>
        <p:spPr>
          <a:xfrm>
            <a:off x="4553712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≤ 10% from 30-minute average</a:t>
            </a:r>
            <a:endParaRPr lang="en-US" sz="1100" dirty="0"/>
          </a:p>
        </p:txBody>
      </p:sp>
      <p:sp>
        <p:nvSpPr>
          <p:cNvPr id="33" name="!!chipob1"/>
          <p:cNvSpPr/>
          <p:nvPr/>
        </p:nvSpPr>
        <p:spPr>
          <a:xfrm>
            <a:off x="6803136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!!chiptob1"/>
          <p:cNvSpPr txBox="1"/>
          <p:nvPr/>
        </p:nvSpPr>
        <p:spPr>
          <a:xfrm>
            <a:off x="6876288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 ID increases</a:t>
            </a:r>
            <a:endParaRPr lang="en-US" sz="1100" dirty="0"/>
          </a:p>
        </p:txBody>
      </p:sp>
      <p:sp>
        <p:nvSpPr>
          <p:cNvPr id="35" name="!!chipob2"/>
          <p:cNvSpPr/>
          <p:nvPr/>
        </p:nvSpPr>
        <p:spPr>
          <a:xfrm>
            <a:off x="9125712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!!chiptob2"/>
          <p:cNvSpPr txBox="1"/>
          <p:nvPr/>
        </p:nvSpPr>
        <p:spPr>
          <a:xfrm>
            <a:off x="9198864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 ML-DSA-44, commit</a:t>
            </a:r>
            <a:endParaRPr lang="en-US" sz="1100" dirty="0"/>
          </a:p>
        </p:txBody>
      </p:sp>
      <p:sp>
        <p:nvSpPr>
          <p:cNvPr id="37" name="!!olane"/>
          <p:cNvSpPr/>
          <p:nvPr/>
        </p:nvSpPr>
        <p:spPr>
          <a:xfrm>
            <a:off x="4572000" y="4507992"/>
            <a:ext cx="667512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dash"/>
          </a:ln>
        </p:spPr>
      </p:sp>
      <p:pic>
        <p:nvPicPr>
          <p:cNvPr id="38" name="!!feed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3749040"/>
            <a:ext cx="274320" cy="274320"/>
          </a:xfrm>
          <a:prstGeom prst="rect">
            <a:avLst/>
          </a:prstGeom>
        </p:spPr>
      </p:pic>
      <p:pic>
        <p:nvPicPr>
          <p:cNvPr id="39" name="!!feed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4059936"/>
            <a:ext cx="274320" cy="274320"/>
          </a:xfrm>
          <a:prstGeom prst="rect">
            <a:avLst/>
          </a:prstGeom>
        </p:spPr>
      </p:pic>
      <p:pic>
        <p:nvPicPr>
          <p:cNvPr id="40" name="!!feed2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9160" y="4370832"/>
            <a:ext cx="274320" cy="274320"/>
          </a:xfrm>
          <a:prstGeom prst="rect">
            <a:avLst/>
          </a:prstGeom>
        </p:spPr>
      </p:pic>
      <p:pic>
        <p:nvPicPr>
          <p:cNvPr id="41" name="!!feed3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9160" y="4681728"/>
            <a:ext cx="274320" cy="274320"/>
          </a:xfrm>
          <a:prstGeom prst="rect">
            <a:avLst/>
          </a:prstGeom>
        </p:spPr>
      </p:pic>
      <p:pic>
        <p:nvPicPr>
          <p:cNvPr id="42" name="!!feed4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9160" y="4992624"/>
            <a:ext cx="274320" cy="274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price is a decision the protocol makes, not data it simply reads.</a:t>
            </a:r>
            <a:endParaRPr lang="en-US" sz="1700" dirty="0"/>
          </a:p>
        </p:txBody>
      </p:sp>
      <p:sp>
        <p:nvSpPr>
          <p:cNvPr id="23" name="!!chipoa0"/>
          <p:cNvSpPr/>
          <p:nvPr/>
        </p:nvSpPr>
        <p:spPr>
          <a:xfrm>
            <a:off x="4480560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4" name="!!chiptoa0"/>
          <p:cNvSpPr txBox="1"/>
          <p:nvPr/>
        </p:nvSpPr>
        <p:spPr>
          <a:xfrm>
            <a:off x="4553712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sources, 3 s timeout</a:t>
            </a:r>
            <a:endParaRPr lang="en-US" sz="1100" dirty="0"/>
          </a:p>
        </p:txBody>
      </p:sp>
      <p:sp>
        <p:nvSpPr>
          <p:cNvPr id="25" name="!!chipoa1"/>
          <p:cNvSpPr/>
          <p:nvPr/>
        </p:nvSpPr>
        <p:spPr>
          <a:xfrm>
            <a:off x="6222492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2A2110"/>
          </a:solidFill>
          <a:ln w="19050">
            <a:solidFill>
              <a:srgbClr val="E2B544"/>
            </a:solidFill>
            <a:prstDash val="solid"/>
          </a:ln>
        </p:spPr>
      </p:sp>
      <p:sp>
        <p:nvSpPr>
          <p:cNvPr id="26" name="!!chiptoa1"/>
          <p:cNvSpPr txBox="1"/>
          <p:nvPr/>
        </p:nvSpPr>
        <p:spPr>
          <a:xfrm>
            <a:off x="6295644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dead or stale</a:t>
            </a:r>
            <a:endParaRPr lang="en-US" sz="1100" dirty="0"/>
          </a:p>
        </p:txBody>
      </p:sp>
      <p:sp>
        <p:nvSpPr>
          <p:cNvPr id="27" name="!!chipoa2"/>
          <p:cNvSpPr/>
          <p:nvPr/>
        </p:nvSpPr>
        <p:spPr>
          <a:xfrm>
            <a:off x="7964424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8" name="!!chiptoa2"/>
          <p:cNvSpPr txBox="1"/>
          <p:nvPr/>
        </p:nvSpPr>
        <p:spPr>
          <a:xfrm>
            <a:off x="8037576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quorum ≥ 3</a:t>
            </a:r>
            <a:endParaRPr lang="en-US" sz="1100" dirty="0"/>
          </a:p>
        </p:txBody>
      </p:sp>
      <p:sp>
        <p:nvSpPr>
          <p:cNvPr id="29" name="!!chipoa3"/>
          <p:cNvSpPr/>
          <p:nvPr/>
        </p:nvSpPr>
        <p:spPr>
          <a:xfrm>
            <a:off x="9706356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0" name="!!chiptoa3"/>
          <p:cNvSpPr txBox="1"/>
          <p:nvPr/>
        </p:nvSpPr>
        <p:spPr>
          <a:xfrm>
            <a:off x="9779508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</a:t>
            </a:r>
            <a:endParaRPr lang="en-US" sz="1100" dirty="0"/>
          </a:p>
        </p:txBody>
      </p:sp>
      <p:sp>
        <p:nvSpPr>
          <p:cNvPr id="31" name="!!chipob0"/>
          <p:cNvSpPr/>
          <p:nvPr/>
        </p:nvSpPr>
        <p:spPr>
          <a:xfrm>
            <a:off x="4480560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2" name="!!chiptob0"/>
          <p:cNvSpPr txBox="1"/>
          <p:nvPr/>
        </p:nvSpPr>
        <p:spPr>
          <a:xfrm>
            <a:off x="4553712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≤ 10% from 30-minute average</a:t>
            </a:r>
            <a:endParaRPr lang="en-US" sz="1100" dirty="0"/>
          </a:p>
        </p:txBody>
      </p:sp>
      <p:sp>
        <p:nvSpPr>
          <p:cNvPr id="33" name="!!chipob1"/>
          <p:cNvSpPr/>
          <p:nvPr/>
        </p:nvSpPr>
        <p:spPr>
          <a:xfrm>
            <a:off x="6803136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!!chiptob1"/>
          <p:cNvSpPr txBox="1"/>
          <p:nvPr/>
        </p:nvSpPr>
        <p:spPr>
          <a:xfrm>
            <a:off x="6876288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 ID increases</a:t>
            </a:r>
            <a:endParaRPr lang="en-US" sz="1100" dirty="0"/>
          </a:p>
        </p:txBody>
      </p:sp>
      <p:sp>
        <p:nvSpPr>
          <p:cNvPr id="35" name="!!chipob2"/>
          <p:cNvSpPr/>
          <p:nvPr/>
        </p:nvSpPr>
        <p:spPr>
          <a:xfrm>
            <a:off x="9125712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!!chiptob2"/>
          <p:cNvSpPr txBox="1"/>
          <p:nvPr/>
        </p:nvSpPr>
        <p:spPr>
          <a:xfrm>
            <a:off x="9198864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 ML-DSA-44, commit</a:t>
            </a:r>
            <a:endParaRPr lang="en-US" sz="1100" dirty="0"/>
          </a:p>
        </p:txBody>
      </p:sp>
      <p:sp>
        <p:nvSpPr>
          <p:cNvPr id="37" name="!!olane"/>
          <p:cNvSpPr/>
          <p:nvPr/>
        </p:nvSpPr>
        <p:spPr>
          <a:xfrm>
            <a:off x="4572000" y="4507992"/>
            <a:ext cx="667512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dash"/>
          </a:ln>
        </p:spPr>
      </p:sp>
      <p:pic>
        <p:nvPicPr>
          <p:cNvPr id="38" name="!!feed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3749040"/>
            <a:ext cx="274320" cy="274320"/>
          </a:xfrm>
          <a:prstGeom prst="rect">
            <a:avLst/>
          </a:prstGeom>
        </p:spPr>
      </p:pic>
      <p:pic>
        <p:nvPicPr>
          <p:cNvPr id="39" name="!!feed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4059936"/>
            <a:ext cx="274320" cy="274320"/>
          </a:xfrm>
          <a:prstGeom prst="rect">
            <a:avLst/>
          </a:prstGeom>
        </p:spPr>
      </p:pic>
      <p:pic>
        <p:nvPicPr>
          <p:cNvPr id="40" name="!!feed2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9160" y="4370832"/>
            <a:ext cx="274320" cy="274320"/>
          </a:xfrm>
          <a:prstGeom prst="rect">
            <a:avLst/>
          </a:prstGeom>
        </p:spPr>
      </p:pic>
      <p:pic>
        <p:nvPicPr>
          <p:cNvPr id="41" name="!!feed3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9160" y="4681728"/>
            <a:ext cx="274320" cy="274320"/>
          </a:xfrm>
          <a:prstGeom prst="rect">
            <a:avLst/>
          </a:prstGeom>
        </p:spPr>
      </p:pic>
      <p:pic>
        <p:nvPicPr>
          <p:cNvPr id="42" name="!!feed4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3440" y="5221224"/>
            <a:ext cx="274320" cy="274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34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price is a decision the protocol makes, not data it simply reads.</a:t>
            </a:r>
            <a:endParaRPr lang="en-US" sz="1700" dirty="0"/>
          </a:p>
        </p:txBody>
      </p:sp>
      <p:sp>
        <p:nvSpPr>
          <p:cNvPr id="23" name="!!chipoa0"/>
          <p:cNvSpPr/>
          <p:nvPr/>
        </p:nvSpPr>
        <p:spPr>
          <a:xfrm>
            <a:off x="4480560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4" name="!!chiptoa0"/>
          <p:cNvSpPr txBox="1"/>
          <p:nvPr/>
        </p:nvSpPr>
        <p:spPr>
          <a:xfrm>
            <a:off x="4553712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sources, 3 s timeout</a:t>
            </a:r>
            <a:endParaRPr lang="en-US" sz="1100" dirty="0"/>
          </a:p>
        </p:txBody>
      </p:sp>
      <p:sp>
        <p:nvSpPr>
          <p:cNvPr id="25" name="!!chipoa1"/>
          <p:cNvSpPr/>
          <p:nvPr/>
        </p:nvSpPr>
        <p:spPr>
          <a:xfrm>
            <a:off x="6222492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6" name="!!chiptoa1"/>
          <p:cNvSpPr txBox="1"/>
          <p:nvPr/>
        </p:nvSpPr>
        <p:spPr>
          <a:xfrm>
            <a:off x="6295644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dead or stale</a:t>
            </a:r>
            <a:endParaRPr lang="en-US" sz="1100" dirty="0"/>
          </a:p>
        </p:txBody>
      </p:sp>
      <p:sp>
        <p:nvSpPr>
          <p:cNvPr id="27" name="!!chipoa2"/>
          <p:cNvSpPr/>
          <p:nvPr/>
        </p:nvSpPr>
        <p:spPr>
          <a:xfrm>
            <a:off x="7964424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2A2110"/>
          </a:solidFill>
          <a:ln w="19050">
            <a:solidFill>
              <a:srgbClr val="E2B544"/>
            </a:solidFill>
            <a:prstDash val="solid"/>
          </a:ln>
        </p:spPr>
      </p:sp>
      <p:sp>
        <p:nvSpPr>
          <p:cNvPr id="28" name="!!chiptoa2"/>
          <p:cNvSpPr txBox="1"/>
          <p:nvPr/>
        </p:nvSpPr>
        <p:spPr>
          <a:xfrm>
            <a:off x="8037576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quorum ≥ 3</a:t>
            </a:r>
            <a:endParaRPr lang="en-US" sz="1100" dirty="0"/>
          </a:p>
        </p:txBody>
      </p:sp>
      <p:sp>
        <p:nvSpPr>
          <p:cNvPr id="29" name="!!chipoa3"/>
          <p:cNvSpPr/>
          <p:nvPr/>
        </p:nvSpPr>
        <p:spPr>
          <a:xfrm>
            <a:off x="9706356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0" name="!!chiptoa3"/>
          <p:cNvSpPr txBox="1"/>
          <p:nvPr/>
        </p:nvSpPr>
        <p:spPr>
          <a:xfrm>
            <a:off x="9779508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</a:t>
            </a:r>
            <a:endParaRPr lang="en-US" sz="1100" dirty="0"/>
          </a:p>
        </p:txBody>
      </p:sp>
      <p:sp>
        <p:nvSpPr>
          <p:cNvPr id="31" name="!!chipob0"/>
          <p:cNvSpPr/>
          <p:nvPr/>
        </p:nvSpPr>
        <p:spPr>
          <a:xfrm>
            <a:off x="4480560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2" name="!!chiptob0"/>
          <p:cNvSpPr txBox="1"/>
          <p:nvPr/>
        </p:nvSpPr>
        <p:spPr>
          <a:xfrm>
            <a:off x="4553712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≤ 10% from 30-minute average</a:t>
            </a:r>
            <a:endParaRPr lang="en-US" sz="1100" dirty="0"/>
          </a:p>
        </p:txBody>
      </p:sp>
      <p:sp>
        <p:nvSpPr>
          <p:cNvPr id="33" name="!!chipob1"/>
          <p:cNvSpPr/>
          <p:nvPr/>
        </p:nvSpPr>
        <p:spPr>
          <a:xfrm>
            <a:off x="6803136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!!chiptob1"/>
          <p:cNvSpPr txBox="1"/>
          <p:nvPr/>
        </p:nvSpPr>
        <p:spPr>
          <a:xfrm>
            <a:off x="6876288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 ID increases</a:t>
            </a:r>
            <a:endParaRPr lang="en-US" sz="1100" dirty="0"/>
          </a:p>
        </p:txBody>
      </p:sp>
      <p:sp>
        <p:nvSpPr>
          <p:cNvPr id="35" name="!!chipob2"/>
          <p:cNvSpPr/>
          <p:nvPr/>
        </p:nvSpPr>
        <p:spPr>
          <a:xfrm>
            <a:off x="9125712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!!chiptob2"/>
          <p:cNvSpPr txBox="1"/>
          <p:nvPr/>
        </p:nvSpPr>
        <p:spPr>
          <a:xfrm>
            <a:off x="9198864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 ML-DSA-44, commit</a:t>
            </a:r>
            <a:endParaRPr lang="en-US" sz="1100" dirty="0"/>
          </a:p>
        </p:txBody>
      </p:sp>
      <p:sp>
        <p:nvSpPr>
          <p:cNvPr id="37" name="!!olane"/>
          <p:cNvSpPr/>
          <p:nvPr/>
        </p:nvSpPr>
        <p:spPr>
          <a:xfrm>
            <a:off x="4572000" y="4507992"/>
            <a:ext cx="667512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dash"/>
          </a:ln>
        </p:spPr>
      </p:sp>
      <p:sp>
        <p:nvSpPr>
          <p:cNvPr id="38" name="!!obox"/>
          <p:cNvSpPr/>
          <p:nvPr/>
        </p:nvSpPr>
        <p:spPr>
          <a:xfrm>
            <a:off x="5760720" y="3813048"/>
            <a:ext cx="548640" cy="1389888"/>
          </a:xfrm>
          <a:prstGeom prst="roundRect">
            <a:avLst>
              <a:gd name="adj" fmla="val 13333"/>
            </a:avLst>
          </a:prstGeom>
          <a:ln w="12700">
            <a:solidFill>
              <a:srgbClr val="E2B544"/>
            </a:solidFill>
            <a:prstDash val="solid"/>
          </a:ln>
        </p:spPr>
      </p:sp>
      <p:sp>
        <p:nvSpPr>
          <p:cNvPr id="39" name="!!onote"/>
          <p:cNvSpPr txBox="1"/>
          <p:nvPr/>
        </p:nvSpPr>
        <p:spPr>
          <a:xfrm>
            <a:off x="640080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quorum ≥ 3 ✓</a:t>
            </a:r>
            <a:endParaRPr lang="en-US" sz="1100" dirty="0"/>
          </a:p>
        </p:txBody>
      </p:sp>
      <p:pic>
        <p:nvPicPr>
          <p:cNvPr id="40" name="!!feed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7880" y="3904488"/>
            <a:ext cx="274320" cy="274320"/>
          </a:xfrm>
          <a:prstGeom prst="rect">
            <a:avLst/>
          </a:prstGeom>
        </p:spPr>
      </p:pic>
      <p:pic>
        <p:nvPicPr>
          <p:cNvPr id="41" name="!!feed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7880" y="4215384"/>
            <a:ext cx="274320" cy="274320"/>
          </a:xfrm>
          <a:prstGeom prst="rect">
            <a:avLst/>
          </a:prstGeom>
        </p:spPr>
      </p:pic>
      <p:pic>
        <p:nvPicPr>
          <p:cNvPr id="42" name="!!feed2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7880" y="4526280"/>
            <a:ext cx="274320" cy="274320"/>
          </a:xfrm>
          <a:prstGeom prst="rect">
            <a:avLst/>
          </a:prstGeom>
        </p:spPr>
      </p:pic>
      <p:pic>
        <p:nvPicPr>
          <p:cNvPr id="43" name="!!feed3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7880" y="4837176"/>
            <a:ext cx="274320" cy="274320"/>
          </a:xfrm>
          <a:prstGeom prst="rect">
            <a:avLst/>
          </a:prstGeom>
        </p:spPr>
      </p:pic>
      <p:pic>
        <p:nvPicPr>
          <p:cNvPr id="44" name="!!feed4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12">
            <a:alphaModFix amt="0"/>
          </a:blip>
          <a:stretch>
            <a:fillRect/>
          </a:stretch>
        </p:blipFill>
        <p:spPr>
          <a:xfrm>
            <a:off x="4663440" y="5221224"/>
            <a:ext cx="274320" cy="274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price is a decision the protocol makes, not data it simply reads.</a:t>
            </a:r>
            <a:endParaRPr lang="en-US" sz="1700" dirty="0"/>
          </a:p>
        </p:txBody>
      </p:sp>
      <p:sp>
        <p:nvSpPr>
          <p:cNvPr id="23" name="!!chipoa0"/>
          <p:cNvSpPr/>
          <p:nvPr/>
        </p:nvSpPr>
        <p:spPr>
          <a:xfrm>
            <a:off x="4480560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4" name="!!chiptoa0"/>
          <p:cNvSpPr txBox="1"/>
          <p:nvPr/>
        </p:nvSpPr>
        <p:spPr>
          <a:xfrm>
            <a:off x="4553712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sources, 3 s timeout</a:t>
            </a:r>
            <a:endParaRPr lang="en-US" sz="1100" dirty="0"/>
          </a:p>
        </p:txBody>
      </p:sp>
      <p:sp>
        <p:nvSpPr>
          <p:cNvPr id="25" name="!!chipoa1"/>
          <p:cNvSpPr/>
          <p:nvPr/>
        </p:nvSpPr>
        <p:spPr>
          <a:xfrm>
            <a:off x="6222492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6" name="!!chiptoa1"/>
          <p:cNvSpPr txBox="1"/>
          <p:nvPr/>
        </p:nvSpPr>
        <p:spPr>
          <a:xfrm>
            <a:off x="6295644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dead or stale</a:t>
            </a:r>
            <a:endParaRPr lang="en-US" sz="1100" dirty="0"/>
          </a:p>
        </p:txBody>
      </p:sp>
      <p:sp>
        <p:nvSpPr>
          <p:cNvPr id="27" name="!!chipoa2"/>
          <p:cNvSpPr/>
          <p:nvPr/>
        </p:nvSpPr>
        <p:spPr>
          <a:xfrm>
            <a:off x="7964424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8" name="!!chiptoa2"/>
          <p:cNvSpPr txBox="1"/>
          <p:nvPr/>
        </p:nvSpPr>
        <p:spPr>
          <a:xfrm>
            <a:off x="8037576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quorum ≥ 3</a:t>
            </a:r>
            <a:endParaRPr lang="en-US" sz="1100" dirty="0"/>
          </a:p>
        </p:txBody>
      </p:sp>
      <p:sp>
        <p:nvSpPr>
          <p:cNvPr id="29" name="!!chipoa3"/>
          <p:cNvSpPr/>
          <p:nvPr/>
        </p:nvSpPr>
        <p:spPr>
          <a:xfrm>
            <a:off x="9706356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2A2110"/>
          </a:solidFill>
          <a:ln w="19050">
            <a:solidFill>
              <a:srgbClr val="E2B544"/>
            </a:solidFill>
            <a:prstDash val="solid"/>
          </a:ln>
        </p:spPr>
      </p:sp>
      <p:sp>
        <p:nvSpPr>
          <p:cNvPr id="30" name="!!chiptoa3"/>
          <p:cNvSpPr txBox="1"/>
          <p:nvPr/>
        </p:nvSpPr>
        <p:spPr>
          <a:xfrm>
            <a:off x="9779508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</a:t>
            </a:r>
            <a:endParaRPr lang="en-US" sz="1100" dirty="0"/>
          </a:p>
        </p:txBody>
      </p:sp>
      <p:sp>
        <p:nvSpPr>
          <p:cNvPr id="31" name="!!chipob0"/>
          <p:cNvSpPr/>
          <p:nvPr/>
        </p:nvSpPr>
        <p:spPr>
          <a:xfrm>
            <a:off x="4480560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2" name="!!chiptob0"/>
          <p:cNvSpPr txBox="1"/>
          <p:nvPr/>
        </p:nvSpPr>
        <p:spPr>
          <a:xfrm>
            <a:off x="4553712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≤ 10% from 30-minute average</a:t>
            </a:r>
            <a:endParaRPr lang="en-US" sz="1100" dirty="0"/>
          </a:p>
        </p:txBody>
      </p:sp>
      <p:sp>
        <p:nvSpPr>
          <p:cNvPr id="33" name="!!chipob1"/>
          <p:cNvSpPr/>
          <p:nvPr/>
        </p:nvSpPr>
        <p:spPr>
          <a:xfrm>
            <a:off x="6803136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!!chiptob1"/>
          <p:cNvSpPr txBox="1"/>
          <p:nvPr/>
        </p:nvSpPr>
        <p:spPr>
          <a:xfrm>
            <a:off x="6876288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 ID increases</a:t>
            </a:r>
            <a:endParaRPr lang="en-US" sz="1100" dirty="0"/>
          </a:p>
        </p:txBody>
      </p:sp>
      <p:sp>
        <p:nvSpPr>
          <p:cNvPr id="35" name="!!chipob2"/>
          <p:cNvSpPr/>
          <p:nvPr/>
        </p:nvSpPr>
        <p:spPr>
          <a:xfrm>
            <a:off x="9125712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!!chiptob2"/>
          <p:cNvSpPr txBox="1"/>
          <p:nvPr/>
        </p:nvSpPr>
        <p:spPr>
          <a:xfrm>
            <a:off x="9198864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 ML-DSA-44, commit</a:t>
            </a:r>
            <a:endParaRPr lang="en-US" sz="1100" dirty="0"/>
          </a:p>
        </p:txBody>
      </p:sp>
      <p:sp>
        <p:nvSpPr>
          <p:cNvPr id="37" name="!!olane"/>
          <p:cNvSpPr/>
          <p:nvPr/>
        </p:nvSpPr>
        <p:spPr>
          <a:xfrm>
            <a:off x="4572000" y="4507992"/>
            <a:ext cx="667512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dash"/>
          </a:ln>
        </p:spPr>
      </p:sp>
      <p:sp>
        <p:nvSpPr>
          <p:cNvPr id="38" name="!!onote"/>
          <p:cNvSpPr txBox="1"/>
          <p:nvPr/>
        </p:nvSpPr>
        <p:spPr>
          <a:xfrm>
            <a:off x="7470648" y="42428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</a:t>
            </a:r>
            <a:endParaRPr lang="en-US" sz="1200" dirty="0"/>
          </a:p>
        </p:txBody>
      </p:sp>
      <p:pic>
        <p:nvPicPr>
          <p:cNvPr id="39" name="!!feed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3904488"/>
            <a:ext cx="274320" cy="274320"/>
          </a:xfrm>
          <a:prstGeom prst="rect">
            <a:avLst/>
          </a:prstGeom>
        </p:spPr>
      </p:pic>
      <p:pic>
        <p:nvPicPr>
          <p:cNvPr id="40" name="!!feed1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4215384"/>
            <a:ext cx="274320" cy="274320"/>
          </a:xfrm>
          <a:prstGeom prst="rect">
            <a:avLst/>
          </a:prstGeom>
        </p:spPr>
      </p:pic>
      <p:pic>
        <p:nvPicPr>
          <p:cNvPr id="41" name="!!feed2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4526280"/>
            <a:ext cx="274320" cy="274320"/>
          </a:xfrm>
          <a:prstGeom prst="rect">
            <a:avLst/>
          </a:prstGeom>
        </p:spPr>
      </p:pic>
      <p:pic>
        <p:nvPicPr>
          <p:cNvPr id="42" name="!!feed3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0" y="4837176"/>
            <a:ext cx="274320" cy="274320"/>
          </a:xfrm>
          <a:prstGeom prst="rect">
            <a:avLst/>
          </a:prstGeom>
        </p:spPr>
      </p:pic>
      <p:pic>
        <p:nvPicPr>
          <p:cNvPr id="43" name="!!feed4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12">
            <a:alphaModFix amt="0"/>
          </a:blip>
          <a:stretch>
            <a:fillRect/>
          </a:stretch>
        </p:blipFill>
        <p:spPr>
          <a:xfrm>
            <a:off x="4663440" y="5221224"/>
            <a:ext cx="274320" cy="274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36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price is a decision the protocol makes, not data it simply reads.</a:t>
            </a:r>
            <a:endParaRPr lang="en-US" sz="1700" dirty="0"/>
          </a:p>
        </p:txBody>
      </p:sp>
      <p:sp>
        <p:nvSpPr>
          <p:cNvPr id="23" name="!!chipoa0"/>
          <p:cNvSpPr/>
          <p:nvPr/>
        </p:nvSpPr>
        <p:spPr>
          <a:xfrm>
            <a:off x="4480560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4" name="!!chiptoa0"/>
          <p:cNvSpPr txBox="1"/>
          <p:nvPr/>
        </p:nvSpPr>
        <p:spPr>
          <a:xfrm>
            <a:off x="4553712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sources, 3 s timeout</a:t>
            </a:r>
            <a:endParaRPr lang="en-US" sz="1100" dirty="0"/>
          </a:p>
        </p:txBody>
      </p:sp>
      <p:sp>
        <p:nvSpPr>
          <p:cNvPr id="25" name="!!chipoa1"/>
          <p:cNvSpPr/>
          <p:nvPr/>
        </p:nvSpPr>
        <p:spPr>
          <a:xfrm>
            <a:off x="6222492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6" name="!!chiptoa1"/>
          <p:cNvSpPr txBox="1"/>
          <p:nvPr/>
        </p:nvSpPr>
        <p:spPr>
          <a:xfrm>
            <a:off x="6295644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dead or stale</a:t>
            </a:r>
            <a:endParaRPr lang="en-US" sz="1100" dirty="0"/>
          </a:p>
        </p:txBody>
      </p:sp>
      <p:sp>
        <p:nvSpPr>
          <p:cNvPr id="27" name="!!chipoa2"/>
          <p:cNvSpPr/>
          <p:nvPr/>
        </p:nvSpPr>
        <p:spPr>
          <a:xfrm>
            <a:off x="7964424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8" name="!!chiptoa2"/>
          <p:cNvSpPr txBox="1"/>
          <p:nvPr/>
        </p:nvSpPr>
        <p:spPr>
          <a:xfrm>
            <a:off x="8037576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quorum ≥ 3</a:t>
            </a:r>
            <a:endParaRPr lang="en-US" sz="1100" dirty="0"/>
          </a:p>
        </p:txBody>
      </p:sp>
      <p:sp>
        <p:nvSpPr>
          <p:cNvPr id="29" name="!!chipoa3"/>
          <p:cNvSpPr/>
          <p:nvPr/>
        </p:nvSpPr>
        <p:spPr>
          <a:xfrm>
            <a:off x="9706356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0" name="!!chiptoa3"/>
          <p:cNvSpPr txBox="1"/>
          <p:nvPr/>
        </p:nvSpPr>
        <p:spPr>
          <a:xfrm>
            <a:off x="9779508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</a:t>
            </a:r>
            <a:endParaRPr lang="en-US" sz="1100" dirty="0"/>
          </a:p>
        </p:txBody>
      </p:sp>
      <p:sp>
        <p:nvSpPr>
          <p:cNvPr id="31" name="!!chipob0"/>
          <p:cNvSpPr/>
          <p:nvPr/>
        </p:nvSpPr>
        <p:spPr>
          <a:xfrm>
            <a:off x="4480560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2A2110"/>
          </a:solidFill>
          <a:ln w="19050">
            <a:solidFill>
              <a:srgbClr val="E2B544"/>
            </a:solidFill>
            <a:prstDash val="solid"/>
          </a:ln>
        </p:spPr>
      </p:sp>
      <p:sp>
        <p:nvSpPr>
          <p:cNvPr id="32" name="!!chiptob0"/>
          <p:cNvSpPr txBox="1"/>
          <p:nvPr/>
        </p:nvSpPr>
        <p:spPr>
          <a:xfrm>
            <a:off x="4553712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≤ 10% from 30-minute average</a:t>
            </a:r>
            <a:endParaRPr lang="en-US" sz="1100" dirty="0"/>
          </a:p>
        </p:txBody>
      </p:sp>
      <p:sp>
        <p:nvSpPr>
          <p:cNvPr id="33" name="!!chipob1"/>
          <p:cNvSpPr/>
          <p:nvPr/>
        </p:nvSpPr>
        <p:spPr>
          <a:xfrm>
            <a:off x="6803136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!!chiptob1"/>
          <p:cNvSpPr txBox="1"/>
          <p:nvPr/>
        </p:nvSpPr>
        <p:spPr>
          <a:xfrm>
            <a:off x="6876288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 ID increases</a:t>
            </a:r>
            <a:endParaRPr lang="en-US" sz="1100" dirty="0"/>
          </a:p>
        </p:txBody>
      </p:sp>
      <p:sp>
        <p:nvSpPr>
          <p:cNvPr id="35" name="!!chipob2"/>
          <p:cNvSpPr/>
          <p:nvPr/>
        </p:nvSpPr>
        <p:spPr>
          <a:xfrm>
            <a:off x="9125712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!!chiptob2"/>
          <p:cNvSpPr txBox="1"/>
          <p:nvPr/>
        </p:nvSpPr>
        <p:spPr>
          <a:xfrm>
            <a:off x="9198864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 ML-DSA-44, commit</a:t>
            </a:r>
            <a:endParaRPr lang="en-US" sz="1100" dirty="0"/>
          </a:p>
        </p:txBody>
      </p:sp>
      <p:sp>
        <p:nvSpPr>
          <p:cNvPr id="37" name="!!olane"/>
          <p:cNvSpPr/>
          <p:nvPr/>
        </p:nvSpPr>
        <p:spPr>
          <a:xfrm>
            <a:off x="4572000" y="4507992"/>
            <a:ext cx="667512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dash"/>
          </a:ln>
        </p:spPr>
      </p:sp>
      <p:sp>
        <p:nvSpPr>
          <p:cNvPr id="38" name="!!oband"/>
          <p:cNvSpPr/>
          <p:nvPr/>
        </p:nvSpPr>
        <p:spPr>
          <a:xfrm>
            <a:off x="8046720" y="3703320"/>
            <a:ext cx="1051560" cy="1609344"/>
          </a:xfrm>
          <a:prstGeom prst="rect">
            <a:avLst/>
          </a:prstGeom>
          <a:solidFill>
            <a:srgbClr val="E2B544">
              <a:alpha val="12000"/>
            </a:srgbClr>
          </a:solidFill>
          <a:ln w="9525">
            <a:solidFill>
              <a:srgbClr val="E2B544"/>
            </a:solidFill>
            <a:prstDash val="dash"/>
          </a:ln>
        </p:spPr>
      </p:sp>
      <p:sp>
        <p:nvSpPr>
          <p:cNvPr id="39" name="!!obandl"/>
          <p:cNvSpPr txBox="1"/>
          <p:nvPr/>
        </p:nvSpPr>
        <p:spPr>
          <a:xfrm>
            <a:off x="7818120" y="53583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30-minute average</a:t>
            </a:r>
            <a:endParaRPr lang="en-US" sz="1000" dirty="0"/>
          </a:p>
        </p:txBody>
      </p:sp>
      <p:pic>
        <p:nvPicPr>
          <p:cNvPr id="40" name="!!feed0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8">
            <a:alphaModFix amt="0"/>
          </a:blip>
          <a:stretch>
            <a:fillRect/>
          </a:stretch>
        </p:blipFill>
        <p:spPr>
          <a:xfrm>
            <a:off x="8366760" y="4261104"/>
            <a:ext cx="493776" cy="493776"/>
          </a:xfrm>
          <a:prstGeom prst="rect">
            <a:avLst/>
          </a:prstGeom>
        </p:spPr>
      </p:pic>
      <p:pic>
        <p:nvPicPr>
          <p:cNvPr id="41" name="!!feed1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760" y="4261104"/>
            <a:ext cx="493776" cy="493776"/>
          </a:xfrm>
          <a:prstGeom prst="rect">
            <a:avLst/>
          </a:prstGeom>
        </p:spPr>
      </p:pic>
      <p:pic>
        <p:nvPicPr>
          <p:cNvPr id="42" name="!!feed2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0">
            <a:alphaModFix amt="0"/>
          </a:blip>
          <a:stretch>
            <a:fillRect/>
          </a:stretch>
        </p:blipFill>
        <p:spPr>
          <a:xfrm>
            <a:off x="8366760" y="4261104"/>
            <a:ext cx="493776" cy="493776"/>
          </a:xfrm>
          <a:prstGeom prst="rect">
            <a:avLst/>
          </a:prstGeom>
        </p:spPr>
      </p:pic>
      <p:pic>
        <p:nvPicPr>
          <p:cNvPr id="43" name="!!feed3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1">
            <a:alphaModFix amt="0"/>
          </a:blip>
          <a:stretch>
            <a:fillRect/>
          </a:stretch>
        </p:blipFill>
        <p:spPr>
          <a:xfrm>
            <a:off x="8366760" y="4261104"/>
            <a:ext cx="493776" cy="493776"/>
          </a:xfrm>
          <a:prstGeom prst="rect">
            <a:avLst/>
          </a:prstGeom>
        </p:spPr>
      </p:pic>
      <p:pic>
        <p:nvPicPr>
          <p:cNvPr id="44" name="!!feed4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12">
            <a:alphaModFix amt="0"/>
          </a:blip>
          <a:stretch>
            <a:fillRect/>
          </a:stretch>
        </p:blipFill>
        <p:spPr>
          <a:xfrm>
            <a:off x="4663440" y="5221224"/>
            <a:ext cx="274320" cy="274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price is a decision the protocol makes, not data it simply reads.</a:t>
            </a:r>
            <a:endParaRPr lang="en-US" sz="1700" dirty="0"/>
          </a:p>
        </p:txBody>
      </p:sp>
      <p:sp>
        <p:nvSpPr>
          <p:cNvPr id="23" name="!!chipoa0"/>
          <p:cNvSpPr/>
          <p:nvPr/>
        </p:nvSpPr>
        <p:spPr>
          <a:xfrm>
            <a:off x="4480560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4" name="!!chiptoa0"/>
          <p:cNvSpPr txBox="1"/>
          <p:nvPr/>
        </p:nvSpPr>
        <p:spPr>
          <a:xfrm>
            <a:off x="4553712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sources, 3 s timeout</a:t>
            </a:r>
            <a:endParaRPr lang="en-US" sz="1100" dirty="0"/>
          </a:p>
        </p:txBody>
      </p:sp>
      <p:sp>
        <p:nvSpPr>
          <p:cNvPr id="25" name="!!chipoa1"/>
          <p:cNvSpPr/>
          <p:nvPr/>
        </p:nvSpPr>
        <p:spPr>
          <a:xfrm>
            <a:off x="6222492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6" name="!!chiptoa1"/>
          <p:cNvSpPr txBox="1"/>
          <p:nvPr/>
        </p:nvSpPr>
        <p:spPr>
          <a:xfrm>
            <a:off x="6295644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dead or stale</a:t>
            </a:r>
            <a:endParaRPr lang="en-US" sz="1100" dirty="0"/>
          </a:p>
        </p:txBody>
      </p:sp>
      <p:sp>
        <p:nvSpPr>
          <p:cNvPr id="27" name="!!chipoa2"/>
          <p:cNvSpPr/>
          <p:nvPr/>
        </p:nvSpPr>
        <p:spPr>
          <a:xfrm>
            <a:off x="7964424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8" name="!!chiptoa2"/>
          <p:cNvSpPr txBox="1"/>
          <p:nvPr/>
        </p:nvSpPr>
        <p:spPr>
          <a:xfrm>
            <a:off x="8037576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quorum ≥ 3</a:t>
            </a:r>
            <a:endParaRPr lang="en-US" sz="1100" dirty="0"/>
          </a:p>
        </p:txBody>
      </p:sp>
      <p:sp>
        <p:nvSpPr>
          <p:cNvPr id="29" name="!!chipoa3"/>
          <p:cNvSpPr/>
          <p:nvPr/>
        </p:nvSpPr>
        <p:spPr>
          <a:xfrm>
            <a:off x="9706356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0" name="!!chiptoa3"/>
          <p:cNvSpPr txBox="1"/>
          <p:nvPr/>
        </p:nvSpPr>
        <p:spPr>
          <a:xfrm>
            <a:off x="9779508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</a:t>
            </a:r>
            <a:endParaRPr lang="en-US" sz="1100" dirty="0"/>
          </a:p>
        </p:txBody>
      </p:sp>
      <p:sp>
        <p:nvSpPr>
          <p:cNvPr id="31" name="!!chipob0"/>
          <p:cNvSpPr/>
          <p:nvPr/>
        </p:nvSpPr>
        <p:spPr>
          <a:xfrm>
            <a:off x="4480560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2" name="!!chiptob0"/>
          <p:cNvSpPr txBox="1"/>
          <p:nvPr/>
        </p:nvSpPr>
        <p:spPr>
          <a:xfrm>
            <a:off x="4553712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≤ 10% from 30-minute average</a:t>
            </a:r>
            <a:endParaRPr lang="en-US" sz="1100" dirty="0"/>
          </a:p>
        </p:txBody>
      </p:sp>
      <p:sp>
        <p:nvSpPr>
          <p:cNvPr id="33" name="!!chipob1"/>
          <p:cNvSpPr/>
          <p:nvPr/>
        </p:nvSpPr>
        <p:spPr>
          <a:xfrm>
            <a:off x="6803136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2A2110"/>
          </a:solidFill>
          <a:ln w="19050">
            <a:solidFill>
              <a:srgbClr val="E2B544"/>
            </a:solidFill>
            <a:prstDash val="solid"/>
          </a:ln>
        </p:spPr>
      </p:sp>
      <p:sp>
        <p:nvSpPr>
          <p:cNvPr id="34" name="!!chiptob1"/>
          <p:cNvSpPr txBox="1"/>
          <p:nvPr/>
        </p:nvSpPr>
        <p:spPr>
          <a:xfrm>
            <a:off x="6876288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 ID increases</a:t>
            </a:r>
            <a:endParaRPr lang="en-US" sz="1100" dirty="0"/>
          </a:p>
        </p:txBody>
      </p:sp>
      <p:sp>
        <p:nvSpPr>
          <p:cNvPr id="35" name="!!chipob2"/>
          <p:cNvSpPr/>
          <p:nvPr/>
        </p:nvSpPr>
        <p:spPr>
          <a:xfrm>
            <a:off x="9125712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!!chiptob2"/>
          <p:cNvSpPr txBox="1"/>
          <p:nvPr/>
        </p:nvSpPr>
        <p:spPr>
          <a:xfrm>
            <a:off x="9198864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 ML-DSA-44, commit</a:t>
            </a:r>
            <a:endParaRPr lang="en-US" sz="1100" dirty="0"/>
          </a:p>
        </p:txBody>
      </p:sp>
      <p:sp>
        <p:nvSpPr>
          <p:cNvPr id="37" name="!!olane"/>
          <p:cNvSpPr/>
          <p:nvPr/>
        </p:nvSpPr>
        <p:spPr>
          <a:xfrm>
            <a:off x="4572000" y="4507992"/>
            <a:ext cx="667512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dash"/>
          </a:ln>
        </p:spPr>
      </p:sp>
      <p:sp>
        <p:nvSpPr>
          <p:cNvPr id="38" name="!!oband"/>
          <p:cNvSpPr/>
          <p:nvPr/>
        </p:nvSpPr>
        <p:spPr>
          <a:xfrm>
            <a:off x="8046720" y="3703320"/>
            <a:ext cx="1051560" cy="1609344"/>
          </a:xfrm>
          <a:prstGeom prst="rect">
            <a:avLst/>
          </a:prstGeom>
          <a:solidFill>
            <a:srgbClr val="E2B544">
              <a:alpha val="12000"/>
            </a:srgbClr>
          </a:solidFill>
          <a:ln w="9525">
            <a:solidFill>
              <a:srgbClr val="E2B544"/>
            </a:solidFill>
            <a:prstDash val="dash"/>
          </a:ln>
        </p:spPr>
      </p:sp>
      <p:sp>
        <p:nvSpPr>
          <p:cNvPr id="39" name="!!obandl"/>
          <p:cNvSpPr txBox="1"/>
          <p:nvPr/>
        </p:nvSpPr>
        <p:spPr>
          <a:xfrm>
            <a:off x="7818120" y="53583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30-minute average</a:t>
            </a:r>
            <a:endParaRPr lang="en-US" sz="1000" dirty="0"/>
          </a:p>
        </p:txBody>
      </p:sp>
      <p:pic>
        <p:nvPicPr>
          <p:cNvPr id="40" name="!!oround0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5480" y="4370832"/>
            <a:ext cx="274320" cy="274320"/>
          </a:xfrm>
          <a:prstGeom prst="rect">
            <a:avLst/>
          </a:prstGeom>
        </p:spPr>
      </p:pic>
      <p:pic>
        <p:nvPicPr>
          <p:cNvPr id="41" name="!!oround1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2952" y="4370832"/>
            <a:ext cx="274320" cy="274320"/>
          </a:xfrm>
          <a:prstGeom prst="rect">
            <a:avLst/>
          </a:prstGeom>
        </p:spPr>
      </p:pic>
      <p:pic>
        <p:nvPicPr>
          <p:cNvPr id="42" name="!!oround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0424" y="4370832"/>
            <a:ext cx="274320" cy="274320"/>
          </a:xfrm>
          <a:prstGeom prst="rect">
            <a:avLst/>
          </a:prstGeom>
        </p:spPr>
      </p:pic>
      <p:pic>
        <p:nvPicPr>
          <p:cNvPr id="43" name="!!feed0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1">
            <a:alphaModFix amt="0"/>
          </a:blip>
          <a:stretch>
            <a:fillRect/>
          </a:stretch>
        </p:blipFill>
        <p:spPr>
          <a:xfrm>
            <a:off x="8366760" y="4261104"/>
            <a:ext cx="493776" cy="493776"/>
          </a:xfrm>
          <a:prstGeom prst="rect">
            <a:avLst/>
          </a:prstGeom>
        </p:spPr>
      </p:pic>
      <p:pic>
        <p:nvPicPr>
          <p:cNvPr id="44" name="!!feed1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43616" y="4261104"/>
            <a:ext cx="493776" cy="493776"/>
          </a:xfrm>
          <a:prstGeom prst="rect">
            <a:avLst/>
          </a:prstGeom>
        </p:spPr>
      </p:pic>
      <p:pic>
        <p:nvPicPr>
          <p:cNvPr id="45" name="!!feed2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3">
            <a:alphaModFix amt="0"/>
          </a:blip>
          <a:stretch>
            <a:fillRect/>
          </a:stretch>
        </p:blipFill>
        <p:spPr>
          <a:xfrm>
            <a:off x="8366760" y="4261104"/>
            <a:ext cx="493776" cy="493776"/>
          </a:xfrm>
          <a:prstGeom prst="rect">
            <a:avLst/>
          </a:prstGeom>
        </p:spPr>
      </p:pic>
      <p:pic>
        <p:nvPicPr>
          <p:cNvPr id="46" name="!!feed3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4">
            <a:alphaModFix amt="0"/>
          </a:blip>
          <a:stretch>
            <a:fillRect/>
          </a:stretch>
        </p:blipFill>
        <p:spPr>
          <a:xfrm>
            <a:off x="8366760" y="4261104"/>
            <a:ext cx="493776" cy="493776"/>
          </a:xfrm>
          <a:prstGeom prst="rect">
            <a:avLst/>
          </a:prstGeom>
        </p:spPr>
      </p:pic>
      <p:pic>
        <p:nvPicPr>
          <p:cNvPr id="47" name="!!feed4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15">
            <a:alphaModFix amt="0"/>
          </a:blip>
          <a:stretch>
            <a:fillRect/>
          </a:stretch>
        </p:blipFill>
        <p:spPr>
          <a:xfrm>
            <a:off x="4663440" y="5221224"/>
            <a:ext cx="274320" cy="274320"/>
          </a:xfrm>
          <a:prstGeom prst="rect">
            <a:avLst/>
          </a:prstGeom>
        </p:spPr>
      </p:pic>
      <p:sp>
        <p:nvSpPr>
          <p:cNvPr id="48" name="!!oroundl"/>
          <p:cNvSpPr txBox="1"/>
          <p:nvPr/>
        </p:nvSpPr>
        <p:spPr>
          <a:xfrm>
            <a:off x="9464040" y="53583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 ID increases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38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price is a decision the protocol makes, not data it simply reads.</a:t>
            </a:r>
            <a:endParaRPr lang="en-US" sz="1700" dirty="0"/>
          </a:p>
        </p:txBody>
      </p:sp>
      <p:sp>
        <p:nvSpPr>
          <p:cNvPr id="23" name="!!chipoa0"/>
          <p:cNvSpPr/>
          <p:nvPr/>
        </p:nvSpPr>
        <p:spPr>
          <a:xfrm>
            <a:off x="4480560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4" name="!!chiptoa0"/>
          <p:cNvSpPr txBox="1"/>
          <p:nvPr/>
        </p:nvSpPr>
        <p:spPr>
          <a:xfrm>
            <a:off x="4553712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sources, 3 s timeout</a:t>
            </a:r>
            <a:endParaRPr lang="en-US" sz="1100" dirty="0"/>
          </a:p>
        </p:txBody>
      </p:sp>
      <p:sp>
        <p:nvSpPr>
          <p:cNvPr id="25" name="!!chipoa1"/>
          <p:cNvSpPr/>
          <p:nvPr/>
        </p:nvSpPr>
        <p:spPr>
          <a:xfrm>
            <a:off x="6222492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6" name="!!chiptoa1"/>
          <p:cNvSpPr txBox="1"/>
          <p:nvPr/>
        </p:nvSpPr>
        <p:spPr>
          <a:xfrm>
            <a:off x="6295644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dead or stale</a:t>
            </a:r>
            <a:endParaRPr lang="en-US" sz="1100" dirty="0"/>
          </a:p>
        </p:txBody>
      </p:sp>
      <p:sp>
        <p:nvSpPr>
          <p:cNvPr id="27" name="!!chipoa2"/>
          <p:cNvSpPr/>
          <p:nvPr/>
        </p:nvSpPr>
        <p:spPr>
          <a:xfrm>
            <a:off x="7964424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8" name="!!chiptoa2"/>
          <p:cNvSpPr txBox="1"/>
          <p:nvPr/>
        </p:nvSpPr>
        <p:spPr>
          <a:xfrm>
            <a:off x="8037576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quorum ≥ 3</a:t>
            </a:r>
            <a:endParaRPr lang="en-US" sz="1100" dirty="0"/>
          </a:p>
        </p:txBody>
      </p:sp>
      <p:sp>
        <p:nvSpPr>
          <p:cNvPr id="29" name="!!chipoa3"/>
          <p:cNvSpPr/>
          <p:nvPr/>
        </p:nvSpPr>
        <p:spPr>
          <a:xfrm>
            <a:off x="9706356" y="2514600"/>
            <a:ext cx="1632204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0" name="!!chiptoa3"/>
          <p:cNvSpPr txBox="1"/>
          <p:nvPr/>
        </p:nvSpPr>
        <p:spPr>
          <a:xfrm>
            <a:off x="9779508" y="2569464"/>
            <a:ext cx="1485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</a:t>
            </a:r>
            <a:endParaRPr lang="en-US" sz="1100" dirty="0"/>
          </a:p>
        </p:txBody>
      </p:sp>
      <p:sp>
        <p:nvSpPr>
          <p:cNvPr id="31" name="!!chipob0"/>
          <p:cNvSpPr/>
          <p:nvPr/>
        </p:nvSpPr>
        <p:spPr>
          <a:xfrm>
            <a:off x="4480560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2" name="!!chiptob0"/>
          <p:cNvSpPr txBox="1"/>
          <p:nvPr/>
        </p:nvSpPr>
        <p:spPr>
          <a:xfrm>
            <a:off x="4553712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≤ 10% from 30-minute average</a:t>
            </a:r>
            <a:endParaRPr lang="en-US" sz="1100" dirty="0"/>
          </a:p>
        </p:txBody>
      </p:sp>
      <p:sp>
        <p:nvSpPr>
          <p:cNvPr id="33" name="!!chipob1"/>
          <p:cNvSpPr/>
          <p:nvPr/>
        </p:nvSpPr>
        <p:spPr>
          <a:xfrm>
            <a:off x="6803136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!!chiptob1"/>
          <p:cNvSpPr txBox="1"/>
          <p:nvPr/>
        </p:nvSpPr>
        <p:spPr>
          <a:xfrm>
            <a:off x="6876288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 ID increases</a:t>
            </a:r>
            <a:endParaRPr lang="en-US" sz="1100" dirty="0"/>
          </a:p>
        </p:txBody>
      </p:sp>
      <p:sp>
        <p:nvSpPr>
          <p:cNvPr id="35" name="!!chipob2"/>
          <p:cNvSpPr/>
          <p:nvPr/>
        </p:nvSpPr>
        <p:spPr>
          <a:xfrm>
            <a:off x="9125712" y="3044952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2A2110"/>
          </a:solidFill>
          <a:ln w="19050">
            <a:solidFill>
              <a:srgbClr val="E2B544"/>
            </a:solidFill>
            <a:prstDash val="solid"/>
          </a:ln>
        </p:spPr>
      </p:sp>
      <p:sp>
        <p:nvSpPr>
          <p:cNvPr id="36" name="!!chiptob2"/>
          <p:cNvSpPr txBox="1"/>
          <p:nvPr/>
        </p:nvSpPr>
        <p:spPr>
          <a:xfrm>
            <a:off x="9198864" y="309981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 ML-DSA-44, commit</a:t>
            </a:r>
            <a:endParaRPr lang="en-US" sz="1100" dirty="0"/>
          </a:p>
        </p:txBody>
      </p:sp>
      <p:sp>
        <p:nvSpPr>
          <p:cNvPr id="37" name="!!olane"/>
          <p:cNvSpPr/>
          <p:nvPr/>
        </p:nvSpPr>
        <p:spPr>
          <a:xfrm>
            <a:off x="4572000" y="4507992"/>
            <a:ext cx="667512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dash"/>
          </a:ln>
        </p:spPr>
      </p:sp>
      <p:sp>
        <p:nvSpPr>
          <p:cNvPr id="38" name="!!oband"/>
          <p:cNvSpPr/>
          <p:nvPr/>
        </p:nvSpPr>
        <p:spPr>
          <a:xfrm>
            <a:off x="8046720" y="3703320"/>
            <a:ext cx="1051560" cy="1609344"/>
          </a:xfrm>
          <a:prstGeom prst="rect">
            <a:avLst/>
          </a:prstGeom>
          <a:solidFill>
            <a:srgbClr val="E2B544">
              <a:alpha val="12000"/>
            </a:srgbClr>
          </a:solidFill>
          <a:ln w="9525">
            <a:solidFill>
              <a:srgbClr val="E2B544"/>
            </a:solidFill>
            <a:prstDash val="dash"/>
          </a:ln>
        </p:spPr>
      </p:sp>
      <p:sp>
        <p:nvSpPr>
          <p:cNvPr id="39" name="!!obandl"/>
          <p:cNvSpPr txBox="1"/>
          <p:nvPr/>
        </p:nvSpPr>
        <p:spPr>
          <a:xfrm>
            <a:off x="7818120" y="53583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30-minute average</a:t>
            </a:r>
            <a:endParaRPr lang="en-US" sz="1000" dirty="0"/>
          </a:p>
        </p:txBody>
      </p:sp>
      <p:pic>
        <p:nvPicPr>
          <p:cNvPr id="40" name="!!oround0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5480" y="4370832"/>
            <a:ext cx="274320" cy="274320"/>
          </a:xfrm>
          <a:prstGeom prst="rect">
            <a:avLst/>
          </a:prstGeom>
        </p:spPr>
      </p:pic>
      <p:pic>
        <p:nvPicPr>
          <p:cNvPr id="41" name="!!oround1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2952" y="4370832"/>
            <a:ext cx="274320" cy="274320"/>
          </a:xfrm>
          <a:prstGeom prst="rect">
            <a:avLst/>
          </a:prstGeom>
        </p:spPr>
      </p:pic>
      <p:pic>
        <p:nvPicPr>
          <p:cNvPr id="42" name="!!oround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0424" y="4370832"/>
            <a:ext cx="274320" cy="274320"/>
          </a:xfrm>
          <a:prstGeom prst="rect">
            <a:avLst/>
          </a:prstGeom>
        </p:spPr>
      </p:pic>
      <p:pic>
        <p:nvPicPr>
          <p:cNvPr id="43" name="!!feed0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1">
            <a:alphaModFix amt="0"/>
          </a:blip>
          <a:stretch>
            <a:fillRect/>
          </a:stretch>
        </p:blipFill>
        <p:spPr>
          <a:xfrm>
            <a:off x="8366760" y="4261104"/>
            <a:ext cx="493776" cy="493776"/>
          </a:xfrm>
          <a:prstGeom prst="rect">
            <a:avLst/>
          </a:prstGeom>
        </p:spPr>
      </p:pic>
      <p:pic>
        <p:nvPicPr>
          <p:cNvPr id="44" name="!!feed1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43616" y="4224528"/>
            <a:ext cx="566928" cy="566928"/>
          </a:xfrm>
          <a:prstGeom prst="rect">
            <a:avLst/>
          </a:prstGeom>
        </p:spPr>
      </p:pic>
      <p:pic>
        <p:nvPicPr>
          <p:cNvPr id="45" name="!!feed2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3">
            <a:alphaModFix amt="0"/>
          </a:blip>
          <a:stretch>
            <a:fillRect/>
          </a:stretch>
        </p:blipFill>
        <p:spPr>
          <a:xfrm>
            <a:off x="8366760" y="4261104"/>
            <a:ext cx="493776" cy="493776"/>
          </a:xfrm>
          <a:prstGeom prst="rect">
            <a:avLst/>
          </a:prstGeom>
        </p:spPr>
      </p:pic>
      <p:pic>
        <p:nvPicPr>
          <p:cNvPr id="46" name="!!feed3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4">
            <a:alphaModFix amt="0"/>
          </a:blip>
          <a:stretch>
            <a:fillRect/>
          </a:stretch>
        </p:blipFill>
        <p:spPr>
          <a:xfrm>
            <a:off x="8366760" y="4261104"/>
            <a:ext cx="493776" cy="493776"/>
          </a:xfrm>
          <a:prstGeom prst="rect">
            <a:avLst/>
          </a:prstGeom>
        </p:spPr>
      </p:pic>
      <p:pic>
        <p:nvPicPr>
          <p:cNvPr id="47" name="!!feed4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15">
            <a:alphaModFix amt="0"/>
          </a:blip>
          <a:stretch>
            <a:fillRect/>
          </a:stretch>
        </p:blipFill>
        <p:spPr>
          <a:xfrm>
            <a:off x="4663440" y="5221224"/>
            <a:ext cx="274320" cy="274320"/>
          </a:xfrm>
          <a:prstGeom prst="rect">
            <a:avLst/>
          </a:prstGeom>
        </p:spPr>
      </p:pic>
      <p:sp>
        <p:nvSpPr>
          <p:cNvPr id="48" name="!!oroundl"/>
          <p:cNvSpPr txBox="1"/>
          <p:nvPr/>
        </p:nvSpPr>
        <p:spPr>
          <a:xfrm>
            <a:off x="9464040" y="53583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 ID increases</a:t>
            </a:r>
            <a:endParaRPr lang="en-US" sz="1000" dirty="0"/>
          </a:p>
        </p:txBody>
      </p:sp>
      <p:sp>
        <p:nvSpPr>
          <p:cNvPr id="49" name="!!ocommit"/>
          <p:cNvSpPr txBox="1"/>
          <p:nvPr/>
        </p:nvSpPr>
        <p:spPr>
          <a:xfrm>
            <a:off x="10012680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signed · committed</a:t>
            </a:r>
            <a:endParaRPr lang="en-US" sz="1100" dirty="0"/>
          </a:p>
        </p:txBody>
      </p:sp>
      <p:sp>
        <p:nvSpPr>
          <p:cNvPr id="50" name="!!why"/>
          <p:cNvSpPr txBox="1"/>
          <p:nvPr/>
        </p:nvSpPr>
        <p:spPr>
          <a:xfrm>
            <a:off x="4480560" y="56509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holds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Quorum: 2 dead feeds · median: 2 corrupted · 30-minute average: even 3 moving together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39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Moves money between PKR and USDC.</a:t>
            </a:r>
            <a:endParaRPr lang="en-US" sz="1700" dirty="0"/>
          </a:p>
        </p:txBody>
      </p:sp>
      <p:sp>
        <p:nvSpPr>
          <p:cNvPr id="23" name="Text 14"/>
          <p:cNvSpPr txBox="1"/>
          <p:nvPr/>
        </p:nvSpPr>
        <p:spPr>
          <a:xfrm>
            <a:off x="4480560" y="3355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DEPOSIT</a:t>
            </a:r>
            <a:endParaRPr lang="en-US" sz="1100" dirty="0"/>
          </a:p>
        </p:txBody>
      </p:sp>
      <p:sp>
        <p:nvSpPr>
          <p:cNvPr id="24" name="!!chipdep0"/>
          <p:cNvSpPr/>
          <p:nvPr/>
        </p:nvSpPr>
        <p:spPr>
          <a:xfrm>
            <a:off x="5669280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2A2110"/>
          </a:solidFill>
          <a:ln w="19050">
            <a:solidFill>
              <a:srgbClr val="E2B544"/>
            </a:solidFill>
            <a:prstDash val="solid"/>
          </a:ln>
        </p:spPr>
      </p:sp>
      <p:sp>
        <p:nvSpPr>
          <p:cNvPr id="25" name="!!chiptdep0"/>
          <p:cNvSpPr txBox="1"/>
          <p:nvPr/>
        </p:nvSpPr>
        <p:spPr>
          <a:xfrm>
            <a:off x="5742432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</a:t>
            </a:r>
            <a:endParaRPr lang="en-US" sz="1300" dirty="0"/>
          </a:p>
        </p:txBody>
      </p:sp>
      <p:sp>
        <p:nvSpPr>
          <p:cNvPr id="26" name="!!chipdep1"/>
          <p:cNvSpPr/>
          <p:nvPr/>
        </p:nvSpPr>
        <p:spPr>
          <a:xfrm>
            <a:off x="7114032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7" name="!!chiptdep1"/>
          <p:cNvSpPr txBox="1"/>
          <p:nvPr/>
        </p:nvSpPr>
        <p:spPr>
          <a:xfrm>
            <a:off x="7187184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credit</a:t>
            </a:r>
            <a:endParaRPr lang="en-US" sz="1300" dirty="0"/>
          </a:p>
        </p:txBody>
      </p:sp>
      <p:sp>
        <p:nvSpPr>
          <p:cNvPr id="28" name="!!chipdep2"/>
          <p:cNvSpPr/>
          <p:nvPr/>
        </p:nvSpPr>
        <p:spPr>
          <a:xfrm>
            <a:off x="8558784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9" name="!!chiptdep2"/>
          <p:cNvSpPr txBox="1"/>
          <p:nvPr/>
        </p:nvSpPr>
        <p:spPr>
          <a:xfrm>
            <a:off x="8631936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test-net USDC</a:t>
            </a:r>
            <a:endParaRPr lang="en-US" sz="1300" dirty="0"/>
          </a:p>
        </p:txBody>
      </p:sp>
      <p:sp>
        <p:nvSpPr>
          <p:cNvPr id="30" name="!!chipdep3"/>
          <p:cNvSpPr/>
          <p:nvPr/>
        </p:nvSpPr>
        <p:spPr>
          <a:xfrm>
            <a:off x="10003536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1" name="!!chiptdep3"/>
          <p:cNvSpPr txBox="1"/>
          <p:nvPr/>
        </p:nvSpPr>
        <p:spPr>
          <a:xfrm>
            <a:off x="10076688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vault shares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4480560" y="4544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WITHDRAW</a:t>
            </a:r>
            <a:endParaRPr lang="en-US" sz="1100" dirty="0"/>
          </a:p>
        </p:txBody>
      </p:sp>
      <p:sp>
        <p:nvSpPr>
          <p:cNvPr id="33" name="!!chipwdr0"/>
          <p:cNvSpPr/>
          <p:nvPr/>
        </p:nvSpPr>
        <p:spPr>
          <a:xfrm>
            <a:off x="5669280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!!chiptwdr0"/>
          <p:cNvSpPr txBox="1"/>
          <p:nvPr/>
        </p:nvSpPr>
        <p:spPr>
          <a:xfrm>
            <a:off x="5742432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shares redeemed</a:t>
            </a:r>
            <a:endParaRPr lang="en-US" sz="1300" dirty="0"/>
          </a:p>
        </p:txBody>
      </p:sp>
      <p:sp>
        <p:nvSpPr>
          <p:cNvPr id="35" name="!!chipwdr1"/>
          <p:cNvSpPr/>
          <p:nvPr/>
        </p:nvSpPr>
        <p:spPr>
          <a:xfrm>
            <a:off x="7114032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!!chiptwdr1"/>
          <p:cNvSpPr txBox="1"/>
          <p:nvPr/>
        </p:nvSpPr>
        <p:spPr>
          <a:xfrm>
            <a:off x="7187184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USDC</a:t>
            </a:r>
            <a:endParaRPr lang="en-US" sz="1300" dirty="0"/>
          </a:p>
        </p:txBody>
      </p:sp>
      <p:sp>
        <p:nvSpPr>
          <p:cNvPr id="37" name="!!chipwdr2"/>
          <p:cNvSpPr/>
          <p:nvPr/>
        </p:nvSpPr>
        <p:spPr>
          <a:xfrm>
            <a:off x="8558784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8" name="!!chiptwdr2"/>
          <p:cNvSpPr txBox="1"/>
          <p:nvPr/>
        </p:nvSpPr>
        <p:spPr>
          <a:xfrm>
            <a:off x="8631936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debit</a:t>
            </a:r>
            <a:endParaRPr lang="en-US" sz="1300" dirty="0"/>
          </a:p>
        </p:txBody>
      </p:sp>
      <p:sp>
        <p:nvSpPr>
          <p:cNvPr id="39" name="!!chipwdr3"/>
          <p:cNvSpPr/>
          <p:nvPr/>
        </p:nvSpPr>
        <p:spPr>
          <a:xfrm>
            <a:off x="10003536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0" name="!!chiptwdr3"/>
          <p:cNvSpPr txBox="1"/>
          <p:nvPr/>
        </p:nvSpPr>
        <p:spPr>
          <a:xfrm>
            <a:off x="10076688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 out</a:t>
            </a:r>
            <a:endParaRPr lang="en-US" sz="1300" dirty="0"/>
          </a:p>
        </p:txBody>
      </p:sp>
      <p:pic>
        <p:nvPicPr>
          <p:cNvPr id="41" name="!!money" descr="C:\Users\USER\AppData\Local\Temp\claude\C--Users-USER-OneDrive-Desktop-RWA-vault\22c0d93f-95db-488a-9ad8-cfe9b0a46593\scratchpad\deck\art5\pkr_sil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2542032"/>
            <a:ext cx="603504" cy="603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Moves money between PKR and USDC.</a:t>
            </a:r>
            <a:endParaRPr lang="en-US" sz="1700" dirty="0"/>
          </a:p>
        </p:txBody>
      </p:sp>
      <p:sp>
        <p:nvSpPr>
          <p:cNvPr id="23" name="Text 14"/>
          <p:cNvSpPr txBox="1"/>
          <p:nvPr/>
        </p:nvSpPr>
        <p:spPr>
          <a:xfrm>
            <a:off x="4480560" y="3355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DEPOSIT</a:t>
            </a:r>
            <a:endParaRPr lang="en-US" sz="1100" dirty="0"/>
          </a:p>
        </p:txBody>
      </p:sp>
      <p:sp>
        <p:nvSpPr>
          <p:cNvPr id="24" name="!!chipdep0"/>
          <p:cNvSpPr/>
          <p:nvPr/>
        </p:nvSpPr>
        <p:spPr>
          <a:xfrm>
            <a:off x="5669280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5" name="!!chiptdep0"/>
          <p:cNvSpPr txBox="1"/>
          <p:nvPr/>
        </p:nvSpPr>
        <p:spPr>
          <a:xfrm>
            <a:off x="5742432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</a:t>
            </a:r>
            <a:endParaRPr lang="en-US" sz="1300" dirty="0"/>
          </a:p>
        </p:txBody>
      </p:sp>
      <p:sp>
        <p:nvSpPr>
          <p:cNvPr id="26" name="!!chipdep1"/>
          <p:cNvSpPr/>
          <p:nvPr/>
        </p:nvSpPr>
        <p:spPr>
          <a:xfrm>
            <a:off x="7114032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2A2110"/>
          </a:solidFill>
          <a:ln w="19050">
            <a:solidFill>
              <a:srgbClr val="E2B544"/>
            </a:solidFill>
            <a:prstDash val="solid"/>
          </a:ln>
        </p:spPr>
      </p:sp>
      <p:sp>
        <p:nvSpPr>
          <p:cNvPr id="27" name="!!chiptdep1"/>
          <p:cNvSpPr txBox="1"/>
          <p:nvPr/>
        </p:nvSpPr>
        <p:spPr>
          <a:xfrm>
            <a:off x="7187184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credit</a:t>
            </a:r>
            <a:endParaRPr lang="en-US" sz="1300" dirty="0"/>
          </a:p>
        </p:txBody>
      </p:sp>
      <p:sp>
        <p:nvSpPr>
          <p:cNvPr id="28" name="!!chipdep2"/>
          <p:cNvSpPr/>
          <p:nvPr/>
        </p:nvSpPr>
        <p:spPr>
          <a:xfrm>
            <a:off x="8558784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9" name="!!chiptdep2"/>
          <p:cNvSpPr txBox="1"/>
          <p:nvPr/>
        </p:nvSpPr>
        <p:spPr>
          <a:xfrm>
            <a:off x="8631936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test-net USDC</a:t>
            </a:r>
            <a:endParaRPr lang="en-US" sz="1300" dirty="0"/>
          </a:p>
        </p:txBody>
      </p:sp>
      <p:sp>
        <p:nvSpPr>
          <p:cNvPr id="30" name="!!chipdep3"/>
          <p:cNvSpPr/>
          <p:nvPr/>
        </p:nvSpPr>
        <p:spPr>
          <a:xfrm>
            <a:off x="10003536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1" name="!!chiptdep3"/>
          <p:cNvSpPr txBox="1"/>
          <p:nvPr/>
        </p:nvSpPr>
        <p:spPr>
          <a:xfrm>
            <a:off x="10076688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vault shares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4480560" y="4544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WITHDRAW</a:t>
            </a:r>
            <a:endParaRPr lang="en-US" sz="1100" dirty="0"/>
          </a:p>
        </p:txBody>
      </p:sp>
      <p:sp>
        <p:nvSpPr>
          <p:cNvPr id="33" name="!!chipwdr0"/>
          <p:cNvSpPr/>
          <p:nvPr/>
        </p:nvSpPr>
        <p:spPr>
          <a:xfrm>
            <a:off x="5669280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!!chiptwdr0"/>
          <p:cNvSpPr txBox="1"/>
          <p:nvPr/>
        </p:nvSpPr>
        <p:spPr>
          <a:xfrm>
            <a:off x="5742432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shares redeemed</a:t>
            </a:r>
            <a:endParaRPr lang="en-US" sz="1300" dirty="0"/>
          </a:p>
        </p:txBody>
      </p:sp>
      <p:sp>
        <p:nvSpPr>
          <p:cNvPr id="35" name="!!chipwdr1"/>
          <p:cNvSpPr/>
          <p:nvPr/>
        </p:nvSpPr>
        <p:spPr>
          <a:xfrm>
            <a:off x="7114032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!!chiptwdr1"/>
          <p:cNvSpPr txBox="1"/>
          <p:nvPr/>
        </p:nvSpPr>
        <p:spPr>
          <a:xfrm>
            <a:off x="7187184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USDC</a:t>
            </a:r>
            <a:endParaRPr lang="en-US" sz="1300" dirty="0"/>
          </a:p>
        </p:txBody>
      </p:sp>
      <p:sp>
        <p:nvSpPr>
          <p:cNvPr id="37" name="!!chipwdr2"/>
          <p:cNvSpPr/>
          <p:nvPr/>
        </p:nvSpPr>
        <p:spPr>
          <a:xfrm>
            <a:off x="8558784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8" name="!!chiptwdr2"/>
          <p:cNvSpPr txBox="1"/>
          <p:nvPr/>
        </p:nvSpPr>
        <p:spPr>
          <a:xfrm>
            <a:off x="8631936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debit</a:t>
            </a:r>
            <a:endParaRPr lang="en-US" sz="1300" dirty="0"/>
          </a:p>
        </p:txBody>
      </p:sp>
      <p:sp>
        <p:nvSpPr>
          <p:cNvPr id="39" name="!!chipwdr3"/>
          <p:cNvSpPr/>
          <p:nvPr/>
        </p:nvSpPr>
        <p:spPr>
          <a:xfrm>
            <a:off x="10003536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0" name="!!chiptwdr3"/>
          <p:cNvSpPr txBox="1"/>
          <p:nvPr/>
        </p:nvSpPr>
        <p:spPr>
          <a:xfrm>
            <a:off x="10076688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 out</a:t>
            </a:r>
            <a:endParaRPr lang="en-US" sz="1300" dirty="0"/>
          </a:p>
        </p:txBody>
      </p:sp>
      <p:pic>
        <p:nvPicPr>
          <p:cNvPr id="41" name="!!money" descr="C:\Users\USER\AppData\Local\Temp\claude\C--Users-USER-OneDrive-Desktop-RWA-vault\22c0d93f-95db-488a-9ad8-cfe9b0a46593\scratchpad\deck\art5\pkr_sil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9792" y="2542032"/>
            <a:ext cx="603504" cy="603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41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Moves money between PKR and USDC.</a:t>
            </a:r>
            <a:endParaRPr lang="en-US" sz="1700" dirty="0"/>
          </a:p>
        </p:txBody>
      </p:sp>
      <p:sp>
        <p:nvSpPr>
          <p:cNvPr id="23" name="Text 14"/>
          <p:cNvSpPr txBox="1"/>
          <p:nvPr/>
        </p:nvSpPr>
        <p:spPr>
          <a:xfrm>
            <a:off x="4480560" y="3355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DEPOSIT</a:t>
            </a:r>
            <a:endParaRPr lang="en-US" sz="1100" dirty="0"/>
          </a:p>
        </p:txBody>
      </p:sp>
      <p:sp>
        <p:nvSpPr>
          <p:cNvPr id="24" name="!!chipdep0"/>
          <p:cNvSpPr/>
          <p:nvPr/>
        </p:nvSpPr>
        <p:spPr>
          <a:xfrm>
            <a:off x="5669280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5" name="!!chiptdep0"/>
          <p:cNvSpPr txBox="1"/>
          <p:nvPr/>
        </p:nvSpPr>
        <p:spPr>
          <a:xfrm>
            <a:off x="5742432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</a:t>
            </a:r>
            <a:endParaRPr lang="en-US" sz="1300" dirty="0"/>
          </a:p>
        </p:txBody>
      </p:sp>
      <p:sp>
        <p:nvSpPr>
          <p:cNvPr id="26" name="!!chipdep1"/>
          <p:cNvSpPr/>
          <p:nvPr/>
        </p:nvSpPr>
        <p:spPr>
          <a:xfrm>
            <a:off x="7114032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7" name="!!chiptdep1"/>
          <p:cNvSpPr txBox="1"/>
          <p:nvPr/>
        </p:nvSpPr>
        <p:spPr>
          <a:xfrm>
            <a:off x="7187184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credit</a:t>
            </a:r>
            <a:endParaRPr lang="en-US" sz="1300" dirty="0"/>
          </a:p>
        </p:txBody>
      </p:sp>
      <p:sp>
        <p:nvSpPr>
          <p:cNvPr id="28" name="!!chipdep2"/>
          <p:cNvSpPr/>
          <p:nvPr/>
        </p:nvSpPr>
        <p:spPr>
          <a:xfrm>
            <a:off x="8558784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2A2110"/>
          </a:solidFill>
          <a:ln w="19050">
            <a:solidFill>
              <a:srgbClr val="E2B544"/>
            </a:solidFill>
            <a:prstDash val="solid"/>
          </a:ln>
        </p:spPr>
      </p:sp>
      <p:sp>
        <p:nvSpPr>
          <p:cNvPr id="29" name="!!chiptdep2"/>
          <p:cNvSpPr txBox="1"/>
          <p:nvPr/>
        </p:nvSpPr>
        <p:spPr>
          <a:xfrm>
            <a:off x="8631936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test-net USDC</a:t>
            </a:r>
            <a:endParaRPr lang="en-US" sz="1300" dirty="0"/>
          </a:p>
        </p:txBody>
      </p:sp>
      <p:sp>
        <p:nvSpPr>
          <p:cNvPr id="30" name="!!chipdep3"/>
          <p:cNvSpPr/>
          <p:nvPr/>
        </p:nvSpPr>
        <p:spPr>
          <a:xfrm>
            <a:off x="10003536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1" name="!!chiptdep3"/>
          <p:cNvSpPr txBox="1"/>
          <p:nvPr/>
        </p:nvSpPr>
        <p:spPr>
          <a:xfrm>
            <a:off x="10076688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vault shares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4480560" y="4544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WITHDRAW</a:t>
            </a:r>
            <a:endParaRPr lang="en-US" sz="1100" dirty="0"/>
          </a:p>
        </p:txBody>
      </p:sp>
      <p:sp>
        <p:nvSpPr>
          <p:cNvPr id="33" name="!!chipwdr0"/>
          <p:cNvSpPr/>
          <p:nvPr/>
        </p:nvSpPr>
        <p:spPr>
          <a:xfrm>
            <a:off x="5669280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!!chiptwdr0"/>
          <p:cNvSpPr txBox="1"/>
          <p:nvPr/>
        </p:nvSpPr>
        <p:spPr>
          <a:xfrm>
            <a:off x="5742432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shares redeemed</a:t>
            </a:r>
            <a:endParaRPr lang="en-US" sz="1300" dirty="0"/>
          </a:p>
        </p:txBody>
      </p:sp>
      <p:sp>
        <p:nvSpPr>
          <p:cNvPr id="35" name="!!chipwdr1"/>
          <p:cNvSpPr/>
          <p:nvPr/>
        </p:nvSpPr>
        <p:spPr>
          <a:xfrm>
            <a:off x="7114032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!!chiptwdr1"/>
          <p:cNvSpPr txBox="1"/>
          <p:nvPr/>
        </p:nvSpPr>
        <p:spPr>
          <a:xfrm>
            <a:off x="7187184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USDC</a:t>
            </a:r>
            <a:endParaRPr lang="en-US" sz="1300" dirty="0"/>
          </a:p>
        </p:txBody>
      </p:sp>
      <p:sp>
        <p:nvSpPr>
          <p:cNvPr id="37" name="!!chipwdr2"/>
          <p:cNvSpPr/>
          <p:nvPr/>
        </p:nvSpPr>
        <p:spPr>
          <a:xfrm>
            <a:off x="8558784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8" name="!!chiptwdr2"/>
          <p:cNvSpPr txBox="1"/>
          <p:nvPr/>
        </p:nvSpPr>
        <p:spPr>
          <a:xfrm>
            <a:off x="8631936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debit</a:t>
            </a:r>
            <a:endParaRPr lang="en-US" sz="1300" dirty="0"/>
          </a:p>
        </p:txBody>
      </p:sp>
      <p:sp>
        <p:nvSpPr>
          <p:cNvPr id="39" name="!!chipwdr3"/>
          <p:cNvSpPr/>
          <p:nvPr/>
        </p:nvSpPr>
        <p:spPr>
          <a:xfrm>
            <a:off x="10003536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0" name="!!chiptwdr3"/>
          <p:cNvSpPr txBox="1"/>
          <p:nvPr/>
        </p:nvSpPr>
        <p:spPr>
          <a:xfrm>
            <a:off x="10076688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 out</a:t>
            </a:r>
            <a:endParaRPr lang="en-US" sz="1300" dirty="0"/>
          </a:p>
        </p:txBody>
      </p:sp>
      <p:pic>
        <p:nvPicPr>
          <p:cNvPr id="41" name="!!money" descr="C:\Users\USER\AppData\Local\Temp\claude\C--Users-USER-OneDrive-Desktop-RWA-vault\22c0d93f-95db-488a-9ad8-cfe9b0a46593\scratchpad\deck\art5\usdc_sil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4544" y="2542032"/>
            <a:ext cx="603504" cy="603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Moves money between PKR and USDC.</a:t>
            </a:r>
            <a:endParaRPr lang="en-US" sz="1700" dirty="0"/>
          </a:p>
        </p:txBody>
      </p:sp>
      <p:sp>
        <p:nvSpPr>
          <p:cNvPr id="23" name="Text 14"/>
          <p:cNvSpPr txBox="1"/>
          <p:nvPr/>
        </p:nvSpPr>
        <p:spPr>
          <a:xfrm>
            <a:off x="4480560" y="3355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DEPOSIT</a:t>
            </a:r>
            <a:endParaRPr lang="en-US" sz="1100" dirty="0"/>
          </a:p>
        </p:txBody>
      </p:sp>
      <p:sp>
        <p:nvSpPr>
          <p:cNvPr id="24" name="!!chipdep0"/>
          <p:cNvSpPr/>
          <p:nvPr/>
        </p:nvSpPr>
        <p:spPr>
          <a:xfrm>
            <a:off x="5669280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5" name="!!chiptdep0"/>
          <p:cNvSpPr txBox="1"/>
          <p:nvPr/>
        </p:nvSpPr>
        <p:spPr>
          <a:xfrm>
            <a:off x="5742432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</a:t>
            </a:r>
            <a:endParaRPr lang="en-US" sz="1300" dirty="0"/>
          </a:p>
        </p:txBody>
      </p:sp>
      <p:sp>
        <p:nvSpPr>
          <p:cNvPr id="26" name="!!chipdep1"/>
          <p:cNvSpPr/>
          <p:nvPr/>
        </p:nvSpPr>
        <p:spPr>
          <a:xfrm>
            <a:off x="7114032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7" name="!!chiptdep1"/>
          <p:cNvSpPr txBox="1"/>
          <p:nvPr/>
        </p:nvSpPr>
        <p:spPr>
          <a:xfrm>
            <a:off x="7187184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credit</a:t>
            </a:r>
            <a:endParaRPr lang="en-US" sz="1300" dirty="0"/>
          </a:p>
        </p:txBody>
      </p:sp>
      <p:sp>
        <p:nvSpPr>
          <p:cNvPr id="28" name="!!chipdep2"/>
          <p:cNvSpPr/>
          <p:nvPr/>
        </p:nvSpPr>
        <p:spPr>
          <a:xfrm>
            <a:off x="8558784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9" name="!!chiptdep2"/>
          <p:cNvSpPr txBox="1"/>
          <p:nvPr/>
        </p:nvSpPr>
        <p:spPr>
          <a:xfrm>
            <a:off x="8631936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test-net USDC</a:t>
            </a:r>
            <a:endParaRPr lang="en-US" sz="1300" dirty="0"/>
          </a:p>
        </p:txBody>
      </p:sp>
      <p:sp>
        <p:nvSpPr>
          <p:cNvPr id="30" name="!!chipdep3"/>
          <p:cNvSpPr/>
          <p:nvPr/>
        </p:nvSpPr>
        <p:spPr>
          <a:xfrm>
            <a:off x="10003536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2A2110"/>
          </a:solidFill>
          <a:ln w="19050">
            <a:solidFill>
              <a:srgbClr val="E2B544"/>
            </a:solidFill>
            <a:prstDash val="solid"/>
          </a:ln>
        </p:spPr>
      </p:sp>
      <p:sp>
        <p:nvSpPr>
          <p:cNvPr id="31" name="!!chiptdep3"/>
          <p:cNvSpPr txBox="1"/>
          <p:nvPr/>
        </p:nvSpPr>
        <p:spPr>
          <a:xfrm>
            <a:off x="10076688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vault shares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4480560" y="4544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WITHDRAW</a:t>
            </a:r>
            <a:endParaRPr lang="en-US" sz="1100" dirty="0"/>
          </a:p>
        </p:txBody>
      </p:sp>
      <p:sp>
        <p:nvSpPr>
          <p:cNvPr id="33" name="!!chipwdr0"/>
          <p:cNvSpPr/>
          <p:nvPr/>
        </p:nvSpPr>
        <p:spPr>
          <a:xfrm>
            <a:off x="5669280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!!chiptwdr0"/>
          <p:cNvSpPr txBox="1"/>
          <p:nvPr/>
        </p:nvSpPr>
        <p:spPr>
          <a:xfrm>
            <a:off x="5742432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shares redeemed</a:t>
            </a:r>
            <a:endParaRPr lang="en-US" sz="1300" dirty="0"/>
          </a:p>
        </p:txBody>
      </p:sp>
      <p:sp>
        <p:nvSpPr>
          <p:cNvPr id="35" name="!!chipwdr1"/>
          <p:cNvSpPr/>
          <p:nvPr/>
        </p:nvSpPr>
        <p:spPr>
          <a:xfrm>
            <a:off x="7114032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!!chiptwdr1"/>
          <p:cNvSpPr txBox="1"/>
          <p:nvPr/>
        </p:nvSpPr>
        <p:spPr>
          <a:xfrm>
            <a:off x="7187184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USDC</a:t>
            </a:r>
            <a:endParaRPr lang="en-US" sz="1300" dirty="0"/>
          </a:p>
        </p:txBody>
      </p:sp>
      <p:sp>
        <p:nvSpPr>
          <p:cNvPr id="37" name="!!chipwdr2"/>
          <p:cNvSpPr/>
          <p:nvPr/>
        </p:nvSpPr>
        <p:spPr>
          <a:xfrm>
            <a:off x="8558784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8" name="!!chiptwdr2"/>
          <p:cNvSpPr txBox="1"/>
          <p:nvPr/>
        </p:nvSpPr>
        <p:spPr>
          <a:xfrm>
            <a:off x="8631936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debit</a:t>
            </a:r>
            <a:endParaRPr lang="en-US" sz="1300" dirty="0"/>
          </a:p>
        </p:txBody>
      </p:sp>
      <p:sp>
        <p:nvSpPr>
          <p:cNvPr id="39" name="!!chipwdr3"/>
          <p:cNvSpPr/>
          <p:nvPr/>
        </p:nvSpPr>
        <p:spPr>
          <a:xfrm>
            <a:off x="10003536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0" name="!!chiptwdr3"/>
          <p:cNvSpPr txBox="1"/>
          <p:nvPr/>
        </p:nvSpPr>
        <p:spPr>
          <a:xfrm>
            <a:off x="10076688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 out</a:t>
            </a:r>
            <a:endParaRPr lang="en-US" sz="1300" dirty="0"/>
          </a:p>
        </p:txBody>
      </p:sp>
      <p:pic>
        <p:nvPicPr>
          <p:cNvPr id="41" name="!!money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9296" y="2542032"/>
            <a:ext cx="603504" cy="603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43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Moves money between PKR and USDC.</a:t>
            </a:r>
            <a:endParaRPr lang="en-US" sz="1700" dirty="0"/>
          </a:p>
        </p:txBody>
      </p:sp>
      <p:sp>
        <p:nvSpPr>
          <p:cNvPr id="23" name="Text 14"/>
          <p:cNvSpPr txBox="1"/>
          <p:nvPr/>
        </p:nvSpPr>
        <p:spPr>
          <a:xfrm>
            <a:off x="4480560" y="3355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DEPOSIT</a:t>
            </a:r>
            <a:endParaRPr lang="en-US" sz="1100" dirty="0"/>
          </a:p>
        </p:txBody>
      </p:sp>
      <p:sp>
        <p:nvSpPr>
          <p:cNvPr id="24" name="!!chipdep0"/>
          <p:cNvSpPr/>
          <p:nvPr/>
        </p:nvSpPr>
        <p:spPr>
          <a:xfrm>
            <a:off x="5669280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5" name="!!chiptdep0"/>
          <p:cNvSpPr txBox="1"/>
          <p:nvPr/>
        </p:nvSpPr>
        <p:spPr>
          <a:xfrm>
            <a:off x="5742432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</a:t>
            </a:r>
            <a:endParaRPr lang="en-US" sz="1300" dirty="0"/>
          </a:p>
        </p:txBody>
      </p:sp>
      <p:sp>
        <p:nvSpPr>
          <p:cNvPr id="26" name="!!chipdep1"/>
          <p:cNvSpPr/>
          <p:nvPr/>
        </p:nvSpPr>
        <p:spPr>
          <a:xfrm>
            <a:off x="7114032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7" name="!!chiptdep1"/>
          <p:cNvSpPr txBox="1"/>
          <p:nvPr/>
        </p:nvSpPr>
        <p:spPr>
          <a:xfrm>
            <a:off x="7187184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credit</a:t>
            </a:r>
            <a:endParaRPr lang="en-US" sz="1300" dirty="0"/>
          </a:p>
        </p:txBody>
      </p:sp>
      <p:sp>
        <p:nvSpPr>
          <p:cNvPr id="28" name="!!chipdep2"/>
          <p:cNvSpPr/>
          <p:nvPr/>
        </p:nvSpPr>
        <p:spPr>
          <a:xfrm>
            <a:off x="8558784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9" name="!!chiptdep2"/>
          <p:cNvSpPr txBox="1"/>
          <p:nvPr/>
        </p:nvSpPr>
        <p:spPr>
          <a:xfrm>
            <a:off x="8631936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test-net USDC</a:t>
            </a:r>
            <a:endParaRPr lang="en-US" sz="1300" dirty="0"/>
          </a:p>
        </p:txBody>
      </p:sp>
      <p:sp>
        <p:nvSpPr>
          <p:cNvPr id="30" name="!!chipdep3"/>
          <p:cNvSpPr/>
          <p:nvPr/>
        </p:nvSpPr>
        <p:spPr>
          <a:xfrm>
            <a:off x="10003536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1" name="!!chiptdep3"/>
          <p:cNvSpPr txBox="1"/>
          <p:nvPr/>
        </p:nvSpPr>
        <p:spPr>
          <a:xfrm>
            <a:off x="10076688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vault shares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4480560" y="4544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WITHDRAW</a:t>
            </a:r>
            <a:endParaRPr lang="en-US" sz="1100" dirty="0"/>
          </a:p>
        </p:txBody>
      </p:sp>
      <p:sp>
        <p:nvSpPr>
          <p:cNvPr id="33" name="!!chipwdr0"/>
          <p:cNvSpPr/>
          <p:nvPr/>
        </p:nvSpPr>
        <p:spPr>
          <a:xfrm>
            <a:off x="5669280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2A2110"/>
          </a:solidFill>
          <a:ln w="19050">
            <a:solidFill>
              <a:srgbClr val="E2B544"/>
            </a:solidFill>
            <a:prstDash val="solid"/>
          </a:ln>
        </p:spPr>
      </p:sp>
      <p:sp>
        <p:nvSpPr>
          <p:cNvPr id="34" name="!!chiptwdr0"/>
          <p:cNvSpPr txBox="1"/>
          <p:nvPr/>
        </p:nvSpPr>
        <p:spPr>
          <a:xfrm>
            <a:off x="5742432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shares redeemed</a:t>
            </a:r>
            <a:endParaRPr lang="en-US" sz="1300" dirty="0"/>
          </a:p>
        </p:txBody>
      </p:sp>
      <p:sp>
        <p:nvSpPr>
          <p:cNvPr id="35" name="!!chipwdr1"/>
          <p:cNvSpPr/>
          <p:nvPr/>
        </p:nvSpPr>
        <p:spPr>
          <a:xfrm>
            <a:off x="7114032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!!chiptwdr1"/>
          <p:cNvSpPr txBox="1"/>
          <p:nvPr/>
        </p:nvSpPr>
        <p:spPr>
          <a:xfrm>
            <a:off x="7187184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USDC</a:t>
            </a:r>
            <a:endParaRPr lang="en-US" sz="1300" dirty="0"/>
          </a:p>
        </p:txBody>
      </p:sp>
      <p:sp>
        <p:nvSpPr>
          <p:cNvPr id="37" name="!!chipwdr2"/>
          <p:cNvSpPr/>
          <p:nvPr/>
        </p:nvSpPr>
        <p:spPr>
          <a:xfrm>
            <a:off x="8558784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8" name="!!chiptwdr2"/>
          <p:cNvSpPr txBox="1"/>
          <p:nvPr/>
        </p:nvSpPr>
        <p:spPr>
          <a:xfrm>
            <a:off x="8631936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debit</a:t>
            </a:r>
            <a:endParaRPr lang="en-US" sz="1300" dirty="0"/>
          </a:p>
        </p:txBody>
      </p:sp>
      <p:sp>
        <p:nvSpPr>
          <p:cNvPr id="39" name="!!chipwdr3"/>
          <p:cNvSpPr/>
          <p:nvPr/>
        </p:nvSpPr>
        <p:spPr>
          <a:xfrm>
            <a:off x="10003536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0" name="!!chiptwdr3"/>
          <p:cNvSpPr txBox="1"/>
          <p:nvPr/>
        </p:nvSpPr>
        <p:spPr>
          <a:xfrm>
            <a:off x="10076688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 out</a:t>
            </a:r>
            <a:endParaRPr lang="en-US" sz="1300" dirty="0"/>
          </a:p>
        </p:txBody>
      </p:sp>
      <p:pic>
        <p:nvPicPr>
          <p:cNvPr id="41" name="!!money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3730752"/>
            <a:ext cx="603504" cy="603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44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Moves money between PKR and USDC.</a:t>
            </a:r>
            <a:endParaRPr lang="en-US" sz="1700" dirty="0"/>
          </a:p>
        </p:txBody>
      </p:sp>
      <p:sp>
        <p:nvSpPr>
          <p:cNvPr id="23" name="Text 14"/>
          <p:cNvSpPr txBox="1"/>
          <p:nvPr/>
        </p:nvSpPr>
        <p:spPr>
          <a:xfrm>
            <a:off x="4480560" y="3355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DEPOSIT</a:t>
            </a:r>
            <a:endParaRPr lang="en-US" sz="1100" dirty="0"/>
          </a:p>
        </p:txBody>
      </p:sp>
      <p:sp>
        <p:nvSpPr>
          <p:cNvPr id="24" name="!!chipdep0"/>
          <p:cNvSpPr/>
          <p:nvPr/>
        </p:nvSpPr>
        <p:spPr>
          <a:xfrm>
            <a:off x="5669280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5" name="!!chiptdep0"/>
          <p:cNvSpPr txBox="1"/>
          <p:nvPr/>
        </p:nvSpPr>
        <p:spPr>
          <a:xfrm>
            <a:off x="5742432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</a:t>
            </a:r>
            <a:endParaRPr lang="en-US" sz="1300" dirty="0"/>
          </a:p>
        </p:txBody>
      </p:sp>
      <p:sp>
        <p:nvSpPr>
          <p:cNvPr id="26" name="!!chipdep1"/>
          <p:cNvSpPr/>
          <p:nvPr/>
        </p:nvSpPr>
        <p:spPr>
          <a:xfrm>
            <a:off x="7114032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7" name="!!chiptdep1"/>
          <p:cNvSpPr txBox="1"/>
          <p:nvPr/>
        </p:nvSpPr>
        <p:spPr>
          <a:xfrm>
            <a:off x="7187184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credit</a:t>
            </a:r>
            <a:endParaRPr lang="en-US" sz="1300" dirty="0"/>
          </a:p>
        </p:txBody>
      </p:sp>
      <p:sp>
        <p:nvSpPr>
          <p:cNvPr id="28" name="!!chipdep2"/>
          <p:cNvSpPr/>
          <p:nvPr/>
        </p:nvSpPr>
        <p:spPr>
          <a:xfrm>
            <a:off x="8558784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9" name="!!chiptdep2"/>
          <p:cNvSpPr txBox="1"/>
          <p:nvPr/>
        </p:nvSpPr>
        <p:spPr>
          <a:xfrm>
            <a:off x="8631936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test-net USDC</a:t>
            </a:r>
            <a:endParaRPr lang="en-US" sz="1300" dirty="0"/>
          </a:p>
        </p:txBody>
      </p:sp>
      <p:sp>
        <p:nvSpPr>
          <p:cNvPr id="30" name="!!chipdep3"/>
          <p:cNvSpPr/>
          <p:nvPr/>
        </p:nvSpPr>
        <p:spPr>
          <a:xfrm>
            <a:off x="10003536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1" name="!!chiptdep3"/>
          <p:cNvSpPr txBox="1"/>
          <p:nvPr/>
        </p:nvSpPr>
        <p:spPr>
          <a:xfrm>
            <a:off x="10076688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vault shares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4480560" y="4544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WITHDRAW</a:t>
            </a:r>
            <a:endParaRPr lang="en-US" sz="1100" dirty="0"/>
          </a:p>
        </p:txBody>
      </p:sp>
      <p:sp>
        <p:nvSpPr>
          <p:cNvPr id="33" name="!!chipwdr0"/>
          <p:cNvSpPr/>
          <p:nvPr/>
        </p:nvSpPr>
        <p:spPr>
          <a:xfrm>
            <a:off x="5669280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!!chiptwdr0"/>
          <p:cNvSpPr txBox="1"/>
          <p:nvPr/>
        </p:nvSpPr>
        <p:spPr>
          <a:xfrm>
            <a:off x="5742432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shares redeemed</a:t>
            </a:r>
            <a:endParaRPr lang="en-US" sz="1300" dirty="0"/>
          </a:p>
        </p:txBody>
      </p:sp>
      <p:sp>
        <p:nvSpPr>
          <p:cNvPr id="35" name="!!chipwdr1"/>
          <p:cNvSpPr/>
          <p:nvPr/>
        </p:nvSpPr>
        <p:spPr>
          <a:xfrm>
            <a:off x="7114032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2A2110"/>
          </a:solidFill>
          <a:ln w="19050">
            <a:solidFill>
              <a:srgbClr val="E2B544"/>
            </a:solidFill>
            <a:prstDash val="solid"/>
          </a:ln>
        </p:spPr>
      </p:sp>
      <p:sp>
        <p:nvSpPr>
          <p:cNvPr id="36" name="!!chiptwdr1"/>
          <p:cNvSpPr txBox="1"/>
          <p:nvPr/>
        </p:nvSpPr>
        <p:spPr>
          <a:xfrm>
            <a:off x="7187184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USDC</a:t>
            </a:r>
            <a:endParaRPr lang="en-US" sz="1300" dirty="0"/>
          </a:p>
        </p:txBody>
      </p:sp>
      <p:sp>
        <p:nvSpPr>
          <p:cNvPr id="37" name="!!chipwdr2"/>
          <p:cNvSpPr/>
          <p:nvPr/>
        </p:nvSpPr>
        <p:spPr>
          <a:xfrm>
            <a:off x="8558784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8" name="!!chiptwdr2"/>
          <p:cNvSpPr txBox="1"/>
          <p:nvPr/>
        </p:nvSpPr>
        <p:spPr>
          <a:xfrm>
            <a:off x="8631936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debit</a:t>
            </a:r>
            <a:endParaRPr lang="en-US" sz="1300" dirty="0"/>
          </a:p>
        </p:txBody>
      </p:sp>
      <p:sp>
        <p:nvSpPr>
          <p:cNvPr id="39" name="!!chipwdr3"/>
          <p:cNvSpPr/>
          <p:nvPr/>
        </p:nvSpPr>
        <p:spPr>
          <a:xfrm>
            <a:off x="10003536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0" name="!!chiptwdr3"/>
          <p:cNvSpPr txBox="1"/>
          <p:nvPr/>
        </p:nvSpPr>
        <p:spPr>
          <a:xfrm>
            <a:off x="10076688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 out</a:t>
            </a:r>
            <a:endParaRPr lang="en-US" sz="1300" dirty="0"/>
          </a:p>
        </p:txBody>
      </p:sp>
      <p:pic>
        <p:nvPicPr>
          <p:cNvPr id="41" name="!!money" descr="C:\Users\USER\AppData\Local\Temp\claude\C--Users-USER-OneDrive-Desktop-RWA-vault\22c0d93f-95db-488a-9ad8-cfe9b0a46593\scratchpad\deck\art5\usdc_sil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9792" y="3730752"/>
            <a:ext cx="603504" cy="603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Moves money between PKR and USDC.</a:t>
            </a:r>
            <a:endParaRPr lang="en-US" sz="1700" dirty="0"/>
          </a:p>
        </p:txBody>
      </p:sp>
      <p:sp>
        <p:nvSpPr>
          <p:cNvPr id="23" name="Text 14"/>
          <p:cNvSpPr txBox="1"/>
          <p:nvPr/>
        </p:nvSpPr>
        <p:spPr>
          <a:xfrm>
            <a:off x="4480560" y="3355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DEPOSIT</a:t>
            </a:r>
            <a:endParaRPr lang="en-US" sz="1100" dirty="0"/>
          </a:p>
        </p:txBody>
      </p:sp>
      <p:sp>
        <p:nvSpPr>
          <p:cNvPr id="24" name="!!chipdep0"/>
          <p:cNvSpPr/>
          <p:nvPr/>
        </p:nvSpPr>
        <p:spPr>
          <a:xfrm>
            <a:off x="5669280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5" name="!!chiptdep0"/>
          <p:cNvSpPr txBox="1"/>
          <p:nvPr/>
        </p:nvSpPr>
        <p:spPr>
          <a:xfrm>
            <a:off x="5742432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</a:t>
            </a:r>
            <a:endParaRPr lang="en-US" sz="1300" dirty="0"/>
          </a:p>
        </p:txBody>
      </p:sp>
      <p:sp>
        <p:nvSpPr>
          <p:cNvPr id="26" name="!!chipdep1"/>
          <p:cNvSpPr/>
          <p:nvPr/>
        </p:nvSpPr>
        <p:spPr>
          <a:xfrm>
            <a:off x="7114032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7" name="!!chiptdep1"/>
          <p:cNvSpPr txBox="1"/>
          <p:nvPr/>
        </p:nvSpPr>
        <p:spPr>
          <a:xfrm>
            <a:off x="7187184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credit</a:t>
            </a:r>
            <a:endParaRPr lang="en-US" sz="1300" dirty="0"/>
          </a:p>
        </p:txBody>
      </p:sp>
      <p:sp>
        <p:nvSpPr>
          <p:cNvPr id="28" name="!!chipdep2"/>
          <p:cNvSpPr/>
          <p:nvPr/>
        </p:nvSpPr>
        <p:spPr>
          <a:xfrm>
            <a:off x="8558784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9" name="!!chiptdep2"/>
          <p:cNvSpPr txBox="1"/>
          <p:nvPr/>
        </p:nvSpPr>
        <p:spPr>
          <a:xfrm>
            <a:off x="8631936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test-net USDC</a:t>
            </a:r>
            <a:endParaRPr lang="en-US" sz="1300" dirty="0"/>
          </a:p>
        </p:txBody>
      </p:sp>
      <p:sp>
        <p:nvSpPr>
          <p:cNvPr id="30" name="!!chipdep3"/>
          <p:cNvSpPr/>
          <p:nvPr/>
        </p:nvSpPr>
        <p:spPr>
          <a:xfrm>
            <a:off x="10003536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1" name="!!chiptdep3"/>
          <p:cNvSpPr txBox="1"/>
          <p:nvPr/>
        </p:nvSpPr>
        <p:spPr>
          <a:xfrm>
            <a:off x="10076688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vault shares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4480560" y="4544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WITHDRAW</a:t>
            </a:r>
            <a:endParaRPr lang="en-US" sz="1100" dirty="0"/>
          </a:p>
        </p:txBody>
      </p:sp>
      <p:sp>
        <p:nvSpPr>
          <p:cNvPr id="33" name="!!chipwdr0"/>
          <p:cNvSpPr/>
          <p:nvPr/>
        </p:nvSpPr>
        <p:spPr>
          <a:xfrm>
            <a:off x="5669280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!!chiptwdr0"/>
          <p:cNvSpPr txBox="1"/>
          <p:nvPr/>
        </p:nvSpPr>
        <p:spPr>
          <a:xfrm>
            <a:off x="5742432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shares redeemed</a:t>
            </a:r>
            <a:endParaRPr lang="en-US" sz="1300" dirty="0"/>
          </a:p>
        </p:txBody>
      </p:sp>
      <p:sp>
        <p:nvSpPr>
          <p:cNvPr id="35" name="!!chipwdr1"/>
          <p:cNvSpPr/>
          <p:nvPr/>
        </p:nvSpPr>
        <p:spPr>
          <a:xfrm>
            <a:off x="7114032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!!chiptwdr1"/>
          <p:cNvSpPr txBox="1"/>
          <p:nvPr/>
        </p:nvSpPr>
        <p:spPr>
          <a:xfrm>
            <a:off x="7187184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USDC</a:t>
            </a:r>
            <a:endParaRPr lang="en-US" sz="1300" dirty="0"/>
          </a:p>
        </p:txBody>
      </p:sp>
      <p:sp>
        <p:nvSpPr>
          <p:cNvPr id="37" name="!!chipwdr2"/>
          <p:cNvSpPr/>
          <p:nvPr/>
        </p:nvSpPr>
        <p:spPr>
          <a:xfrm>
            <a:off x="8558784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2A2110"/>
          </a:solidFill>
          <a:ln w="19050">
            <a:solidFill>
              <a:srgbClr val="E2B544"/>
            </a:solidFill>
            <a:prstDash val="solid"/>
          </a:ln>
        </p:spPr>
      </p:sp>
      <p:sp>
        <p:nvSpPr>
          <p:cNvPr id="38" name="!!chiptwdr2"/>
          <p:cNvSpPr txBox="1"/>
          <p:nvPr/>
        </p:nvSpPr>
        <p:spPr>
          <a:xfrm>
            <a:off x="8631936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debit</a:t>
            </a:r>
            <a:endParaRPr lang="en-US" sz="1300" dirty="0"/>
          </a:p>
        </p:txBody>
      </p:sp>
      <p:sp>
        <p:nvSpPr>
          <p:cNvPr id="39" name="!!chipwdr3"/>
          <p:cNvSpPr/>
          <p:nvPr/>
        </p:nvSpPr>
        <p:spPr>
          <a:xfrm>
            <a:off x="10003536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0" name="!!chiptwdr3"/>
          <p:cNvSpPr txBox="1"/>
          <p:nvPr/>
        </p:nvSpPr>
        <p:spPr>
          <a:xfrm>
            <a:off x="10076688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 out</a:t>
            </a:r>
            <a:endParaRPr lang="en-US" sz="1300" dirty="0"/>
          </a:p>
        </p:txBody>
      </p:sp>
      <p:pic>
        <p:nvPicPr>
          <p:cNvPr id="41" name="!!money" descr="C:\Users\USER\AppData\Local\Temp\claude\C--Users-USER-OneDrive-Desktop-RWA-vault\22c0d93f-95db-488a-9ad8-cfe9b0a46593\scratchpad\deck\art5\usdc_sil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4544" y="3730752"/>
            <a:ext cx="603504" cy="603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46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Moves money between PKR and USDC.</a:t>
            </a:r>
            <a:endParaRPr lang="en-US" sz="1700" dirty="0"/>
          </a:p>
        </p:txBody>
      </p:sp>
      <p:sp>
        <p:nvSpPr>
          <p:cNvPr id="23" name="Text 14"/>
          <p:cNvSpPr txBox="1"/>
          <p:nvPr/>
        </p:nvSpPr>
        <p:spPr>
          <a:xfrm>
            <a:off x="4480560" y="3355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DEPOSIT</a:t>
            </a:r>
            <a:endParaRPr lang="en-US" sz="1100" dirty="0"/>
          </a:p>
        </p:txBody>
      </p:sp>
      <p:sp>
        <p:nvSpPr>
          <p:cNvPr id="24" name="!!chipdep0"/>
          <p:cNvSpPr/>
          <p:nvPr/>
        </p:nvSpPr>
        <p:spPr>
          <a:xfrm>
            <a:off x="5669280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5" name="!!chiptdep0"/>
          <p:cNvSpPr txBox="1"/>
          <p:nvPr/>
        </p:nvSpPr>
        <p:spPr>
          <a:xfrm>
            <a:off x="5742432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</a:t>
            </a:r>
            <a:endParaRPr lang="en-US" sz="1300" dirty="0"/>
          </a:p>
        </p:txBody>
      </p:sp>
      <p:sp>
        <p:nvSpPr>
          <p:cNvPr id="26" name="!!chipdep1"/>
          <p:cNvSpPr/>
          <p:nvPr/>
        </p:nvSpPr>
        <p:spPr>
          <a:xfrm>
            <a:off x="7114032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7" name="!!chiptdep1"/>
          <p:cNvSpPr txBox="1"/>
          <p:nvPr/>
        </p:nvSpPr>
        <p:spPr>
          <a:xfrm>
            <a:off x="7187184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credit</a:t>
            </a:r>
            <a:endParaRPr lang="en-US" sz="1300" dirty="0"/>
          </a:p>
        </p:txBody>
      </p:sp>
      <p:sp>
        <p:nvSpPr>
          <p:cNvPr id="28" name="!!chipdep2"/>
          <p:cNvSpPr/>
          <p:nvPr/>
        </p:nvSpPr>
        <p:spPr>
          <a:xfrm>
            <a:off x="8558784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9" name="!!chiptdep2"/>
          <p:cNvSpPr txBox="1"/>
          <p:nvPr/>
        </p:nvSpPr>
        <p:spPr>
          <a:xfrm>
            <a:off x="8631936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test-net USDC</a:t>
            </a:r>
            <a:endParaRPr lang="en-US" sz="1300" dirty="0"/>
          </a:p>
        </p:txBody>
      </p:sp>
      <p:sp>
        <p:nvSpPr>
          <p:cNvPr id="30" name="!!chipdep3"/>
          <p:cNvSpPr/>
          <p:nvPr/>
        </p:nvSpPr>
        <p:spPr>
          <a:xfrm>
            <a:off x="10003536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1" name="!!chiptdep3"/>
          <p:cNvSpPr txBox="1"/>
          <p:nvPr/>
        </p:nvSpPr>
        <p:spPr>
          <a:xfrm>
            <a:off x="10076688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vault shares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4480560" y="4544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WITHDRAW</a:t>
            </a:r>
            <a:endParaRPr lang="en-US" sz="1100" dirty="0"/>
          </a:p>
        </p:txBody>
      </p:sp>
      <p:sp>
        <p:nvSpPr>
          <p:cNvPr id="33" name="!!chipwdr0"/>
          <p:cNvSpPr/>
          <p:nvPr/>
        </p:nvSpPr>
        <p:spPr>
          <a:xfrm>
            <a:off x="5669280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!!chiptwdr0"/>
          <p:cNvSpPr txBox="1"/>
          <p:nvPr/>
        </p:nvSpPr>
        <p:spPr>
          <a:xfrm>
            <a:off x="5742432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shares redeemed</a:t>
            </a:r>
            <a:endParaRPr lang="en-US" sz="1300" dirty="0"/>
          </a:p>
        </p:txBody>
      </p:sp>
      <p:sp>
        <p:nvSpPr>
          <p:cNvPr id="35" name="!!chipwdr1"/>
          <p:cNvSpPr/>
          <p:nvPr/>
        </p:nvSpPr>
        <p:spPr>
          <a:xfrm>
            <a:off x="7114032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!!chiptwdr1"/>
          <p:cNvSpPr txBox="1"/>
          <p:nvPr/>
        </p:nvSpPr>
        <p:spPr>
          <a:xfrm>
            <a:off x="7187184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USDC</a:t>
            </a:r>
            <a:endParaRPr lang="en-US" sz="1300" dirty="0"/>
          </a:p>
        </p:txBody>
      </p:sp>
      <p:sp>
        <p:nvSpPr>
          <p:cNvPr id="37" name="!!chipwdr2"/>
          <p:cNvSpPr/>
          <p:nvPr/>
        </p:nvSpPr>
        <p:spPr>
          <a:xfrm>
            <a:off x="8558784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8" name="!!chiptwdr2"/>
          <p:cNvSpPr txBox="1"/>
          <p:nvPr/>
        </p:nvSpPr>
        <p:spPr>
          <a:xfrm>
            <a:off x="8631936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debit</a:t>
            </a:r>
            <a:endParaRPr lang="en-US" sz="1300" dirty="0"/>
          </a:p>
        </p:txBody>
      </p:sp>
      <p:sp>
        <p:nvSpPr>
          <p:cNvPr id="39" name="!!chipwdr3"/>
          <p:cNvSpPr/>
          <p:nvPr/>
        </p:nvSpPr>
        <p:spPr>
          <a:xfrm>
            <a:off x="10003536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2A2110"/>
          </a:solidFill>
          <a:ln w="19050">
            <a:solidFill>
              <a:srgbClr val="E2B544"/>
            </a:solidFill>
            <a:prstDash val="solid"/>
          </a:ln>
        </p:spPr>
      </p:sp>
      <p:sp>
        <p:nvSpPr>
          <p:cNvPr id="40" name="!!chiptwdr3"/>
          <p:cNvSpPr txBox="1"/>
          <p:nvPr/>
        </p:nvSpPr>
        <p:spPr>
          <a:xfrm>
            <a:off x="10076688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 out</a:t>
            </a:r>
            <a:endParaRPr lang="en-US" sz="1300" dirty="0"/>
          </a:p>
        </p:txBody>
      </p:sp>
      <p:pic>
        <p:nvPicPr>
          <p:cNvPr id="41" name="!!money" descr="C:\Users\USER\AppData\Local\Temp\claude\C--Users-USER-OneDrive-Desktop-RWA-vault\22c0d93f-95db-488a-9ad8-cfe9b0a46593\scratchpad\deck\art5\pkr_sil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9296" y="3730752"/>
            <a:ext cx="603504" cy="603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47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Moves money between PKR and USDC.</a:t>
            </a:r>
            <a:endParaRPr lang="en-US" sz="1700" dirty="0"/>
          </a:p>
        </p:txBody>
      </p:sp>
      <p:sp>
        <p:nvSpPr>
          <p:cNvPr id="23" name="Text 14"/>
          <p:cNvSpPr txBox="1"/>
          <p:nvPr/>
        </p:nvSpPr>
        <p:spPr>
          <a:xfrm>
            <a:off x="4480560" y="3355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DEPOSIT</a:t>
            </a:r>
            <a:endParaRPr lang="en-US" sz="1100" dirty="0"/>
          </a:p>
        </p:txBody>
      </p:sp>
      <p:sp>
        <p:nvSpPr>
          <p:cNvPr id="24" name="!!chipdep0"/>
          <p:cNvSpPr/>
          <p:nvPr/>
        </p:nvSpPr>
        <p:spPr>
          <a:xfrm>
            <a:off x="5669280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5" name="!!chiptdep0"/>
          <p:cNvSpPr txBox="1"/>
          <p:nvPr/>
        </p:nvSpPr>
        <p:spPr>
          <a:xfrm>
            <a:off x="5742432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</a:t>
            </a:r>
            <a:endParaRPr lang="en-US" sz="1300" dirty="0"/>
          </a:p>
        </p:txBody>
      </p:sp>
      <p:sp>
        <p:nvSpPr>
          <p:cNvPr id="26" name="!!chipdep1"/>
          <p:cNvSpPr/>
          <p:nvPr/>
        </p:nvSpPr>
        <p:spPr>
          <a:xfrm>
            <a:off x="7114032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7" name="!!chiptdep1"/>
          <p:cNvSpPr txBox="1"/>
          <p:nvPr/>
        </p:nvSpPr>
        <p:spPr>
          <a:xfrm>
            <a:off x="7187184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credit</a:t>
            </a:r>
            <a:endParaRPr lang="en-US" sz="1300" dirty="0"/>
          </a:p>
        </p:txBody>
      </p:sp>
      <p:sp>
        <p:nvSpPr>
          <p:cNvPr id="28" name="!!chipdep2"/>
          <p:cNvSpPr/>
          <p:nvPr/>
        </p:nvSpPr>
        <p:spPr>
          <a:xfrm>
            <a:off x="8558784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9" name="!!chiptdep2"/>
          <p:cNvSpPr txBox="1"/>
          <p:nvPr/>
        </p:nvSpPr>
        <p:spPr>
          <a:xfrm>
            <a:off x="8631936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test-net USDC</a:t>
            </a:r>
            <a:endParaRPr lang="en-US" sz="1300" dirty="0"/>
          </a:p>
        </p:txBody>
      </p:sp>
      <p:sp>
        <p:nvSpPr>
          <p:cNvPr id="30" name="!!chipdep3"/>
          <p:cNvSpPr/>
          <p:nvPr/>
        </p:nvSpPr>
        <p:spPr>
          <a:xfrm>
            <a:off x="10003536" y="320040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1" name="!!chiptdep3"/>
          <p:cNvSpPr txBox="1"/>
          <p:nvPr/>
        </p:nvSpPr>
        <p:spPr>
          <a:xfrm>
            <a:off x="10076688" y="32552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vault shares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4480560" y="4544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WITHDRAW</a:t>
            </a:r>
            <a:endParaRPr lang="en-US" sz="1100" dirty="0"/>
          </a:p>
        </p:txBody>
      </p:sp>
      <p:sp>
        <p:nvSpPr>
          <p:cNvPr id="33" name="!!chipwdr0"/>
          <p:cNvSpPr/>
          <p:nvPr/>
        </p:nvSpPr>
        <p:spPr>
          <a:xfrm>
            <a:off x="5669280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!!chiptwdr0"/>
          <p:cNvSpPr txBox="1"/>
          <p:nvPr/>
        </p:nvSpPr>
        <p:spPr>
          <a:xfrm>
            <a:off x="5742432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shares redeemed</a:t>
            </a:r>
            <a:endParaRPr lang="en-US" sz="1300" dirty="0"/>
          </a:p>
        </p:txBody>
      </p:sp>
      <p:sp>
        <p:nvSpPr>
          <p:cNvPr id="35" name="!!chipwdr1"/>
          <p:cNvSpPr/>
          <p:nvPr/>
        </p:nvSpPr>
        <p:spPr>
          <a:xfrm>
            <a:off x="7114032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6" name="!!chiptwdr1"/>
          <p:cNvSpPr txBox="1"/>
          <p:nvPr/>
        </p:nvSpPr>
        <p:spPr>
          <a:xfrm>
            <a:off x="7187184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USDC</a:t>
            </a:r>
            <a:endParaRPr lang="en-US" sz="1300" dirty="0"/>
          </a:p>
        </p:txBody>
      </p:sp>
      <p:sp>
        <p:nvSpPr>
          <p:cNvPr id="37" name="!!chipwdr2"/>
          <p:cNvSpPr/>
          <p:nvPr/>
        </p:nvSpPr>
        <p:spPr>
          <a:xfrm>
            <a:off x="8558784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8" name="!!chiptwdr2"/>
          <p:cNvSpPr txBox="1"/>
          <p:nvPr/>
        </p:nvSpPr>
        <p:spPr>
          <a:xfrm>
            <a:off x="8631936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debit</a:t>
            </a:r>
            <a:endParaRPr lang="en-US" sz="1300" dirty="0"/>
          </a:p>
        </p:txBody>
      </p:sp>
      <p:sp>
        <p:nvSpPr>
          <p:cNvPr id="39" name="!!chipwdr3"/>
          <p:cNvSpPr/>
          <p:nvPr/>
        </p:nvSpPr>
        <p:spPr>
          <a:xfrm>
            <a:off x="10003536" y="4389120"/>
            <a:ext cx="1335024" cy="566928"/>
          </a:xfrm>
          <a:prstGeom prst="roundRect">
            <a:avLst>
              <a:gd name="adj" fmla="val 12903"/>
            </a:avLst>
          </a:prstGeom>
          <a:solidFill>
            <a:srgbClr val="18181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0" name="!!chiptwdr3"/>
          <p:cNvSpPr txBox="1"/>
          <p:nvPr/>
        </p:nvSpPr>
        <p:spPr>
          <a:xfrm>
            <a:off x="10076688" y="4443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PKR out</a:t>
            </a:r>
            <a:endParaRPr lang="en-US" sz="1300" dirty="0"/>
          </a:p>
        </p:txBody>
      </p:sp>
      <p:pic>
        <p:nvPicPr>
          <p:cNvPr id="41" name="!!money" descr="C:\Users\USER\AppData\Local\Temp\claude\C--Users-USER-OneDrive-Desktop-RWA-vault\22c0d93f-95db-488a-9ad8-cfe9b0a46593\scratchpad\deck\art5\pkr_sil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9296" y="3730752"/>
            <a:ext cx="603504" cy="603504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4480560" y="514807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Double-entry ledger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the books always balance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interface (IFiatRail)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a real bank or card provider is a configuration change</a:t>
            </a:r>
            <a:endParaRPr lang="en-US" sz="1300" dirty="0"/>
          </a:p>
        </p:txBody>
      </p:sp>
      <p:sp>
        <p:nvSpPr>
          <p:cNvPr id="43" name="!!why"/>
          <p:cNvSpPr txBox="1"/>
          <p:nvPr/>
        </p:nvSpPr>
        <p:spPr>
          <a:xfrm>
            <a:off x="4480560" y="56509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holds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only simulated part of the system; everything after the USDC credit is real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</a:t>
            </a:r>
            <a:endParaRPr lang="en-US" sz="1000" dirty="0"/>
          </a:p>
        </p:txBody>
      </p:sp>
      <p:pic>
        <p:nvPicPr>
          <p:cNvPr id="3" name="!!leaf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1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2: Investment Path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2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1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1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M5 · Oracle &amp; Proof-of-Reserve</a:t>
            </a:r>
            <a:endParaRPr lang="en-US" sz="1500" dirty="0"/>
          </a:p>
        </p:txBody>
      </p:sp>
      <p:pic>
        <p:nvPicPr>
          <p:cNvPr id="17" name="!!mod1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1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M8 · Settlement Rail</a:t>
            </a:r>
            <a:endParaRPr lang="en-US" sz="1500" dirty="0"/>
          </a:p>
        </p:txBody>
      </p:sp>
      <p:pic>
        <p:nvPicPr>
          <p:cNvPr id="19" name="!!mod12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1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M9 · Anchoring &amp; Audit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Turns every verified action into permanent, publicly checkable evidence.</a:t>
            </a:r>
            <a:endParaRPr lang="en-US" sz="1700" dirty="0"/>
          </a:p>
        </p:txBody>
      </p:sp>
      <p:sp>
        <p:nvSpPr>
          <p:cNvPr id="23" name="Text 14"/>
          <p:cNvSpPr txBox="1"/>
          <p:nvPr/>
        </p:nvSpPr>
        <p:spPr>
          <a:xfrm>
            <a:off x="4480560" y="2606040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Keccak-256(envelope)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appended to the epoch’s leaf 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60 seconds: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sorted-pair Merkle tree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OpenZeppelin’s audited MerkleProof format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{root, leafCount, epoch}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written to PQAnchor.sol, immutable and non-upgradeable</a:t>
            </a:r>
            <a:endParaRPr lang="en-US" sz="1400" dirty="0"/>
          </a:p>
        </p:txBody>
      </p:sp>
      <p:sp>
        <p:nvSpPr>
          <p:cNvPr id="24" name="Text 15"/>
          <p:cNvSpPr txBox="1"/>
          <p:nvPr/>
        </p:nvSpPr>
        <p:spPr>
          <a:xfrm>
            <a:off x="4480560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≈43k</a:t>
            </a:r>
            <a:endParaRPr lang="en-US" sz="3600" dirty="0"/>
          </a:p>
        </p:txBody>
      </p:sp>
      <p:sp>
        <p:nvSpPr>
          <p:cNvPr id="25" name="Text 16"/>
          <p:cNvSpPr txBox="1"/>
          <p:nvPr/>
        </p:nvSpPr>
        <p:spPr>
          <a:xfrm>
            <a:off x="4480560" y="4663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gas per epoch, fixed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6812280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12</a:t>
            </a:r>
            <a:endParaRPr lang="en-US" sz="3600" dirty="0"/>
          </a:p>
        </p:txBody>
      </p:sp>
      <p:sp>
        <p:nvSpPr>
          <p:cNvPr id="27" name="Text 18"/>
          <p:cNvSpPr txBox="1"/>
          <p:nvPr/>
        </p:nvSpPr>
        <p:spPr>
          <a:xfrm>
            <a:off x="6812280" y="4663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hashes for 4,096 actions</a:t>
            </a:r>
            <a:endParaRPr lang="en-US" sz="1300" dirty="0"/>
          </a:p>
        </p:txBody>
      </p:sp>
      <p:sp>
        <p:nvSpPr>
          <p:cNvPr id="28" name="Text 19"/>
          <p:cNvSpPr txBox="1"/>
          <p:nvPr/>
        </p:nvSpPr>
        <p:spPr>
          <a:xfrm>
            <a:off x="9144000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~22k</a:t>
            </a:r>
            <a:endParaRPr lang="en-US" sz="3600" dirty="0"/>
          </a:p>
        </p:txBody>
      </p:sp>
      <p:sp>
        <p:nvSpPr>
          <p:cNvPr id="29" name="Text 20"/>
          <p:cNvSpPr txBox="1"/>
          <p:nvPr/>
        </p:nvSpPr>
        <p:spPr>
          <a:xfrm>
            <a:off x="9144000" y="4663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gas on-chain proof check, only when needed</a:t>
            </a:r>
            <a:endParaRPr lang="en-US" sz="1300" dirty="0"/>
          </a:p>
        </p:txBody>
      </p:sp>
      <p:sp>
        <p:nvSpPr>
          <p:cNvPr id="30" name="!!why"/>
          <p:cNvSpPr txBox="1"/>
          <p:nvPr/>
        </p:nvSpPr>
        <p:spPr>
          <a:xfrm>
            <a:off x="4480560" y="56509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holds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Epochs only increase and roots are never overwritten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Four Leaves, One System</a:t>
            </a:r>
            <a:endParaRPr lang="en-US" sz="3400" dirty="0"/>
          </a:p>
        </p:txBody>
      </p:sp>
      <p:sp>
        <p:nvSpPr>
          <p:cNvPr id="5" name="!!hubring"/>
          <p:cNvSpPr/>
          <p:nvPr/>
        </p:nvSpPr>
        <p:spPr>
          <a:xfrm>
            <a:off x="2990088" y="2240280"/>
            <a:ext cx="6217920" cy="3383280"/>
          </a:xfrm>
          <a:prstGeom prst="ellipse">
            <a:avLst/>
          </a:prstGeom>
          <a:ln w="25400">
            <a:solidFill>
              <a:srgbClr val="2C2C2C"/>
            </a:solidFill>
            <a:prstDash val="solid"/>
          </a:ln>
        </p:spPr>
      </p:sp>
      <p:pic>
        <p:nvPicPr>
          <p:cNvPr id="6" name="!!ingot" descr="C:\Users\USER\AppData\Local\Temp\claude\C--Users-USER-OneDrive-Desktop-RWA-vault\22c0d93f-95db-488a-9ad8-cfe9b0a46593\scratchpad\deck\art5\ingo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3429000"/>
            <a:ext cx="1737360" cy="1004194"/>
          </a:xfrm>
          <a:prstGeom prst="rect">
            <a:avLst/>
          </a:prstGeom>
        </p:spPr>
      </p:pic>
      <p:pic>
        <p:nvPicPr>
          <p:cNvPr id="7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783080"/>
            <a:ext cx="914400" cy="914400"/>
          </a:xfrm>
          <a:prstGeom prst="rect">
            <a:avLst/>
          </a:prstGeom>
        </p:spPr>
      </p:pic>
      <p:sp>
        <p:nvSpPr>
          <p:cNvPr id="8" name="!!leafnum0"/>
          <p:cNvSpPr txBox="1"/>
          <p:nvPr/>
        </p:nvSpPr>
        <p:spPr>
          <a:xfrm>
            <a:off x="5641848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!!leaflab0"/>
          <p:cNvSpPr txBox="1"/>
          <p:nvPr/>
        </p:nvSpPr>
        <p:spPr>
          <a:xfrm>
            <a:off x="6830568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1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</a:t>
            </a:r>
            <a:endParaRPr lang="en-US" sz="1500" dirty="0"/>
          </a:p>
        </p:txBody>
      </p:sp>
      <p:pic>
        <p:nvPicPr>
          <p:cNvPr id="10" name="!!leaf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08" y="3474720"/>
            <a:ext cx="914400" cy="914400"/>
          </a:xfrm>
          <a:prstGeom prst="rect">
            <a:avLst/>
          </a:prstGeom>
        </p:spPr>
      </p:pic>
      <p:sp>
        <p:nvSpPr>
          <p:cNvPr id="11" name="!!leafnum1"/>
          <p:cNvSpPr txBox="1"/>
          <p:nvPr/>
        </p:nvSpPr>
        <p:spPr>
          <a:xfrm>
            <a:off x="8750808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!!leaflab1"/>
          <p:cNvSpPr txBox="1"/>
          <p:nvPr/>
        </p:nvSpPr>
        <p:spPr>
          <a:xfrm>
            <a:off x="9939528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2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Investment Path</a:t>
            </a:r>
            <a:endParaRPr lang="en-US" sz="1500" dirty="0"/>
          </a:p>
        </p:txBody>
      </p:sp>
      <p:pic>
        <p:nvPicPr>
          <p:cNvPr id="13" name="!!leaf2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548" y="5006340"/>
            <a:ext cx="1143000" cy="1143000"/>
          </a:xfrm>
          <a:prstGeom prst="rect">
            <a:avLst/>
          </a:prstGeom>
        </p:spPr>
      </p:pic>
      <p:sp>
        <p:nvSpPr>
          <p:cNvPr id="14" name="!!leafnum2"/>
          <p:cNvSpPr txBox="1"/>
          <p:nvPr/>
        </p:nvSpPr>
        <p:spPr>
          <a:xfrm>
            <a:off x="5527548" y="50063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!!leaflab2"/>
          <p:cNvSpPr txBox="1"/>
          <p:nvPr/>
        </p:nvSpPr>
        <p:spPr>
          <a:xfrm>
            <a:off x="6830568" y="5257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3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Lending &amp; Risk</a:t>
            </a:r>
            <a:endParaRPr lang="en-US" sz="1500" dirty="0"/>
          </a:p>
        </p:txBody>
      </p:sp>
      <p:pic>
        <p:nvPicPr>
          <p:cNvPr id="16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888" y="3474720"/>
            <a:ext cx="914400" cy="914400"/>
          </a:xfrm>
          <a:prstGeom prst="rect">
            <a:avLst/>
          </a:prstGeom>
        </p:spPr>
      </p:pic>
      <p:sp>
        <p:nvSpPr>
          <p:cNvPr id="17" name="!!leafnum3"/>
          <p:cNvSpPr txBox="1"/>
          <p:nvPr/>
        </p:nvSpPr>
        <p:spPr>
          <a:xfrm>
            <a:off x="2532888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!!leaflab3"/>
          <p:cNvSpPr txBox="1"/>
          <p:nvPr/>
        </p:nvSpPr>
        <p:spPr>
          <a:xfrm>
            <a:off x="292608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4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Evaluation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</a:t>
            </a:r>
            <a:endParaRPr lang="en-US" sz="1000" dirty="0"/>
          </a:p>
        </p:txBody>
      </p:sp>
      <p:pic>
        <p:nvPicPr>
          <p:cNvPr id="3" name="!!leaf2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2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3: Lending &amp; Risk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1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2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2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M6 · Risk Engine</a:t>
            </a:r>
            <a:endParaRPr lang="en-US" sz="1500" dirty="0"/>
          </a:p>
        </p:txBody>
      </p:sp>
      <p:pic>
        <p:nvPicPr>
          <p:cNvPr id="17" name="!!mod21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2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M7 · Lending &amp; Liquidation</a:t>
            </a:r>
            <a:endParaRPr lang="en-US" sz="1500" dirty="0"/>
          </a:p>
        </p:txBody>
      </p:sp>
      <p:pic>
        <p:nvPicPr>
          <p:cNvPr id="19" name="!!mod2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2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M10 · Clients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Continuously checks whether every loan is still safe.</a:t>
            </a:r>
            <a:endParaRPr lang="en-US" sz="1700" dirty="0"/>
          </a:p>
        </p:txBody>
      </p:sp>
      <p:sp>
        <p:nvSpPr>
          <p:cNvPr id="23" name="Shape 14"/>
          <p:cNvSpPr/>
          <p:nvPr/>
        </p:nvSpPr>
        <p:spPr>
          <a:xfrm>
            <a:off x="4480560" y="2606040"/>
            <a:ext cx="6858000" cy="548640"/>
          </a:xfrm>
          <a:prstGeom prst="roundRect">
            <a:avLst>
              <a:gd name="adj" fmla="val 13333"/>
            </a:avLst>
          </a:prstGeom>
          <a:solidFill>
            <a:srgbClr val="181818"/>
          </a:solidFill>
          <a:ln w="12700">
            <a:solidFill>
              <a:srgbClr val="E2B544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4480560" y="26060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 Factor = Σ quantity × price × λ ÷ debt</a:t>
            </a:r>
            <a:endParaRPr lang="en-US" sz="17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3337560"/>
          <a:ext cx="6858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≥ 1.15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Healthy, can borrow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1.00 – 1.15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New borrowing frozen, 6 h to top up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0.95 – 1.00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Reserve buffer band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&lt; 0.95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Liquidation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&lt; 0.90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Full closure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16"/>
          <p:cNvSpPr txBox="1"/>
          <p:nvPr/>
        </p:nvSpPr>
        <p:spPr>
          <a:xfrm>
            <a:off x="4480560" y="5029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Gold  </a:t>
            </a:r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θ = 60% · λ = 75% · 60-second price heartbeat</a:t>
            </a:r>
            <a:endParaRPr lang="en-US" sz="1400" dirty="0"/>
          </a:p>
        </p:txBody>
      </p:sp>
      <p:sp>
        <p:nvSpPr>
          <p:cNvPr id="27" name="!!why"/>
          <p:cNvSpPr txBox="1"/>
          <p:nvPr/>
        </p:nvSpPr>
        <p:spPr>
          <a:xfrm>
            <a:off x="4480560" y="56509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holds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engine proposes and the chain decides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51</a:t>
            </a:r>
            <a:endParaRPr lang="en-US" sz="1000" dirty="0"/>
          </a:p>
        </p:txBody>
      </p:sp>
      <p:pic>
        <p:nvPicPr>
          <p:cNvPr id="3" name="!!leaf2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2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3: Lending &amp; Risk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1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2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2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M6 · Risk Engine</a:t>
            </a:r>
            <a:endParaRPr lang="en-US" sz="1500" dirty="0"/>
          </a:p>
        </p:txBody>
      </p:sp>
      <p:pic>
        <p:nvPicPr>
          <p:cNvPr id="17" name="!!mod2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2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M7 · Lending &amp; Liquidation</a:t>
            </a:r>
            <a:endParaRPr lang="en-US" sz="1500" dirty="0"/>
          </a:p>
        </p:txBody>
      </p:sp>
      <p:pic>
        <p:nvPicPr>
          <p:cNvPr id="19" name="!!mod22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2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M10 · Clients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pool where users borrow against their vault shares and lenders earn interest.</a:t>
            </a:r>
            <a:endParaRPr lang="en-US" sz="1700" dirty="0"/>
          </a:p>
        </p:txBody>
      </p:sp>
      <p:sp>
        <p:nvSpPr>
          <p:cNvPr id="23" name="Text 14"/>
          <p:cNvSpPr txBox="1"/>
          <p:nvPr/>
        </p:nvSpPr>
        <p:spPr>
          <a:xfrm>
            <a:off x="4480560" y="26060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Two-slope interest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cheap up to 80% usage, then steep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index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10,000 small loans cost the same gas as one</a:t>
            </a:r>
            <a:endParaRPr lang="en-US" sz="1400" dirty="0"/>
          </a:p>
        </p:txBody>
      </p:sp>
      <p:sp>
        <p:nvSpPr>
          <p:cNvPr id="24" name="Text 15"/>
          <p:cNvSpPr txBox="1"/>
          <p:nvPr/>
        </p:nvSpPr>
        <p:spPr>
          <a:xfrm>
            <a:off x="4480560" y="34747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RESERVE BUFFER · 0.95 ≤ HF &lt; 1.00</a:t>
            </a:r>
            <a:endParaRPr lang="en-US" sz="1100" dirty="0"/>
          </a:p>
        </p:txBody>
      </p:sp>
      <p:sp>
        <p:nvSpPr>
          <p:cNvPr id="25" name="Text 16"/>
          <p:cNvSpPr txBox="1"/>
          <p:nvPr/>
        </p:nvSpPr>
        <p:spPr>
          <a:xfrm>
            <a:off x="4480560" y="3749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6-hour grace timer · price recovers: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liquidation ever happens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at most 40% of the buffer per epoch · funded from interest income</a:t>
            </a:r>
            <a:endParaRPr lang="en-US" sz="1400" dirty="0"/>
          </a:p>
        </p:txBody>
      </p:sp>
      <p:sp>
        <p:nvSpPr>
          <p:cNvPr id="26" name="Text 17"/>
          <p:cNvSpPr txBox="1"/>
          <p:nvPr/>
        </p:nvSpPr>
        <p:spPr>
          <a:xfrm>
            <a:off x="4480560" y="4480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LIQUIDATION · HF &lt; 0.95</a:t>
            </a:r>
            <a:endParaRPr lang="en-US" sz="1100" dirty="0"/>
          </a:p>
        </p:txBody>
      </p:sp>
      <p:sp>
        <p:nvSpPr>
          <p:cNvPr id="27" name="Text 18"/>
          <p:cNvSpPr txBox="1"/>
          <p:nvPr/>
        </p:nvSpPr>
        <p:spPr>
          <a:xfrm>
            <a:off x="4480560" y="4754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most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the debt · bonus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5% → 3% over 20 blocks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HF 0.95 returns to </a:t>
            </a:r>
            <a:pPr indent="0" marL="0">
              <a:buNone/>
            </a:pPr>
            <a:r>
              <a:rPr lang="en-US" sz="14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 1.11</a:t>
            </a:r>
            <a:endParaRPr lang="en-US" sz="1400" dirty="0"/>
          </a:p>
        </p:txBody>
      </p:sp>
      <p:sp>
        <p:nvSpPr>
          <p:cNvPr id="28" name="!!why"/>
          <p:cNvSpPr txBox="1"/>
          <p:nvPr/>
        </p:nvSpPr>
        <p:spPr>
          <a:xfrm>
            <a:off x="4480560" y="56509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holds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Buffer: a capacitor riding through a voltage dip · grace timer: debounce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52</a:t>
            </a:r>
            <a:endParaRPr lang="en-US" sz="1000" dirty="0"/>
          </a:p>
        </p:txBody>
      </p:sp>
      <p:pic>
        <p:nvPicPr>
          <p:cNvPr id="3" name="!!leaf2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2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3: Lending &amp; Risk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1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1300" dirty="0"/>
          </a:p>
        </p:txBody>
      </p:sp>
      <p:pic>
        <p:nvPicPr>
          <p:cNvPr id="12" name="!!leaf3" descr="C:\Users\USER\AppData\Local\Temp\claude\C--Users-USER-OneDrive-Desktop-RWA-vault\22c0d93f-95db-488a-9ad8-cfe9b0a46593\scratchpad\deck\art5\blank_silver_d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3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!!modline"/>
          <p:cNvSpPr/>
          <p:nvPr/>
        </p:nvSpPr>
        <p:spPr>
          <a:xfrm>
            <a:off x="850392" y="2103120"/>
            <a:ext cx="0" cy="192024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15" name="!!mod20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6" name="!!modlab2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M6 · Risk Engine</a:t>
            </a:r>
            <a:endParaRPr lang="en-US" sz="1500" dirty="0"/>
          </a:p>
        </p:txBody>
      </p:sp>
      <p:pic>
        <p:nvPicPr>
          <p:cNvPr id="17" name="!!mod2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88920"/>
            <a:ext cx="548640" cy="548640"/>
          </a:xfrm>
          <a:prstGeom prst="rect">
            <a:avLst/>
          </a:prstGeom>
        </p:spPr>
      </p:pic>
      <p:sp>
        <p:nvSpPr>
          <p:cNvPr id="18" name="!!modlab21"/>
          <p:cNvSpPr txBox="1"/>
          <p:nvPr/>
        </p:nvSpPr>
        <p:spPr>
          <a:xfrm>
            <a:off x="1298448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M7 · Lending &amp; Liquidation</a:t>
            </a:r>
            <a:endParaRPr lang="en-US" sz="1500" dirty="0"/>
          </a:p>
        </p:txBody>
      </p:sp>
      <p:pic>
        <p:nvPicPr>
          <p:cNvPr id="19" name="!!mod22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49040"/>
            <a:ext cx="548640" cy="548640"/>
          </a:xfrm>
          <a:prstGeom prst="rect">
            <a:avLst/>
          </a:prstGeom>
        </p:spPr>
      </p:pic>
      <p:sp>
        <p:nvSpPr>
          <p:cNvPr id="20" name="!!modlab22"/>
          <p:cNvSpPr txBox="1"/>
          <p:nvPr/>
        </p:nvSpPr>
        <p:spPr>
          <a:xfrm>
            <a:off x="1298448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M10 · Clients</a:t>
            </a:r>
            <a:endParaRPr lang="en-US" sz="1500" dirty="0"/>
          </a:p>
        </p:txBody>
      </p:sp>
      <p:sp>
        <p:nvSpPr>
          <p:cNvPr id="21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apps users and operators use.</a:t>
            </a:r>
            <a:endParaRPr lang="en-US" sz="1700" dirty="0"/>
          </a:p>
        </p:txBody>
      </p:sp>
      <p:sp>
        <p:nvSpPr>
          <p:cNvPr id="23" name="Text 14"/>
          <p:cNvSpPr txBox="1"/>
          <p:nvPr/>
        </p:nvSpPr>
        <p:spPr>
          <a:xfrm>
            <a:off x="4480560" y="260604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Borrower/lender PWA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invest, borrow, repay, withdraw, and download and verify proofs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Falcon key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generated on the device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stored in IndexedDB, never transmitted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Operations and custodian console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ML-DSA-65 reserve reports, buffer and oracle health</a:t>
            </a:r>
            <a:endParaRPr lang="en-US" sz="1500" dirty="0"/>
          </a:p>
        </p:txBody>
      </p:sp>
      <p:sp>
        <p:nvSpPr>
          <p:cNvPr id="24" name="!!why"/>
          <p:cNvSpPr txBox="1"/>
          <p:nvPr/>
        </p:nvSpPr>
        <p:spPr>
          <a:xfrm>
            <a:off x="4480560" y="56509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holds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off-chain component can move a user’s funds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Four Leaves, One System</a:t>
            </a:r>
            <a:endParaRPr lang="en-US" sz="3400" dirty="0"/>
          </a:p>
        </p:txBody>
      </p:sp>
      <p:sp>
        <p:nvSpPr>
          <p:cNvPr id="5" name="!!hubring"/>
          <p:cNvSpPr/>
          <p:nvPr/>
        </p:nvSpPr>
        <p:spPr>
          <a:xfrm>
            <a:off x="2990088" y="2240280"/>
            <a:ext cx="6217920" cy="3383280"/>
          </a:xfrm>
          <a:prstGeom prst="ellipse">
            <a:avLst/>
          </a:prstGeom>
          <a:ln w="25400">
            <a:solidFill>
              <a:srgbClr val="2C2C2C"/>
            </a:solidFill>
            <a:prstDash val="solid"/>
          </a:ln>
        </p:spPr>
      </p:sp>
      <p:pic>
        <p:nvPicPr>
          <p:cNvPr id="6" name="!!ingot" descr="C:\Users\USER\AppData\Local\Temp\claude\C--Users-USER-OneDrive-Desktop-RWA-vault\22c0d93f-95db-488a-9ad8-cfe9b0a46593\scratchpad\deck\art5\ingo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3429000"/>
            <a:ext cx="1737360" cy="1004194"/>
          </a:xfrm>
          <a:prstGeom prst="rect">
            <a:avLst/>
          </a:prstGeom>
        </p:spPr>
      </p:pic>
      <p:pic>
        <p:nvPicPr>
          <p:cNvPr id="7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783080"/>
            <a:ext cx="914400" cy="914400"/>
          </a:xfrm>
          <a:prstGeom prst="rect">
            <a:avLst/>
          </a:prstGeom>
        </p:spPr>
      </p:pic>
      <p:sp>
        <p:nvSpPr>
          <p:cNvPr id="8" name="!!leafnum0"/>
          <p:cNvSpPr txBox="1"/>
          <p:nvPr/>
        </p:nvSpPr>
        <p:spPr>
          <a:xfrm>
            <a:off x="5641848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!!leaflab0"/>
          <p:cNvSpPr txBox="1"/>
          <p:nvPr/>
        </p:nvSpPr>
        <p:spPr>
          <a:xfrm>
            <a:off x="6830568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1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</a:t>
            </a:r>
            <a:endParaRPr lang="en-US" sz="1500" dirty="0"/>
          </a:p>
        </p:txBody>
      </p:sp>
      <p:pic>
        <p:nvPicPr>
          <p:cNvPr id="10" name="!!leaf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08" y="3474720"/>
            <a:ext cx="914400" cy="914400"/>
          </a:xfrm>
          <a:prstGeom prst="rect">
            <a:avLst/>
          </a:prstGeom>
        </p:spPr>
      </p:pic>
      <p:sp>
        <p:nvSpPr>
          <p:cNvPr id="11" name="!!leafnum1"/>
          <p:cNvSpPr txBox="1"/>
          <p:nvPr/>
        </p:nvSpPr>
        <p:spPr>
          <a:xfrm>
            <a:off x="8750808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!!leaflab1"/>
          <p:cNvSpPr txBox="1"/>
          <p:nvPr/>
        </p:nvSpPr>
        <p:spPr>
          <a:xfrm>
            <a:off x="9939528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2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Investment Path</a:t>
            </a:r>
            <a:endParaRPr lang="en-US" sz="1500" dirty="0"/>
          </a:p>
        </p:txBody>
      </p:sp>
      <p:pic>
        <p:nvPicPr>
          <p:cNvPr id="13" name="!!leaf2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14" name="!!leafnum2"/>
          <p:cNvSpPr txBox="1"/>
          <p:nvPr/>
        </p:nvSpPr>
        <p:spPr>
          <a:xfrm>
            <a:off x="5641848" y="5120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!!leaflab2"/>
          <p:cNvSpPr txBox="1"/>
          <p:nvPr/>
        </p:nvSpPr>
        <p:spPr>
          <a:xfrm>
            <a:off x="6830568" y="5257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3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Lending &amp; Risk</a:t>
            </a:r>
            <a:endParaRPr lang="en-US" sz="1500" dirty="0"/>
          </a:p>
        </p:txBody>
      </p:sp>
      <p:pic>
        <p:nvPicPr>
          <p:cNvPr id="16" name="!!leaf3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8588" y="3360420"/>
            <a:ext cx="1143000" cy="1143000"/>
          </a:xfrm>
          <a:prstGeom prst="rect">
            <a:avLst/>
          </a:prstGeom>
        </p:spPr>
      </p:pic>
      <p:sp>
        <p:nvSpPr>
          <p:cNvPr id="17" name="!!leafnum3"/>
          <p:cNvSpPr txBox="1"/>
          <p:nvPr/>
        </p:nvSpPr>
        <p:spPr>
          <a:xfrm>
            <a:off x="2418588" y="33604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3800" dirty="0"/>
          </a:p>
        </p:txBody>
      </p:sp>
      <p:sp>
        <p:nvSpPr>
          <p:cNvPr id="18" name="!!leaflab3"/>
          <p:cNvSpPr txBox="1"/>
          <p:nvPr/>
        </p:nvSpPr>
        <p:spPr>
          <a:xfrm>
            <a:off x="292608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4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Evaluation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54</a:t>
            </a:r>
            <a:endParaRPr lang="en-US" sz="1000" dirty="0"/>
          </a:p>
        </p:txBody>
      </p:sp>
      <p:pic>
        <p:nvPicPr>
          <p:cNvPr id="3" name="!!leaf3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662940"/>
            <a:ext cx="777240" cy="777240"/>
          </a:xfrm>
          <a:prstGeom prst="rect">
            <a:avLst/>
          </a:prstGeom>
        </p:spPr>
      </p:pic>
      <p:sp>
        <p:nvSpPr>
          <p:cNvPr id="4" name="!!leafnum3"/>
          <p:cNvSpPr txBox="1"/>
          <p:nvPr/>
        </p:nvSpPr>
        <p:spPr>
          <a:xfrm>
            <a:off x="507492" y="662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2600" dirty="0"/>
          </a:p>
        </p:txBody>
      </p:sp>
      <p:sp>
        <p:nvSpPr>
          <p:cNvPr id="5" name="!!kicker"/>
          <p:cNvSpPr txBox="1"/>
          <p:nvPr/>
        </p:nvSpPr>
        <p:spPr>
          <a:xfrm>
            <a:off x="1463040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6" name="!!title"/>
          <p:cNvSpPr txBox="1"/>
          <p:nvPr/>
        </p:nvSpPr>
        <p:spPr>
          <a:xfrm>
            <a:off x="14630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Leaf 4: Evaluation</a:t>
            </a:r>
            <a:endParaRPr lang="en-US" sz="3400" dirty="0"/>
          </a:p>
        </p:txBody>
      </p:sp>
      <p:sp>
        <p:nvSpPr>
          <p:cNvPr id="7" name="!!minichain"/>
          <p:cNvSpPr/>
          <p:nvPr/>
        </p:nvSpPr>
        <p:spPr>
          <a:xfrm>
            <a:off x="777240" y="6172200"/>
            <a:ext cx="128016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pic>
        <p:nvPicPr>
          <p:cNvPr id="8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980176"/>
            <a:ext cx="384048" cy="384048"/>
          </a:xfrm>
          <a:prstGeom prst="rect">
            <a:avLst/>
          </a:prstGeom>
        </p:spPr>
      </p:pic>
      <p:sp>
        <p:nvSpPr>
          <p:cNvPr id="9" name="!!leafnum0"/>
          <p:cNvSpPr txBox="1"/>
          <p:nvPr/>
        </p:nvSpPr>
        <p:spPr>
          <a:xfrm>
            <a:off x="58521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!!leaf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980176"/>
            <a:ext cx="384048" cy="384048"/>
          </a:xfrm>
          <a:prstGeom prst="rect">
            <a:avLst/>
          </a:prstGeom>
        </p:spPr>
      </p:pic>
      <p:sp>
        <p:nvSpPr>
          <p:cNvPr id="11" name="!!leafnum1"/>
          <p:cNvSpPr txBox="1"/>
          <p:nvPr/>
        </p:nvSpPr>
        <p:spPr>
          <a:xfrm>
            <a:off x="122529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1300" dirty="0"/>
          </a:p>
        </p:txBody>
      </p:sp>
      <p:pic>
        <p:nvPicPr>
          <p:cNvPr id="12" name="!!leaf2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5980176"/>
            <a:ext cx="384048" cy="384048"/>
          </a:xfrm>
          <a:prstGeom prst="rect">
            <a:avLst/>
          </a:prstGeom>
        </p:spPr>
      </p:pic>
      <p:sp>
        <p:nvSpPr>
          <p:cNvPr id="13" name="!!leafnum2"/>
          <p:cNvSpPr txBox="1"/>
          <p:nvPr/>
        </p:nvSpPr>
        <p:spPr>
          <a:xfrm>
            <a:off x="1865376" y="5980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1300" dirty="0"/>
          </a:p>
        </p:txBody>
      </p:sp>
      <p:pic>
        <p:nvPicPr>
          <p:cNvPr id="14" name="!!mod3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1828800"/>
            <a:ext cx="548640" cy="548640"/>
          </a:xfrm>
          <a:prstGeom prst="rect">
            <a:avLst/>
          </a:prstGeom>
        </p:spPr>
      </p:pic>
      <p:sp>
        <p:nvSpPr>
          <p:cNvPr id="15" name="!!modlab30"/>
          <p:cNvSpPr txBox="1"/>
          <p:nvPr/>
        </p:nvSpPr>
        <p:spPr>
          <a:xfrm>
            <a:off x="1298448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M11 · Evaluation Harness</a:t>
            </a:r>
            <a:endParaRPr lang="en-US" sz="1500" dirty="0"/>
          </a:p>
        </p:txBody>
      </p:sp>
      <p:sp>
        <p:nvSpPr>
          <p:cNvPr id="16" name="!!panel"/>
          <p:cNvSpPr/>
          <p:nvPr/>
        </p:nvSpPr>
        <p:spPr>
          <a:xfrm>
            <a:off x="4160520" y="1691640"/>
            <a:ext cx="7498080" cy="4526280"/>
          </a:xfrm>
          <a:prstGeom prst="roundRect">
            <a:avLst>
              <a:gd name="adj" fmla="val 2020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7" name="!!tagline"/>
          <p:cNvSpPr txBox="1"/>
          <p:nvPr/>
        </p:nvSpPr>
        <p:spPr>
          <a:xfrm>
            <a:off x="4480560" y="18928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automated pipeline that turns every claim into measured data.</a:t>
            </a:r>
            <a:endParaRPr lang="en-US" sz="17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2606040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846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Control build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same system with ECDSA, one compile flag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Crypto and gas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 algorithms on desktop, browser, mid-range Android · 1 to 4,096 actions per epoch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Buffer test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2020 and 2024 gold crashes + 10,000 simulated price paths vs plain Aave V3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Oracle attack test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1, 2 and 3 malicious feeds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Scale test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10,000 open positions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!!why"/>
          <p:cNvSpPr txBox="1"/>
          <p:nvPr/>
        </p:nvSpPr>
        <p:spPr>
          <a:xfrm>
            <a:off x="4480560" y="56509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holds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hypotheses are falsifiable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Four Leaves, One System</a:t>
            </a:r>
            <a:endParaRPr lang="en-US" sz="3400" dirty="0"/>
          </a:p>
        </p:txBody>
      </p:sp>
      <p:sp>
        <p:nvSpPr>
          <p:cNvPr id="5" name="!!hubring"/>
          <p:cNvSpPr/>
          <p:nvPr/>
        </p:nvSpPr>
        <p:spPr>
          <a:xfrm>
            <a:off x="2990088" y="2240280"/>
            <a:ext cx="6217920" cy="3383280"/>
          </a:xfrm>
          <a:prstGeom prst="ellipse">
            <a:avLst/>
          </a:prstGeom>
          <a:ln w="25400">
            <a:solidFill>
              <a:srgbClr val="2C2C2C"/>
            </a:solidFill>
            <a:prstDash val="solid"/>
          </a:ln>
        </p:spPr>
      </p:sp>
      <p:pic>
        <p:nvPicPr>
          <p:cNvPr id="6" name="!!ingot" descr="C:\Users\USER\AppData\Local\Temp\claude\C--Users-USER-OneDrive-Desktop-RWA-vault\22c0d93f-95db-488a-9ad8-cfe9b0a46593\scratchpad\deck\art5\ingo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3429000"/>
            <a:ext cx="1737360" cy="1004194"/>
          </a:xfrm>
          <a:prstGeom prst="rect">
            <a:avLst/>
          </a:prstGeom>
        </p:spPr>
      </p:pic>
      <p:pic>
        <p:nvPicPr>
          <p:cNvPr id="7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783080"/>
            <a:ext cx="914400" cy="914400"/>
          </a:xfrm>
          <a:prstGeom prst="rect">
            <a:avLst/>
          </a:prstGeom>
        </p:spPr>
      </p:pic>
      <p:sp>
        <p:nvSpPr>
          <p:cNvPr id="8" name="!!leafnum0"/>
          <p:cNvSpPr txBox="1"/>
          <p:nvPr/>
        </p:nvSpPr>
        <p:spPr>
          <a:xfrm>
            <a:off x="5641848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!!leaflab0"/>
          <p:cNvSpPr txBox="1"/>
          <p:nvPr/>
        </p:nvSpPr>
        <p:spPr>
          <a:xfrm>
            <a:off x="6830568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1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</a:t>
            </a:r>
            <a:endParaRPr lang="en-US" sz="1500" dirty="0"/>
          </a:p>
        </p:txBody>
      </p:sp>
      <p:pic>
        <p:nvPicPr>
          <p:cNvPr id="10" name="!!leaf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08" y="3474720"/>
            <a:ext cx="914400" cy="914400"/>
          </a:xfrm>
          <a:prstGeom prst="rect">
            <a:avLst/>
          </a:prstGeom>
        </p:spPr>
      </p:pic>
      <p:sp>
        <p:nvSpPr>
          <p:cNvPr id="11" name="!!leafnum1"/>
          <p:cNvSpPr txBox="1"/>
          <p:nvPr/>
        </p:nvSpPr>
        <p:spPr>
          <a:xfrm>
            <a:off x="8750808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!!leaflab1"/>
          <p:cNvSpPr txBox="1"/>
          <p:nvPr/>
        </p:nvSpPr>
        <p:spPr>
          <a:xfrm>
            <a:off x="9939528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2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Investment Path</a:t>
            </a:r>
            <a:endParaRPr lang="en-US" sz="1500" dirty="0"/>
          </a:p>
        </p:txBody>
      </p:sp>
      <p:pic>
        <p:nvPicPr>
          <p:cNvPr id="13" name="!!leaf2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14" name="!!leafnum2"/>
          <p:cNvSpPr txBox="1"/>
          <p:nvPr/>
        </p:nvSpPr>
        <p:spPr>
          <a:xfrm>
            <a:off x="5641848" y="5120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!!leaflab2"/>
          <p:cNvSpPr txBox="1"/>
          <p:nvPr/>
        </p:nvSpPr>
        <p:spPr>
          <a:xfrm>
            <a:off x="6830568" y="5257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3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Lending &amp; Risk</a:t>
            </a:r>
            <a:endParaRPr lang="en-US" sz="1500" dirty="0"/>
          </a:p>
        </p:txBody>
      </p:sp>
      <p:pic>
        <p:nvPicPr>
          <p:cNvPr id="16" name="!!leaf3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888" y="3474720"/>
            <a:ext cx="914400" cy="914400"/>
          </a:xfrm>
          <a:prstGeom prst="rect">
            <a:avLst/>
          </a:prstGeom>
        </p:spPr>
      </p:pic>
      <p:sp>
        <p:nvSpPr>
          <p:cNvPr id="17" name="!!leafnum3"/>
          <p:cNvSpPr txBox="1"/>
          <p:nvPr/>
        </p:nvSpPr>
        <p:spPr>
          <a:xfrm>
            <a:off x="2532888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!!leaflab3"/>
          <p:cNvSpPr txBox="1"/>
          <p:nvPr/>
        </p:nvSpPr>
        <p:spPr>
          <a:xfrm>
            <a:off x="292608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4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Evaluation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Timeline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10424160" cy="0"/>
          </a:xfrm>
          <a:prstGeom prst="line">
            <a:avLst/>
          </a:prstGeom>
          <a:noFill/>
          <a:ln w="25400">
            <a:solidFill>
              <a:srgbClr val="2C2C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22661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1</a:t>
            </a:r>
            <a:pPr algn="ctr"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M1–M4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89082" y="1920240"/>
            <a:ext cx="22661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2</a:t>
            </a:r>
            <a:pPr algn="ctr"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M5, M8, M9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55203" y="1920240"/>
            <a:ext cx="36257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3</a:t>
            </a:r>
            <a:pPr algn="ctr"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M6, M7, M10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80998" y="1920240"/>
            <a:ext cx="22661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 4</a:t>
            </a:r>
            <a:pPr algn="ctr"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M11</a:t>
            </a:r>
            <a:endParaRPr lang="en-US" sz="1400" dirty="0"/>
          </a:p>
        </p:txBody>
      </p:sp>
      <p:pic>
        <p:nvPicPr>
          <p:cNvPr id="10" name="!!leaf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2194" y="2359152"/>
            <a:ext cx="493776" cy="49377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083242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MS1</a:t>
            </a:r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week 6</a:t>
            </a:r>
            <a:endParaRPr lang="en-US" sz="1300" dirty="0"/>
          </a:p>
        </p:txBody>
      </p:sp>
      <p:pic>
        <p:nvPicPr>
          <p:cNvPr id="12" name="!!leaf1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315" y="235915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49363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MS2 (FYP-I)</a:t>
            </a:r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week 11</a:t>
            </a:r>
            <a:endParaRPr lang="en-US" sz="1300" dirty="0"/>
          </a:p>
        </p:txBody>
      </p:sp>
      <p:pic>
        <p:nvPicPr>
          <p:cNvPr id="14" name="!!leaf2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110" y="235915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975158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MS3</a:t>
            </a:r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week 19</a:t>
            </a:r>
            <a:endParaRPr lang="en-US" sz="1300" dirty="0"/>
          </a:p>
        </p:txBody>
      </p:sp>
      <p:pic>
        <p:nvPicPr>
          <p:cNvPr id="16" name="!!leaf3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0232" y="2359152"/>
            <a:ext cx="493776" cy="49377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24128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MS4</a:t>
            </a:r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week 24</a:t>
            </a:r>
            <a:endParaRPr lang="en-US" sz="13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Milestone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Demonstration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MS1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 gold lot registered and tokenized against a PQ-signed reserve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MS2 (FYP-I)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 PKR 5,000 deposit becomes vault shares, with a Merkle proof verified offline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MS3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Borrow, price drop, then buffer or liquidation with zero bad debt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MS4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Every research question answered with measured data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TOOLS AND TECHNOLOGY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Tools and Technology</a:t>
            </a:r>
            <a:endParaRPr lang="en-US" sz="34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48056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Layer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Tools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Used for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E2B5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Smart contracts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Solidity 0.8.26, Foundry, OpenZeppelin 5.x, T-REX, ONCHAINID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Registry, vault, lending pool, liquidation, anchor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Contract verification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Foundry fuzz and invariant tests, Halmos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Vault rounding, health factor, liquidation rules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Post-quantum cryptography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PQClean, Rust, napi-rs, WebAssembly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Falcon, ML-DSA, SLH-DSA, ML-KEM on servers and browser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Backend services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Node.js 22, NestJS, TypeScript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Verifier, oracle, risk engine, settlement, batcher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Data and messaging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Redis 7 Streams, PostgreSQL 16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Epoch and risk queues, double-entry ledger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Frontend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React 18 (PWA), viem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In-browser PQ signing, operations console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Blockchain network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Arbitrum Sepolia (testnet)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Ethereum-compatible, no real funds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Evaluation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Python, Foundry gas snapshots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Benchmarks, gas curves, price-crash replays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2B54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Engineering workflow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pnpm monorepo, GitHub Actions CI, Obsidian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8A8A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Shared codebase, quality gates, documentation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SUSTAINABLE DEVELOPMENT GOALS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Relevant Sustainable Development Goals</a:t>
            </a:r>
            <a:endParaRPr lang="en-US" sz="3400" dirty="0"/>
          </a:p>
        </p:txBody>
      </p:sp>
      <p:sp>
        <p:nvSpPr>
          <p:cNvPr id="5" name="!!seg0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16290000"/>
              <a:gd name="adj2" fmla="val 20430000"/>
              <a:gd name="adj3" fmla="val 13000"/>
            </a:avLst>
          </a:prstGeom>
          <a:solidFill>
            <a:srgbClr val="E5243B"/>
          </a:solidFill>
          <a:ln/>
        </p:spPr>
      </p:sp>
      <p:sp>
        <p:nvSpPr>
          <p:cNvPr id="6" name="!!segn0"/>
          <p:cNvSpPr txBox="1"/>
          <p:nvPr/>
        </p:nvSpPr>
        <p:spPr>
          <a:xfrm>
            <a:off x="3885699" y="2319589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!!seg1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20610000"/>
              <a:gd name="adj2" fmla="val 3150000"/>
              <a:gd name="adj3" fmla="val 13000"/>
            </a:avLst>
          </a:prstGeom>
          <a:solidFill>
            <a:srgbClr val="FF3A21"/>
          </a:solidFill>
          <a:ln/>
        </p:spPr>
      </p:sp>
      <p:sp>
        <p:nvSpPr>
          <p:cNvPr id="8" name="!!segn1"/>
          <p:cNvSpPr txBox="1"/>
          <p:nvPr/>
        </p:nvSpPr>
        <p:spPr>
          <a:xfrm>
            <a:off x="4507033" y="423185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5</a:t>
            </a:r>
            <a:endParaRPr lang="en-US" sz="2000" dirty="0"/>
          </a:p>
        </p:txBody>
      </p:sp>
      <p:sp>
        <p:nvSpPr>
          <p:cNvPr id="9" name="!!seg2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3330000"/>
              <a:gd name="adj2" fmla="val 7470000"/>
              <a:gd name="adj3" fmla="val 13000"/>
            </a:avLst>
          </a:prstGeom>
          <a:solidFill>
            <a:srgbClr val="A21942"/>
          </a:solidFill>
          <a:ln/>
        </p:spPr>
      </p:sp>
      <p:sp>
        <p:nvSpPr>
          <p:cNvPr id="10" name="!!segn2"/>
          <p:cNvSpPr txBox="1"/>
          <p:nvPr/>
        </p:nvSpPr>
        <p:spPr>
          <a:xfrm>
            <a:off x="2880360" y="5413705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8</a:t>
            </a:r>
            <a:endParaRPr lang="en-US" sz="2000" dirty="0"/>
          </a:p>
        </p:txBody>
      </p:sp>
      <p:sp>
        <p:nvSpPr>
          <p:cNvPr id="11" name="!!seg3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7650000"/>
              <a:gd name="adj2" fmla="val 11790000"/>
              <a:gd name="adj3" fmla="val 13000"/>
            </a:avLst>
          </a:prstGeom>
          <a:solidFill>
            <a:srgbClr val="FD6925"/>
          </a:solidFill>
          <a:ln/>
        </p:spPr>
      </p:sp>
      <p:sp>
        <p:nvSpPr>
          <p:cNvPr id="12" name="!!segn3"/>
          <p:cNvSpPr txBox="1"/>
          <p:nvPr/>
        </p:nvSpPr>
        <p:spPr>
          <a:xfrm>
            <a:off x="1253687" y="423185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9</a:t>
            </a:r>
            <a:endParaRPr lang="en-US" sz="2000" dirty="0"/>
          </a:p>
        </p:txBody>
      </p:sp>
      <p:sp>
        <p:nvSpPr>
          <p:cNvPr id="13" name="!!seg4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11970000"/>
              <a:gd name="adj2" fmla="val 16110000"/>
              <a:gd name="adj3" fmla="val 13000"/>
            </a:avLst>
          </a:prstGeom>
          <a:solidFill>
            <a:srgbClr val="00689D"/>
          </a:solidFill>
          <a:ln/>
        </p:spPr>
      </p:sp>
      <p:sp>
        <p:nvSpPr>
          <p:cNvPr id="14" name="!!segn4"/>
          <p:cNvSpPr txBox="1"/>
          <p:nvPr/>
        </p:nvSpPr>
        <p:spPr>
          <a:xfrm>
            <a:off x="1875021" y="2319589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16</a:t>
            </a:r>
            <a:endParaRPr lang="en-US" sz="2000" dirty="0"/>
          </a:p>
        </p:txBody>
      </p:sp>
      <p:sp>
        <p:nvSpPr>
          <p:cNvPr id="15" name="!!sdgc"/>
          <p:cNvSpPr txBox="1"/>
          <p:nvPr/>
        </p:nvSpPr>
        <p:spPr>
          <a:xfrm>
            <a:off x="214884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SDGs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6400800" y="2011680"/>
            <a:ext cx="457200" cy="457200"/>
          </a:xfrm>
          <a:prstGeom prst="ellipse">
            <a:avLst/>
          </a:prstGeom>
          <a:solidFill>
            <a:srgbClr val="E524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Poverty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0" y="2788920"/>
            <a:ext cx="457200" cy="457200"/>
          </a:xfrm>
          <a:prstGeom prst="ellipse">
            <a:avLst/>
          </a:prstGeom>
          <a:solidFill>
            <a:srgbClr val="FF3A2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 Equality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A2194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8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Decent Work and Economic Growth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00800" y="4343400"/>
            <a:ext cx="457200" cy="457200"/>
          </a:xfrm>
          <a:prstGeom prst="ellipse">
            <a:avLst/>
          </a:prstGeom>
          <a:solidFill>
            <a:srgbClr val="FD692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9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Industry, Innovation and Infrastructure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00800" y="5120640"/>
            <a:ext cx="457200" cy="457200"/>
          </a:xfrm>
          <a:prstGeom prst="ellipse">
            <a:avLst/>
          </a:prstGeom>
          <a:solidFill>
            <a:srgbClr val="00689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16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5120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Peace, Justice and Strong Institutions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SUSTAINABLE DEVELOPMENT GOALS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Relevant Sustainable Development Goals</a:t>
            </a:r>
            <a:endParaRPr lang="en-US" sz="3400" dirty="0"/>
          </a:p>
        </p:txBody>
      </p:sp>
      <p:sp>
        <p:nvSpPr>
          <p:cNvPr id="5" name="!!seg0"/>
          <p:cNvSpPr/>
          <p:nvPr/>
        </p:nvSpPr>
        <p:spPr>
          <a:xfrm>
            <a:off x="1051560" y="1737360"/>
            <a:ext cx="4389120" cy="4389120"/>
          </a:xfrm>
          <a:prstGeom prst="blockArc">
            <a:avLst>
              <a:gd name="adj1" fmla="val 16290000"/>
              <a:gd name="adj2" fmla="val 20430000"/>
              <a:gd name="adj3" fmla="val 17000"/>
            </a:avLst>
          </a:prstGeom>
          <a:solidFill>
            <a:srgbClr val="E5243B"/>
          </a:solidFill>
          <a:ln/>
        </p:spPr>
      </p:sp>
      <p:sp>
        <p:nvSpPr>
          <p:cNvPr id="6" name="!!segn0"/>
          <p:cNvSpPr txBox="1"/>
          <p:nvPr/>
        </p:nvSpPr>
        <p:spPr>
          <a:xfrm>
            <a:off x="3950196" y="2230817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!!seg1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20610000"/>
              <a:gd name="adj2" fmla="val 3150000"/>
              <a:gd name="adj3" fmla="val 13000"/>
            </a:avLst>
          </a:prstGeom>
          <a:solidFill>
            <a:srgbClr val="FF3A21">
              <a:alpha val="28000"/>
            </a:srgbClr>
          </a:solidFill>
          <a:ln/>
        </p:spPr>
      </p:sp>
      <p:sp>
        <p:nvSpPr>
          <p:cNvPr id="8" name="!!segn1"/>
          <p:cNvSpPr txBox="1"/>
          <p:nvPr/>
        </p:nvSpPr>
        <p:spPr>
          <a:xfrm>
            <a:off x="4507033" y="423185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5</a:t>
            </a:r>
            <a:endParaRPr lang="en-US" sz="2000" dirty="0"/>
          </a:p>
        </p:txBody>
      </p:sp>
      <p:sp>
        <p:nvSpPr>
          <p:cNvPr id="9" name="!!seg2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3330000"/>
              <a:gd name="adj2" fmla="val 7470000"/>
              <a:gd name="adj3" fmla="val 13000"/>
            </a:avLst>
          </a:prstGeom>
          <a:solidFill>
            <a:srgbClr val="A21942">
              <a:alpha val="28000"/>
            </a:srgbClr>
          </a:solidFill>
          <a:ln/>
        </p:spPr>
      </p:sp>
      <p:sp>
        <p:nvSpPr>
          <p:cNvPr id="10" name="!!segn2"/>
          <p:cNvSpPr txBox="1"/>
          <p:nvPr/>
        </p:nvSpPr>
        <p:spPr>
          <a:xfrm>
            <a:off x="2880360" y="5413705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8</a:t>
            </a:r>
            <a:endParaRPr lang="en-US" sz="2000" dirty="0"/>
          </a:p>
        </p:txBody>
      </p:sp>
      <p:sp>
        <p:nvSpPr>
          <p:cNvPr id="11" name="!!seg3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7650000"/>
              <a:gd name="adj2" fmla="val 11790000"/>
              <a:gd name="adj3" fmla="val 13000"/>
            </a:avLst>
          </a:prstGeom>
          <a:solidFill>
            <a:srgbClr val="FD6925">
              <a:alpha val="28000"/>
            </a:srgbClr>
          </a:solidFill>
          <a:ln/>
        </p:spPr>
      </p:sp>
      <p:sp>
        <p:nvSpPr>
          <p:cNvPr id="12" name="!!segn3"/>
          <p:cNvSpPr txBox="1"/>
          <p:nvPr/>
        </p:nvSpPr>
        <p:spPr>
          <a:xfrm>
            <a:off x="1253687" y="423185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9</a:t>
            </a:r>
            <a:endParaRPr lang="en-US" sz="2000" dirty="0"/>
          </a:p>
        </p:txBody>
      </p:sp>
      <p:sp>
        <p:nvSpPr>
          <p:cNvPr id="13" name="!!seg4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11970000"/>
              <a:gd name="adj2" fmla="val 16110000"/>
              <a:gd name="adj3" fmla="val 13000"/>
            </a:avLst>
          </a:prstGeom>
          <a:solidFill>
            <a:srgbClr val="00689D">
              <a:alpha val="28000"/>
            </a:srgbClr>
          </a:solidFill>
          <a:ln/>
        </p:spPr>
      </p:sp>
      <p:sp>
        <p:nvSpPr>
          <p:cNvPr id="14" name="!!segn4"/>
          <p:cNvSpPr txBox="1"/>
          <p:nvPr/>
        </p:nvSpPr>
        <p:spPr>
          <a:xfrm>
            <a:off x="1875021" y="2319589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16</a:t>
            </a:r>
            <a:endParaRPr lang="en-US" sz="2000" dirty="0"/>
          </a:p>
        </p:txBody>
      </p:sp>
      <p:sp>
        <p:nvSpPr>
          <p:cNvPr id="15" name="!!sdgc"/>
          <p:cNvSpPr txBox="1"/>
          <p:nvPr/>
        </p:nvSpPr>
        <p:spPr>
          <a:xfrm>
            <a:off x="214884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5243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6400" dirty="0"/>
          </a:p>
        </p:txBody>
      </p:sp>
      <p:sp>
        <p:nvSpPr>
          <p:cNvPr id="16" name="!!sdgk"/>
          <p:cNvSpPr txBox="1"/>
          <p:nvPr/>
        </p:nvSpPr>
        <p:spPr>
          <a:xfrm>
            <a:off x="640080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524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SDG 1</a:t>
            </a:r>
            <a:endParaRPr lang="en-US" sz="1400" dirty="0"/>
          </a:p>
        </p:txBody>
      </p:sp>
      <p:sp>
        <p:nvSpPr>
          <p:cNvPr id="17" name="!!sdgn"/>
          <p:cNvSpPr txBox="1"/>
          <p:nvPr/>
        </p:nvSpPr>
        <p:spPr>
          <a:xfrm>
            <a:off x="6400800" y="22402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No Poverty</a:t>
            </a:r>
            <a:endParaRPr lang="en-US" sz="3200" dirty="0"/>
          </a:p>
        </p:txBody>
      </p:sp>
      <p:sp>
        <p:nvSpPr>
          <p:cNvPr id="18" name="!!sdgt"/>
          <p:cNvSpPr txBox="1"/>
          <p:nvPr/>
        </p:nvSpPr>
        <p:spPr>
          <a:xfrm>
            <a:off x="6400800" y="34290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524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1.4  </a:t>
            </a:r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equal rights to economic resources, ownership of property and financial services, including microfinance</a:t>
            </a:r>
            <a:endParaRPr lang="en-US" sz="1400" dirty="0"/>
          </a:p>
        </p:txBody>
      </p:sp>
      <p:sp>
        <p:nvSpPr>
          <p:cNvPr id="19" name="!!sdgd"/>
          <p:cNvSpPr txBox="1"/>
          <p:nvPr/>
        </p:nvSpPr>
        <p:spPr>
          <a:xfrm>
            <a:off x="6400800" y="43891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Fractional ownership of gold, T-bills, Sukuk and property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PKR 1,000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plus micro-loans against it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SUSTAINABLE DEVELOPMENT GOALS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Relevant Sustainable Development Goals</a:t>
            </a:r>
            <a:endParaRPr lang="en-US" sz="3400" dirty="0"/>
          </a:p>
        </p:txBody>
      </p:sp>
      <p:sp>
        <p:nvSpPr>
          <p:cNvPr id="5" name="!!seg0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16290000"/>
              <a:gd name="adj2" fmla="val 20430000"/>
              <a:gd name="adj3" fmla="val 13000"/>
            </a:avLst>
          </a:prstGeom>
          <a:solidFill>
            <a:srgbClr val="E5243B">
              <a:alpha val="28000"/>
            </a:srgbClr>
          </a:solidFill>
          <a:ln/>
        </p:spPr>
      </p:sp>
      <p:sp>
        <p:nvSpPr>
          <p:cNvPr id="6" name="!!segn0"/>
          <p:cNvSpPr txBox="1"/>
          <p:nvPr/>
        </p:nvSpPr>
        <p:spPr>
          <a:xfrm>
            <a:off x="3885699" y="2319589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!!seg1"/>
          <p:cNvSpPr/>
          <p:nvPr/>
        </p:nvSpPr>
        <p:spPr>
          <a:xfrm>
            <a:off x="1051560" y="1737360"/>
            <a:ext cx="4389120" cy="4389120"/>
          </a:xfrm>
          <a:prstGeom prst="blockArc">
            <a:avLst>
              <a:gd name="adj1" fmla="val 20610000"/>
              <a:gd name="adj2" fmla="val 3150000"/>
              <a:gd name="adj3" fmla="val 17000"/>
            </a:avLst>
          </a:prstGeom>
          <a:solidFill>
            <a:srgbClr val="FF3A21"/>
          </a:solidFill>
          <a:ln/>
        </p:spPr>
      </p:sp>
      <p:sp>
        <p:nvSpPr>
          <p:cNvPr id="8" name="!!segn1"/>
          <p:cNvSpPr txBox="1"/>
          <p:nvPr/>
        </p:nvSpPr>
        <p:spPr>
          <a:xfrm>
            <a:off x="4611391" y="426576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5</a:t>
            </a:r>
            <a:endParaRPr lang="en-US" sz="2000" dirty="0"/>
          </a:p>
        </p:txBody>
      </p:sp>
      <p:sp>
        <p:nvSpPr>
          <p:cNvPr id="9" name="!!seg2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3330000"/>
              <a:gd name="adj2" fmla="val 7470000"/>
              <a:gd name="adj3" fmla="val 13000"/>
            </a:avLst>
          </a:prstGeom>
          <a:solidFill>
            <a:srgbClr val="A21942">
              <a:alpha val="28000"/>
            </a:srgbClr>
          </a:solidFill>
          <a:ln/>
        </p:spPr>
      </p:sp>
      <p:sp>
        <p:nvSpPr>
          <p:cNvPr id="10" name="!!segn2"/>
          <p:cNvSpPr txBox="1"/>
          <p:nvPr/>
        </p:nvSpPr>
        <p:spPr>
          <a:xfrm>
            <a:off x="2880360" y="5413705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8</a:t>
            </a:r>
            <a:endParaRPr lang="en-US" sz="2000" dirty="0"/>
          </a:p>
        </p:txBody>
      </p:sp>
      <p:sp>
        <p:nvSpPr>
          <p:cNvPr id="11" name="!!seg3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7650000"/>
              <a:gd name="adj2" fmla="val 11790000"/>
              <a:gd name="adj3" fmla="val 13000"/>
            </a:avLst>
          </a:prstGeom>
          <a:solidFill>
            <a:srgbClr val="FD6925">
              <a:alpha val="28000"/>
            </a:srgbClr>
          </a:solidFill>
          <a:ln/>
        </p:spPr>
      </p:sp>
      <p:sp>
        <p:nvSpPr>
          <p:cNvPr id="12" name="!!segn3"/>
          <p:cNvSpPr txBox="1"/>
          <p:nvPr/>
        </p:nvSpPr>
        <p:spPr>
          <a:xfrm>
            <a:off x="1253687" y="423185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9</a:t>
            </a:r>
            <a:endParaRPr lang="en-US" sz="2000" dirty="0"/>
          </a:p>
        </p:txBody>
      </p:sp>
      <p:sp>
        <p:nvSpPr>
          <p:cNvPr id="13" name="!!seg4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11970000"/>
              <a:gd name="adj2" fmla="val 16110000"/>
              <a:gd name="adj3" fmla="val 13000"/>
            </a:avLst>
          </a:prstGeom>
          <a:solidFill>
            <a:srgbClr val="00689D">
              <a:alpha val="28000"/>
            </a:srgbClr>
          </a:solidFill>
          <a:ln/>
        </p:spPr>
      </p:sp>
      <p:sp>
        <p:nvSpPr>
          <p:cNvPr id="14" name="!!segn4"/>
          <p:cNvSpPr txBox="1"/>
          <p:nvPr/>
        </p:nvSpPr>
        <p:spPr>
          <a:xfrm>
            <a:off x="1875021" y="2319589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16</a:t>
            </a:r>
            <a:endParaRPr lang="en-US" sz="2000" dirty="0"/>
          </a:p>
        </p:txBody>
      </p:sp>
      <p:sp>
        <p:nvSpPr>
          <p:cNvPr id="15" name="!!sdgc"/>
          <p:cNvSpPr txBox="1"/>
          <p:nvPr/>
        </p:nvSpPr>
        <p:spPr>
          <a:xfrm>
            <a:off x="214884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3A2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5</a:t>
            </a:r>
            <a:endParaRPr lang="en-US" sz="6400" dirty="0"/>
          </a:p>
        </p:txBody>
      </p:sp>
      <p:sp>
        <p:nvSpPr>
          <p:cNvPr id="16" name="!!sdgk"/>
          <p:cNvSpPr txBox="1"/>
          <p:nvPr/>
        </p:nvSpPr>
        <p:spPr>
          <a:xfrm>
            <a:off x="640080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3A2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SDG 5</a:t>
            </a:r>
            <a:endParaRPr lang="en-US" sz="1400" dirty="0"/>
          </a:p>
        </p:txBody>
      </p:sp>
      <p:sp>
        <p:nvSpPr>
          <p:cNvPr id="17" name="!!sdgn"/>
          <p:cNvSpPr txBox="1"/>
          <p:nvPr/>
        </p:nvSpPr>
        <p:spPr>
          <a:xfrm>
            <a:off x="6400800" y="22402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Gender Equality</a:t>
            </a:r>
            <a:endParaRPr lang="en-US" sz="3200" dirty="0"/>
          </a:p>
        </p:txBody>
      </p:sp>
      <p:sp>
        <p:nvSpPr>
          <p:cNvPr id="18" name="!!sdgt"/>
          <p:cNvSpPr txBox="1"/>
          <p:nvPr/>
        </p:nvSpPr>
        <p:spPr>
          <a:xfrm>
            <a:off x="6400800" y="34290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3A2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5.a  </a:t>
            </a:r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equal access for women to ownership and financial services</a:t>
            </a:r>
            <a:endParaRPr lang="en-US" sz="1400" dirty="0"/>
          </a:p>
        </p:txBody>
      </p:sp>
      <p:sp>
        <p:nvSpPr>
          <p:cNvPr id="19" name="!!sdgd"/>
          <p:cNvSpPr txBox="1"/>
          <p:nvPr/>
        </p:nvSpPr>
        <p:spPr>
          <a:xfrm>
            <a:off x="6400800" y="43891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mobile-first, low-minimum account helps narrow Pakistan’s 30-point gender gap: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11.9% women vs 42.3% men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SUSTAINABLE DEVELOPMENT GOALS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Relevant Sustainable Development Goals</a:t>
            </a:r>
            <a:endParaRPr lang="en-US" sz="3400" dirty="0"/>
          </a:p>
        </p:txBody>
      </p:sp>
      <p:sp>
        <p:nvSpPr>
          <p:cNvPr id="5" name="!!seg0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16290000"/>
              <a:gd name="adj2" fmla="val 20430000"/>
              <a:gd name="adj3" fmla="val 13000"/>
            </a:avLst>
          </a:prstGeom>
          <a:solidFill>
            <a:srgbClr val="E5243B">
              <a:alpha val="28000"/>
            </a:srgbClr>
          </a:solidFill>
          <a:ln/>
        </p:spPr>
      </p:sp>
      <p:sp>
        <p:nvSpPr>
          <p:cNvPr id="6" name="!!segn0"/>
          <p:cNvSpPr txBox="1"/>
          <p:nvPr/>
        </p:nvSpPr>
        <p:spPr>
          <a:xfrm>
            <a:off x="3885699" y="2319589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!!seg1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20610000"/>
              <a:gd name="adj2" fmla="val 3150000"/>
              <a:gd name="adj3" fmla="val 13000"/>
            </a:avLst>
          </a:prstGeom>
          <a:solidFill>
            <a:srgbClr val="FF3A21">
              <a:alpha val="28000"/>
            </a:srgbClr>
          </a:solidFill>
          <a:ln/>
        </p:spPr>
      </p:sp>
      <p:sp>
        <p:nvSpPr>
          <p:cNvPr id="8" name="!!segn1"/>
          <p:cNvSpPr txBox="1"/>
          <p:nvPr/>
        </p:nvSpPr>
        <p:spPr>
          <a:xfrm>
            <a:off x="4507033" y="423185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5</a:t>
            </a:r>
            <a:endParaRPr lang="en-US" sz="2000" dirty="0"/>
          </a:p>
        </p:txBody>
      </p:sp>
      <p:sp>
        <p:nvSpPr>
          <p:cNvPr id="9" name="!!seg2"/>
          <p:cNvSpPr/>
          <p:nvPr/>
        </p:nvSpPr>
        <p:spPr>
          <a:xfrm>
            <a:off x="1051560" y="1737360"/>
            <a:ext cx="4389120" cy="4389120"/>
          </a:xfrm>
          <a:prstGeom prst="blockArc">
            <a:avLst>
              <a:gd name="adj1" fmla="val 3330000"/>
              <a:gd name="adj2" fmla="val 7470000"/>
              <a:gd name="adj3" fmla="val 17000"/>
            </a:avLst>
          </a:prstGeom>
          <a:solidFill>
            <a:srgbClr val="A21942"/>
          </a:solidFill>
          <a:ln/>
        </p:spPr>
      </p:sp>
      <p:sp>
        <p:nvSpPr>
          <p:cNvPr id="10" name="!!segn2"/>
          <p:cNvSpPr txBox="1"/>
          <p:nvPr/>
        </p:nvSpPr>
        <p:spPr>
          <a:xfrm>
            <a:off x="2880360" y="5523433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8</a:t>
            </a:r>
            <a:endParaRPr lang="en-US" sz="2000" dirty="0"/>
          </a:p>
        </p:txBody>
      </p:sp>
      <p:sp>
        <p:nvSpPr>
          <p:cNvPr id="11" name="!!seg3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7650000"/>
              <a:gd name="adj2" fmla="val 11790000"/>
              <a:gd name="adj3" fmla="val 13000"/>
            </a:avLst>
          </a:prstGeom>
          <a:solidFill>
            <a:srgbClr val="FD6925">
              <a:alpha val="28000"/>
            </a:srgbClr>
          </a:solidFill>
          <a:ln/>
        </p:spPr>
      </p:sp>
      <p:sp>
        <p:nvSpPr>
          <p:cNvPr id="12" name="!!segn3"/>
          <p:cNvSpPr txBox="1"/>
          <p:nvPr/>
        </p:nvSpPr>
        <p:spPr>
          <a:xfrm>
            <a:off x="1253687" y="423185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9</a:t>
            </a:r>
            <a:endParaRPr lang="en-US" sz="2000" dirty="0"/>
          </a:p>
        </p:txBody>
      </p:sp>
      <p:sp>
        <p:nvSpPr>
          <p:cNvPr id="13" name="!!seg4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11970000"/>
              <a:gd name="adj2" fmla="val 16110000"/>
              <a:gd name="adj3" fmla="val 13000"/>
            </a:avLst>
          </a:prstGeom>
          <a:solidFill>
            <a:srgbClr val="00689D">
              <a:alpha val="28000"/>
            </a:srgbClr>
          </a:solidFill>
          <a:ln/>
        </p:spPr>
      </p:sp>
      <p:sp>
        <p:nvSpPr>
          <p:cNvPr id="14" name="!!segn4"/>
          <p:cNvSpPr txBox="1"/>
          <p:nvPr/>
        </p:nvSpPr>
        <p:spPr>
          <a:xfrm>
            <a:off x="1875021" y="2319589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16</a:t>
            </a:r>
            <a:endParaRPr lang="en-US" sz="2000" dirty="0"/>
          </a:p>
        </p:txBody>
      </p:sp>
      <p:sp>
        <p:nvSpPr>
          <p:cNvPr id="15" name="!!sdgc"/>
          <p:cNvSpPr txBox="1"/>
          <p:nvPr/>
        </p:nvSpPr>
        <p:spPr>
          <a:xfrm>
            <a:off x="214884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A21942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8</a:t>
            </a:r>
            <a:endParaRPr lang="en-US" sz="6400" dirty="0"/>
          </a:p>
        </p:txBody>
      </p:sp>
      <p:sp>
        <p:nvSpPr>
          <p:cNvPr id="16" name="!!sdgk"/>
          <p:cNvSpPr txBox="1"/>
          <p:nvPr/>
        </p:nvSpPr>
        <p:spPr>
          <a:xfrm>
            <a:off x="640080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219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SDG 8</a:t>
            </a:r>
            <a:endParaRPr lang="en-US" sz="1400" dirty="0"/>
          </a:p>
        </p:txBody>
      </p:sp>
      <p:sp>
        <p:nvSpPr>
          <p:cNvPr id="17" name="!!sdgn"/>
          <p:cNvSpPr txBox="1"/>
          <p:nvPr/>
        </p:nvSpPr>
        <p:spPr>
          <a:xfrm>
            <a:off x="6400800" y="22402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Decent Work and Economic Growth</a:t>
            </a:r>
            <a:endParaRPr lang="en-US" sz="3200" dirty="0"/>
          </a:p>
        </p:txBody>
      </p:sp>
      <p:sp>
        <p:nvSpPr>
          <p:cNvPr id="18" name="!!sdgt"/>
          <p:cNvSpPr txBox="1"/>
          <p:nvPr/>
        </p:nvSpPr>
        <p:spPr>
          <a:xfrm>
            <a:off x="6400800" y="34290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219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8.10  </a:t>
            </a:r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expand access to banking, insurance and financial services for all</a:t>
            </a:r>
            <a:endParaRPr lang="en-US" sz="1400" dirty="0"/>
          </a:p>
        </p:txBody>
      </p:sp>
      <p:sp>
        <p:nvSpPr>
          <p:cNvPr id="19" name="!!sdgd"/>
          <p:cNvSpPr txBox="1"/>
          <p:nvPr/>
        </p:nvSpPr>
        <p:spPr>
          <a:xfrm>
            <a:off x="6400800" y="43891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Investing, borrowing and lending in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platform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with PKR in and out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SUSTAINABLE DEVELOPMENT GOALS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Relevant Sustainable Development Goals</a:t>
            </a:r>
            <a:endParaRPr lang="en-US" sz="3400" dirty="0"/>
          </a:p>
        </p:txBody>
      </p:sp>
      <p:sp>
        <p:nvSpPr>
          <p:cNvPr id="5" name="!!seg0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16290000"/>
              <a:gd name="adj2" fmla="val 20430000"/>
              <a:gd name="adj3" fmla="val 13000"/>
            </a:avLst>
          </a:prstGeom>
          <a:solidFill>
            <a:srgbClr val="E5243B">
              <a:alpha val="28000"/>
            </a:srgbClr>
          </a:solidFill>
          <a:ln/>
        </p:spPr>
      </p:sp>
      <p:sp>
        <p:nvSpPr>
          <p:cNvPr id="6" name="!!segn0"/>
          <p:cNvSpPr txBox="1"/>
          <p:nvPr/>
        </p:nvSpPr>
        <p:spPr>
          <a:xfrm>
            <a:off x="3885699" y="2319589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!!seg1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20610000"/>
              <a:gd name="adj2" fmla="val 3150000"/>
              <a:gd name="adj3" fmla="val 13000"/>
            </a:avLst>
          </a:prstGeom>
          <a:solidFill>
            <a:srgbClr val="FF3A21">
              <a:alpha val="28000"/>
            </a:srgbClr>
          </a:solidFill>
          <a:ln/>
        </p:spPr>
      </p:sp>
      <p:sp>
        <p:nvSpPr>
          <p:cNvPr id="8" name="!!segn1"/>
          <p:cNvSpPr txBox="1"/>
          <p:nvPr/>
        </p:nvSpPr>
        <p:spPr>
          <a:xfrm>
            <a:off x="4507033" y="423185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5</a:t>
            </a:r>
            <a:endParaRPr lang="en-US" sz="2000" dirty="0"/>
          </a:p>
        </p:txBody>
      </p:sp>
      <p:sp>
        <p:nvSpPr>
          <p:cNvPr id="9" name="!!seg2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3330000"/>
              <a:gd name="adj2" fmla="val 7470000"/>
              <a:gd name="adj3" fmla="val 13000"/>
            </a:avLst>
          </a:prstGeom>
          <a:solidFill>
            <a:srgbClr val="A21942">
              <a:alpha val="28000"/>
            </a:srgbClr>
          </a:solidFill>
          <a:ln/>
        </p:spPr>
      </p:sp>
      <p:sp>
        <p:nvSpPr>
          <p:cNvPr id="10" name="!!segn2"/>
          <p:cNvSpPr txBox="1"/>
          <p:nvPr/>
        </p:nvSpPr>
        <p:spPr>
          <a:xfrm>
            <a:off x="2880360" y="5413705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8</a:t>
            </a:r>
            <a:endParaRPr lang="en-US" sz="2000" dirty="0"/>
          </a:p>
        </p:txBody>
      </p:sp>
      <p:sp>
        <p:nvSpPr>
          <p:cNvPr id="11" name="!!seg3"/>
          <p:cNvSpPr/>
          <p:nvPr/>
        </p:nvSpPr>
        <p:spPr>
          <a:xfrm>
            <a:off x="1051560" y="1737360"/>
            <a:ext cx="4389120" cy="4389120"/>
          </a:xfrm>
          <a:prstGeom prst="blockArc">
            <a:avLst>
              <a:gd name="adj1" fmla="val 7650000"/>
              <a:gd name="adj2" fmla="val 11790000"/>
              <a:gd name="adj3" fmla="val 17000"/>
            </a:avLst>
          </a:prstGeom>
          <a:solidFill>
            <a:srgbClr val="FD6925"/>
          </a:solidFill>
          <a:ln/>
        </p:spPr>
      </p:sp>
      <p:sp>
        <p:nvSpPr>
          <p:cNvPr id="12" name="!!segn3"/>
          <p:cNvSpPr txBox="1"/>
          <p:nvPr/>
        </p:nvSpPr>
        <p:spPr>
          <a:xfrm>
            <a:off x="1149329" y="426576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9</a:t>
            </a:r>
            <a:endParaRPr lang="en-US" sz="2000" dirty="0"/>
          </a:p>
        </p:txBody>
      </p:sp>
      <p:sp>
        <p:nvSpPr>
          <p:cNvPr id="13" name="!!seg4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11970000"/>
              <a:gd name="adj2" fmla="val 16110000"/>
              <a:gd name="adj3" fmla="val 13000"/>
            </a:avLst>
          </a:prstGeom>
          <a:solidFill>
            <a:srgbClr val="00689D">
              <a:alpha val="28000"/>
            </a:srgbClr>
          </a:solidFill>
          <a:ln/>
        </p:spPr>
      </p:sp>
      <p:sp>
        <p:nvSpPr>
          <p:cNvPr id="14" name="!!segn4"/>
          <p:cNvSpPr txBox="1"/>
          <p:nvPr/>
        </p:nvSpPr>
        <p:spPr>
          <a:xfrm>
            <a:off x="1875021" y="2319589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16</a:t>
            </a:r>
            <a:endParaRPr lang="en-US" sz="2000" dirty="0"/>
          </a:p>
        </p:txBody>
      </p:sp>
      <p:sp>
        <p:nvSpPr>
          <p:cNvPr id="15" name="!!sdgc"/>
          <p:cNvSpPr txBox="1"/>
          <p:nvPr/>
        </p:nvSpPr>
        <p:spPr>
          <a:xfrm>
            <a:off x="214884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D6925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9</a:t>
            </a:r>
            <a:endParaRPr lang="en-US" sz="6400" dirty="0"/>
          </a:p>
        </p:txBody>
      </p:sp>
      <p:sp>
        <p:nvSpPr>
          <p:cNvPr id="16" name="!!sdgk"/>
          <p:cNvSpPr txBox="1"/>
          <p:nvPr/>
        </p:nvSpPr>
        <p:spPr>
          <a:xfrm>
            <a:off x="640080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D69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SDG 9</a:t>
            </a:r>
            <a:endParaRPr lang="en-US" sz="1400" dirty="0"/>
          </a:p>
        </p:txBody>
      </p:sp>
      <p:sp>
        <p:nvSpPr>
          <p:cNvPr id="17" name="!!sdgn"/>
          <p:cNvSpPr txBox="1"/>
          <p:nvPr/>
        </p:nvSpPr>
        <p:spPr>
          <a:xfrm>
            <a:off x="6400800" y="22402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Industry, Innovation and Infrastructure</a:t>
            </a:r>
            <a:endParaRPr lang="en-US" sz="3200" dirty="0"/>
          </a:p>
        </p:txBody>
      </p:sp>
      <p:sp>
        <p:nvSpPr>
          <p:cNvPr id="18" name="!!sdgt"/>
          <p:cNvSpPr txBox="1"/>
          <p:nvPr/>
        </p:nvSpPr>
        <p:spPr>
          <a:xfrm>
            <a:off x="6400800" y="34290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D69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9.3  </a:t>
            </a:r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 to affordable credit for small enterprises</a:t>
            </a:r>
            <a:endParaRPr lang="en-US" sz="1400" dirty="0"/>
          </a:p>
        </p:txBody>
      </p:sp>
      <p:sp>
        <p:nvSpPr>
          <p:cNvPr id="19" name="!!sdgd"/>
          <p:cNvSpPr txBox="1"/>
          <p:nvPr/>
        </p:nvSpPr>
        <p:spPr>
          <a:xfrm>
            <a:off x="6400800" y="43891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Asset-backed micro-credit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without selling the asset, and a buffer that protects small borrowers from unfair liquidation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SUSTAINABLE DEVELOPMENT GOALS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Relevant Sustainable Development Goals</a:t>
            </a:r>
            <a:endParaRPr lang="en-US" sz="3400" dirty="0"/>
          </a:p>
        </p:txBody>
      </p:sp>
      <p:sp>
        <p:nvSpPr>
          <p:cNvPr id="5" name="!!seg0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16290000"/>
              <a:gd name="adj2" fmla="val 20430000"/>
              <a:gd name="adj3" fmla="val 13000"/>
            </a:avLst>
          </a:prstGeom>
          <a:solidFill>
            <a:srgbClr val="E5243B">
              <a:alpha val="28000"/>
            </a:srgbClr>
          </a:solidFill>
          <a:ln/>
        </p:spPr>
      </p:sp>
      <p:sp>
        <p:nvSpPr>
          <p:cNvPr id="6" name="!!segn0"/>
          <p:cNvSpPr txBox="1"/>
          <p:nvPr/>
        </p:nvSpPr>
        <p:spPr>
          <a:xfrm>
            <a:off x="3885699" y="2319589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!!seg1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20610000"/>
              <a:gd name="adj2" fmla="val 3150000"/>
              <a:gd name="adj3" fmla="val 13000"/>
            </a:avLst>
          </a:prstGeom>
          <a:solidFill>
            <a:srgbClr val="FF3A21">
              <a:alpha val="28000"/>
            </a:srgbClr>
          </a:solidFill>
          <a:ln/>
        </p:spPr>
      </p:sp>
      <p:sp>
        <p:nvSpPr>
          <p:cNvPr id="8" name="!!segn1"/>
          <p:cNvSpPr txBox="1"/>
          <p:nvPr/>
        </p:nvSpPr>
        <p:spPr>
          <a:xfrm>
            <a:off x="4507033" y="423185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5</a:t>
            </a:r>
            <a:endParaRPr lang="en-US" sz="2000" dirty="0"/>
          </a:p>
        </p:txBody>
      </p:sp>
      <p:sp>
        <p:nvSpPr>
          <p:cNvPr id="9" name="!!seg2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3330000"/>
              <a:gd name="adj2" fmla="val 7470000"/>
              <a:gd name="adj3" fmla="val 13000"/>
            </a:avLst>
          </a:prstGeom>
          <a:solidFill>
            <a:srgbClr val="A21942">
              <a:alpha val="28000"/>
            </a:srgbClr>
          </a:solidFill>
          <a:ln/>
        </p:spPr>
      </p:sp>
      <p:sp>
        <p:nvSpPr>
          <p:cNvPr id="10" name="!!segn2"/>
          <p:cNvSpPr txBox="1"/>
          <p:nvPr/>
        </p:nvSpPr>
        <p:spPr>
          <a:xfrm>
            <a:off x="2880360" y="5413705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8</a:t>
            </a:r>
            <a:endParaRPr lang="en-US" sz="2000" dirty="0"/>
          </a:p>
        </p:txBody>
      </p:sp>
      <p:sp>
        <p:nvSpPr>
          <p:cNvPr id="11" name="!!seg3"/>
          <p:cNvSpPr/>
          <p:nvPr/>
        </p:nvSpPr>
        <p:spPr>
          <a:xfrm>
            <a:off x="1280160" y="1965960"/>
            <a:ext cx="3931920" cy="3931920"/>
          </a:xfrm>
          <a:prstGeom prst="blockArc">
            <a:avLst>
              <a:gd name="adj1" fmla="val 7650000"/>
              <a:gd name="adj2" fmla="val 11790000"/>
              <a:gd name="adj3" fmla="val 13000"/>
            </a:avLst>
          </a:prstGeom>
          <a:solidFill>
            <a:srgbClr val="FD6925">
              <a:alpha val="28000"/>
            </a:srgbClr>
          </a:solidFill>
          <a:ln/>
        </p:spPr>
      </p:sp>
      <p:sp>
        <p:nvSpPr>
          <p:cNvPr id="12" name="!!segn3"/>
          <p:cNvSpPr txBox="1"/>
          <p:nvPr/>
        </p:nvSpPr>
        <p:spPr>
          <a:xfrm>
            <a:off x="1253687" y="423185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A6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9</a:t>
            </a:r>
            <a:endParaRPr lang="en-US" sz="2000" dirty="0"/>
          </a:p>
        </p:txBody>
      </p:sp>
      <p:sp>
        <p:nvSpPr>
          <p:cNvPr id="13" name="!!seg4"/>
          <p:cNvSpPr/>
          <p:nvPr/>
        </p:nvSpPr>
        <p:spPr>
          <a:xfrm>
            <a:off x="1051560" y="1737360"/>
            <a:ext cx="4389120" cy="4389120"/>
          </a:xfrm>
          <a:prstGeom prst="blockArc">
            <a:avLst>
              <a:gd name="adj1" fmla="val 11970000"/>
              <a:gd name="adj2" fmla="val 16110000"/>
              <a:gd name="adj3" fmla="val 17000"/>
            </a:avLst>
          </a:prstGeom>
          <a:solidFill>
            <a:srgbClr val="00689D"/>
          </a:solidFill>
          <a:ln/>
        </p:spPr>
      </p:sp>
      <p:sp>
        <p:nvSpPr>
          <p:cNvPr id="14" name="!!segn4"/>
          <p:cNvSpPr txBox="1"/>
          <p:nvPr/>
        </p:nvSpPr>
        <p:spPr>
          <a:xfrm>
            <a:off x="1810524" y="2230817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16</a:t>
            </a:r>
            <a:endParaRPr lang="en-US" sz="2000" dirty="0"/>
          </a:p>
        </p:txBody>
      </p:sp>
      <p:sp>
        <p:nvSpPr>
          <p:cNvPr id="15" name="!!sdgc"/>
          <p:cNvSpPr txBox="1"/>
          <p:nvPr/>
        </p:nvSpPr>
        <p:spPr>
          <a:xfrm>
            <a:off x="214884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689D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16</a:t>
            </a:r>
            <a:endParaRPr lang="en-US" sz="6400" dirty="0"/>
          </a:p>
        </p:txBody>
      </p:sp>
      <p:sp>
        <p:nvSpPr>
          <p:cNvPr id="16" name="!!sdgk"/>
          <p:cNvSpPr txBox="1"/>
          <p:nvPr/>
        </p:nvSpPr>
        <p:spPr>
          <a:xfrm>
            <a:off x="640080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68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SDG 16</a:t>
            </a:r>
            <a:endParaRPr lang="en-US" sz="1400" dirty="0"/>
          </a:p>
        </p:txBody>
      </p:sp>
      <p:sp>
        <p:nvSpPr>
          <p:cNvPr id="17" name="!!sdgn"/>
          <p:cNvSpPr txBox="1"/>
          <p:nvPr/>
        </p:nvSpPr>
        <p:spPr>
          <a:xfrm>
            <a:off x="6400800" y="22402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Peace, Justice and Strong Institutions</a:t>
            </a:r>
            <a:endParaRPr lang="en-US" sz="3200" dirty="0"/>
          </a:p>
        </p:txBody>
      </p:sp>
      <p:sp>
        <p:nvSpPr>
          <p:cNvPr id="18" name="!!sdgt"/>
          <p:cNvSpPr txBox="1"/>
          <p:nvPr/>
        </p:nvSpPr>
        <p:spPr>
          <a:xfrm>
            <a:off x="6400800" y="34290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8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16.6  </a:t>
            </a:r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effective, accountable and transparent institutions</a:t>
            </a:r>
            <a:endParaRPr lang="en-US" sz="1400" dirty="0"/>
          </a:p>
        </p:txBody>
      </p:sp>
      <p:sp>
        <p:nvSpPr>
          <p:cNvPr id="19" name="!!sdgd"/>
          <p:cNvSpPr txBox="1"/>
          <p:nvPr/>
        </p:nvSpPr>
        <p:spPr>
          <a:xfrm>
            <a:off x="6400800" y="43891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action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permanently anchored and verifiable by anyone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custodian reserves are publicly checkable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64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Expected Outcomes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pic>
        <p:nvPicPr>
          <p:cNvPr id="6" name="Image 0" descr="C:\Users\USER\AppData\Local\Temp\claude\C--Users-USER-OneDrive-Desktop-RWA-vault\22c0d93f-95db-488a-9ad8-cfe9b0a46593\scratchpad\deck\art5\estate_si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116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Working system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sandbox of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modules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Arbitrum Sepolia, every step verified offline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pic>
        <p:nvPicPr>
          <p:cNvPr id="10" name="Image 1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011680"/>
            <a:ext cx="566928" cy="5669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Cost result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Measured break-even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(projected ~14 actions per minute)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quantum-safe costs less gas than ECDSA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46720" y="178308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pic>
        <p:nvPicPr>
          <p:cNvPr id="14" name="Image 2" descr="C:\Users\USER\AppData\Local\Temp\claude\C--Users-USER-OneDrive-Desktop-RWA-vault\22c0d93f-95db-488a-9ad8-cfe9b0a46593\scratchpad\deck\art5\loc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011680"/>
            <a:ext cx="566928" cy="56692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0684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Performance result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832104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Signing and verification time for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six NIST algorithms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desktop, browser, Android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02336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pic>
        <p:nvPicPr>
          <p:cNvPr id="18" name="Image 3" descr="C:\Users\USER\AppData\Local\Temp\claude\C--Users-USER-OneDrive-Desktop-RWA-vault\22c0d93f-95db-488a-9ad8-cfe9b0a46593\scratchpad\deck\art5\bond_sil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251960"/>
            <a:ext cx="566928" cy="56692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Risk result</a:t>
            </a:r>
            <a:endParaRPr lang="en-US" sz="2100" dirty="0"/>
          </a:p>
        </p:txBody>
      </p:sp>
      <p:sp>
        <p:nvSpPr>
          <p:cNvPr id="20" name="Text 14"/>
          <p:cNvSpPr txBox="1"/>
          <p:nvPr/>
        </p:nvSpPr>
        <p:spPr>
          <a:xfrm>
            <a:off x="82296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Liquidations the buffer prevents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 plain Aave V3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297680" y="402336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pic>
        <p:nvPicPr>
          <p:cNvPr id="22" name="Image 4" descr="C:\Users\USER\AppData\Local\Temp\claude\C--Users-USER-OneDrive-Desktop-RWA-vault\22c0d93f-95db-488a-9ad8-cfe9b0a46593\scratchpad\deck\art5\loc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4251960"/>
            <a:ext cx="566928" cy="56692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257800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Security result</a:t>
            </a:r>
            <a:endParaRPr lang="en-US" sz="2100" dirty="0"/>
          </a:p>
        </p:txBody>
      </p:sp>
      <p:sp>
        <p:nvSpPr>
          <p:cNvPr id="24" name="Text 17"/>
          <p:cNvSpPr txBox="1"/>
          <p:nvPr/>
        </p:nvSpPr>
        <p:spPr>
          <a:xfrm>
            <a:off x="457200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replay, oracle and vault attack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rejected at its named check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8046720" y="402336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0E0E0E"/>
          </a:solidFill>
          <a:ln w="12700">
            <a:solidFill>
              <a:srgbClr val="2C2C2C"/>
            </a:solidFill>
            <a:prstDash val="solid"/>
          </a:ln>
        </p:spPr>
      </p:sp>
      <p:pic>
        <p:nvPicPr>
          <p:cNvPr id="26" name="Image 5" descr="C:\Users\USER\AppData\Local\Temp\claude\C--Users-USER-OneDrive-Desktop-RWA-vault\22c0d93f-95db-488a-9ad8-cfe9b0a46593\scratchpad\deck\art5\sukuk_sil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4251960"/>
            <a:ext cx="566928" cy="56692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006840" y="4297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Research output</a:t>
            </a:r>
            <a:endParaRPr lang="en-US" sz="2100" dirty="0"/>
          </a:p>
        </p:txBody>
      </p:sp>
      <p:sp>
        <p:nvSpPr>
          <p:cNvPr id="28" name="Text 20"/>
          <p:cNvSpPr txBox="1"/>
          <p:nvPr/>
        </p:nvSpPr>
        <p:spPr>
          <a:xfrm>
            <a:off x="832104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benchmark data, a reusable PQ core, and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research paper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geno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65</a:t>
            </a:r>
            <a:endParaRPr lang="en-US" sz="1000" dirty="0"/>
          </a:p>
        </p:txBody>
      </p:sp>
      <p:sp>
        <p:nvSpPr>
          <p:cNvPr id="3" name="!!kicker"/>
          <p:cNvSpPr txBox="1"/>
          <p:nvPr/>
        </p:nvSpPr>
        <p:spPr>
          <a:xfrm>
            <a:off x="54864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2B5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WAY FORWARD</a:t>
            </a:r>
            <a:endParaRPr lang="en-US" sz="11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Way Forward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50392" y="2011680"/>
            <a:ext cx="0" cy="3474720"/>
          </a:xfrm>
          <a:prstGeom prst="line">
            <a:avLst/>
          </a:prstGeom>
          <a:noFill/>
          <a:ln w="25400">
            <a:solidFill>
              <a:srgbClr val="2C2C2C"/>
            </a:solidFill>
            <a:prstDash val="solid"/>
          </a:ln>
        </p:spPr>
      </p:sp>
      <p:pic>
        <p:nvPicPr>
          <p:cNvPr id="6" name="Image 0" descr="C:\Users\USER\AppData\Local\Temp\claude\C--Users-USER-OneDrive-Desktop-RWA-vault\22c0d93f-95db-488a-9ad8-cfe9b0a46593\scratchpad\deck\art5\blan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830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During the FYP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1783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Finish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Module 2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the critical-path module; deliver MS1 to MS4</a:t>
            </a:r>
            <a:endParaRPr lang="en-US" sz="1600" dirty="0"/>
          </a:p>
        </p:txBody>
      </p:sp>
      <p:pic>
        <p:nvPicPr>
          <p:cNvPr id="9" name="Image 1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6517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Regulation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3840480" y="2651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SBP regulatory sandbox · PVARA licensing ·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Shariah compliance review</a:t>
            </a:r>
            <a:endParaRPr lang="en-US" sz="1600" dirty="0"/>
          </a:p>
        </p:txBody>
      </p:sp>
      <p:pic>
        <p:nvPicPr>
          <p:cNvPr id="12" name="Image 2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52044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Real partners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3840480" y="3520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Licensed payment partner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(Raast and card issuance)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licensed custodian</a:t>
            </a:r>
            <a:endParaRPr lang="en-US" sz="1600" dirty="0"/>
          </a:p>
        </p:txBody>
      </p:sp>
      <p:pic>
        <p:nvPicPr>
          <p:cNvPr id="15" name="Image 3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4389120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4389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Production</a:t>
            </a:r>
            <a:endParaRPr lang="en-US" sz="2200" dirty="0"/>
          </a:p>
        </p:txBody>
      </p:sp>
      <p:sp>
        <p:nvSpPr>
          <p:cNvPr id="17" name="Text 11"/>
          <p:cNvSpPr txBox="1"/>
          <p:nvPr/>
        </p:nvSpPr>
        <p:spPr>
          <a:xfrm>
            <a:off x="3840480" y="4389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Independent audits, then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mainnet deployment on Arbitrum</a:t>
            </a:r>
            <a:endParaRPr lang="en-US" sz="1600" dirty="0"/>
          </a:p>
        </p:txBody>
      </p:sp>
      <p:pic>
        <p:nvPicPr>
          <p:cNvPr id="18" name="Image 4" descr="C:\Users\USER\AppData\Local\Temp\claude\C--Users-USER-OneDrive-Desktop-RWA-vault\22c0d93f-95db-488a-9ad8-cfe9b0a46593\scratchpad\deck\art5\blank_sil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5257800"/>
            <a:ext cx="502920" cy="5029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25880" y="5257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B54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Long term</a:t>
            </a:r>
            <a:endParaRPr lang="en-US" sz="2200" dirty="0"/>
          </a:p>
        </p:txBody>
      </p:sp>
      <p:sp>
        <p:nvSpPr>
          <p:cNvPr id="20" name="Text 13"/>
          <p:cNvSpPr txBox="1"/>
          <p:nvPr/>
        </p:nvSpPr>
        <p:spPr>
          <a:xfrm>
            <a:off x="3840480" y="5257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Native PQ verification with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EIP-8052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a verifier address change, not a migration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old" descr="C:\Users\USER\AppData\Local\Temp\claude\C--Users-USER-OneDrive-Desktop-RWA-vault\22c0d93f-95db-488a-9ad8-cfe9b0a46593\scratchpad\deck\art5\go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1097280"/>
            <a:ext cx="1051560" cy="1051560"/>
          </a:xfrm>
          <a:prstGeom prst="rect">
            <a:avLst/>
          </a:prstGeom>
        </p:spPr>
      </p:pic>
      <p:pic>
        <p:nvPicPr>
          <p:cNvPr id="3" name="!!bond" descr="C:\Users\USER\AppData\Local\Temp\claude\C--Users-USER-OneDrive-Desktop-RWA-vault\22c0d93f-95db-488a-9ad8-cfe9b0a46593\scratchpad\deck\art5\bond_sil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97280"/>
            <a:ext cx="1051560" cy="1051560"/>
          </a:xfrm>
          <a:prstGeom prst="rect">
            <a:avLst/>
          </a:prstGeom>
        </p:spPr>
      </p:pic>
      <p:pic>
        <p:nvPicPr>
          <p:cNvPr id="4" name="!!sukuk" descr="C:\Users\USER\AppData\Local\Temp\claude\C--Users-USER-OneDrive-Desktop-RWA-vault\22c0d93f-95db-488a-9ad8-cfe9b0a46593\scratchpad\deck\art5\sukuk_sil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1051560" cy="1051560"/>
          </a:xfrm>
          <a:prstGeom prst="rect">
            <a:avLst/>
          </a:prstGeom>
        </p:spPr>
      </p:pic>
      <p:pic>
        <p:nvPicPr>
          <p:cNvPr id="5" name="!!estate" descr="C:\Users\USER\AppData\Local\Temp\claude\C--Users-USER-OneDrive-Desktop-RWA-vault\22c0d93f-95db-488a-9ad8-cfe9b0a46593\scratchpad\deck\art5\estate_sil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097280"/>
            <a:ext cx="1051560" cy="105156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371600" y="2743200"/>
            <a:ext cx="9445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0" spc="2600" kern="0" dirty="0">
                <a:solidFill>
                  <a:srgbClr val="FFFFFF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QORA</a:t>
            </a:r>
            <a:endParaRPr lang="en-US" sz="8000" dirty="0"/>
          </a:p>
        </p:txBody>
      </p:sp>
      <p:sp>
        <p:nvSpPr>
          <p:cNvPr id="7" name="Text 1"/>
          <p:cNvSpPr txBox="1"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Post-Quantum Secured Programmable Wealth Platform for Tokenized Real-World Assets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p14:dur="600">
        <p159:morph option="byObject"/>
      </p:transition>
    </mc:Choice>
    <mc:Fallback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QORA</dc:title>
  <dc:subject>PptxGenJS Presentation</dc:subject>
  <dc:creator>PptxGenJS</dc:creator>
  <cp:lastModifiedBy>PptxGenJS</cp:lastModifiedBy>
  <cp:revision>1</cp:revision>
  <dcterms:created xsi:type="dcterms:W3CDTF">2026-10-14T18:10:31Z</dcterms:created>
  <dcterms:modified xsi:type="dcterms:W3CDTF">2026-10-14T18:10:31Z</dcterms:modified>
</cp:coreProperties>
</file>